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594360"/>
            <a:ext cx="146304" cy="5303520"/>
          </a:xfrm>
          <a:prstGeom prst="rect">
            <a:avLst/>
          </a:prstGeom>
          <a:solidFill>
            <a:srgbClr val="704CFF"/>
          </a:solidFill>
          <a:ln>
            <a:solidFill>
              <a:srgbClr val="704C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005840"/>
            <a:ext cx="10241280" cy="731520"/>
          </a:xfrm>
          <a:prstGeom prst="rect">
            <a:avLst/>
          </a:prstGeom>
          <a:noFill/>
        </p:spPr>
        <p:txBody>
          <a:bodyPr wrap="square">
            <a:spAutoFit/>
          </a:bodyPr>
          <a:lstStyle/>
          <a:p>
            <a:pPr algn="l"/>
            <a:r>
              <a:rPr sz="3400" b="1">
                <a:solidFill>
                  <a:srgbClr val="191F2E"/>
                </a:solidFill>
                <a:latin typeface="Noto Sans CJK JP"/>
              </a:rPr>
              <a:t>Figma 基礎勉強会</a:t>
            </a:r>
          </a:p>
        </p:txBody>
      </p:sp>
      <p:sp>
        <p:nvSpPr>
          <p:cNvPr id="5" name="TextBox 4"/>
          <p:cNvSpPr txBox="1"/>
          <p:nvPr/>
        </p:nvSpPr>
        <p:spPr>
          <a:xfrm>
            <a:off x="1005840" y="1828800"/>
            <a:ext cx="9875520" cy="640080"/>
          </a:xfrm>
          <a:prstGeom prst="rect">
            <a:avLst/>
          </a:prstGeom>
          <a:noFill/>
        </p:spPr>
        <p:txBody>
          <a:bodyPr wrap="square">
            <a:spAutoFit/>
          </a:bodyPr>
          <a:lstStyle/>
          <a:p>
            <a:pPr algn="l"/>
            <a:r>
              <a:rPr sz="2200" b="1">
                <a:solidFill>
                  <a:srgbClr val="704CFF"/>
                </a:solidFill>
                <a:latin typeface="Noto Sans CJK JP"/>
              </a:rPr>
              <a:t>Excelから「画面の可視化・共有・プロトタイプ」へ</a:t>
            </a:r>
          </a:p>
        </p:txBody>
      </p:sp>
      <p:sp>
        <p:nvSpPr>
          <p:cNvPr id="6" name="TextBox 5"/>
          <p:cNvSpPr txBox="1"/>
          <p:nvPr/>
        </p:nvSpPr>
        <p:spPr>
          <a:xfrm>
            <a:off x="1005840" y="2651760"/>
            <a:ext cx="9784080" cy="914400"/>
          </a:xfrm>
          <a:prstGeom prst="rect">
            <a:avLst/>
          </a:prstGeom>
          <a:noFill/>
        </p:spPr>
        <p:txBody>
          <a:bodyPr wrap="square">
            <a:spAutoFit/>
          </a:bodyPr>
          <a:lstStyle/>
          <a:p>
            <a:pPr algn="l"/>
            <a:r>
              <a:rPr sz="1600" b="0">
                <a:solidFill>
                  <a:srgbClr val="5B6577"/>
                </a:solidFill>
                <a:latin typeface="Noto Sans CJK JP"/>
              </a:rPr>
              <a:t>対象：.NET / C#・Angularを経験しているWeb開発メンバー
目的：Figmaをデザイナー専用ツールではなく、開発前の認識合わせツールとして使う</a:t>
            </a:r>
          </a:p>
        </p:txBody>
      </p:sp>
      <p:sp>
        <p:nvSpPr>
          <p:cNvPr id="7" name="Rounded Rectangle 6"/>
          <p:cNvSpPr/>
          <p:nvPr/>
        </p:nvSpPr>
        <p:spPr>
          <a:xfrm>
            <a:off x="1005840" y="4251960"/>
            <a:ext cx="9875520" cy="1005840"/>
          </a:xfrm>
          <a:prstGeom prst="roundRect">
            <a:avLst/>
          </a:prstGeom>
          <a:solidFill>
            <a:srgbClr val="FFFFFF"/>
          </a:solidFill>
          <a:ln>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25880" y="4526280"/>
            <a:ext cx="9235440" cy="320040"/>
          </a:xfrm>
          <a:prstGeom prst="rect">
            <a:avLst/>
          </a:prstGeom>
          <a:noFill/>
        </p:spPr>
        <p:txBody>
          <a:bodyPr wrap="square">
            <a:spAutoFit/>
          </a:bodyPr>
          <a:lstStyle/>
          <a:p>
            <a:pPr algn="ctr"/>
            <a:r>
              <a:rPr sz="1600" b="1">
                <a:solidFill>
                  <a:srgbClr val="191F2E"/>
                </a:solidFill>
                <a:latin typeface="Noto Sans CJK JP"/>
              </a:rPr>
              <a:t>今回の進め方：手動デモはしない → スクリーンショット＋図解＋具体例で理解する</a:t>
            </a:r>
          </a:p>
        </p:txBody>
      </p:sp>
      <p:sp>
        <p:nvSpPr>
          <p:cNvPr id="9" name="TextBox 8"/>
          <p:cNvSpPr txBox="1"/>
          <p:nvPr/>
        </p:nvSpPr>
        <p:spPr>
          <a:xfrm>
            <a:off x="1005840" y="5989320"/>
            <a:ext cx="10058400" cy="320040"/>
          </a:xfrm>
          <a:prstGeom prst="rect">
            <a:avLst/>
          </a:prstGeom>
          <a:noFill/>
        </p:spPr>
        <p:txBody>
          <a:bodyPr wrap="square">
            <a:spAutoFit/>
          </a:bodyPr>
          <a:lstStyle/>
          <a:p>
            <a:pPr algn="l"/>
            <a:r>
              <a:rPr sz="1100" b="0">
                <a:solidFill>
                  <a:srgbClr val="5B6577"/>
                </a:solidFill>
                <a:latin typeface="Noto Sans CJK JP"/>
              </a:rPr>
              <a:t>所要時間：約60分</a:t>
            </a:r>
          </a:p>
        </p:txBody>
      </p:sp>
      <p:sp>
        <p:nvSpPr>
          <p:cNvPr id="10" name="TextBox 9"/>
          <p:cNvSpPr txBox="1"/>
          <p:nvPr/>
        </p:nvSpPr>
        <p:spPr>
          <a:xfrm>
            <a:off x="548640" y="6510528"/>
            <a:ext cx="9601200" cy="201168"/>
          </a:xfrm>
          <a:prstGeom prst="rect">
            <a:avLst/>
          </a:prstGeom>
          <a:noFill/>
        </p:spPr>
        <p:txBody>
          <a:bodyPr wrap="square">
            <a:spAutoFit/>
          </a:bodyPr>
          <a:lstStyle/>
          <a:p>
            <a:pPr algn="l"/>
            <a:r>
              <a:rPr sz="800" b="0">
                <a:solidFill>
                  <a:srgbClr val="5B6577"/>
                </a:solidFill>
                <a:latin typeface="Noto Sans CJK JP"/>
              </a:rPr>
              <a:t>Figma勉強会｜Web開発者向け｜画面設計・プロトタイプ・AI活用</a:t>
            </a:r>
          </a:p>
        </p:txBody>
      </p:sp>
      <p:sp>
        <p:nvSpPr>
          <p:cNvPr id="11" name="TextBox 10"/>
          <p:cNvSpPr txBox="1"/>
          <p:nvPr/>
        </p:nvSpPr>
        <p:spPr>
          <a:xfrm>
            <a:off x="11155680" y="6492240"/>
            <a:ext cx="457200" cy="201168"/>
          </a:xfrm>
          <a:prstGeom prst="rect">
            <a:avLst/>
          </a:prstGeom>
          <a:noFill/>
        </p:spPr>
        <p:txBody>
          <a:bodyPr wrap="square">
            <a:spAutoFit/>
          </a:bodyPr>
          <a:lstStyle/>
          <a:p>
            <a:pPr algn="r"/>
            <a:r>
              <a:rPr sz="800" b="0">
                <a:solidFill>
                  <a:srgbClr val="5B6577"/>
                </a:solidFill>
                <a:latin typeface="Noto Sans CJK JP"/>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3200400" cy="274320"/>
          </a:xfrm>
          <a:prstGeom prst="rect">
            <a:avLst/>
          </a:prstGeom>
          <a:noFill/>
        </p:spPr>
        <p:txBody>
          <a:bodyPr wrap="square">
            <a:spAutoFit/>
          </a:bodyPr>
          <a:lstStyle/>
          <a:p>
            <a:pPr algn="l"/>
            <a:r>
              <a:rPr sz="900" b="1">
                <a:solidFill>
                  <a:srgbClr val="704CFF"/>
                </a:solidFill>
                <a:latin typeface="Noto Sans CJK JP"/>
              </a:rPr>
              <a:t>GOAL</a:t>
            </a:r>
          </a:p>
        </p:txBody>
      </p:sp>
      <p:sp>
        <p:nvSpPr>
          <p:cNvPr id="4" name="TextBox 3"/>
          <p:cNvSpPr txBox="1"/>
          <p:nvPr/>
        </p:nvSpPr>
        <p:spPr>
          <a:xfrm>
            <a:off x="548640" y="548640"/>
            <a:ext cx="10972800" cy="548640"/>
          </a:xfrm>
          <a:prstGeom prst="rect">
            <a:avLst/>
          </a:prstGeom>
          <a:noFill/>
        </p:spPr>
        <p:txBody>
          <a:bodyPr wrap="square">
            <a:spAutoFit/>
          </a:bodyPr>
          <a:lstStyle/>
          <a:p>
            <a:pPr algn="l"/>
            <a:r>
              <a:rPr sz="2600" b="1">
                <a:solidFill>
                  <a:srgbClr val="191F2E"/>
                </a:solidFill>
                <a:latin typeface="Noto Sans CJK JP"/>
              </a:rPr>
              <a:t>勉強会のゴール</a:t>
            </a:r>
          </a:p>
        </p:txBody>
      </p:sp>
      <p:sp>
        <p:nvSpPr>
          <p:cNvPr id="5" name="TextBox 4"/>
          <p:cNvSpPr txBox="1"/>
          <p:nvPr/>
        </p:nvSpPr>
        <p:spPr>
          <a:xfrm>
            <a:off x="566928" y="1097280"/>
            <a:ext cx="10972800" cy="457200"/>
          </a:xfrm>
          <a:prstGeom prst="rect">
            <a:avLst/>
          </a:prstGeom>
          <a:noFill/>
        </p:spPr>
        <p:txBody>
          <a:bodyPr wrap="square">
            <a:spAutoFit/>
          </a:bodyPr>
          <a:lstStyle/>
          <a:p>
            <a:pPr algn="l"/>
            <a:r>
              <a:rPr sz="1200" b="0">
                <a:solidFill>
                  <a:srgbClr val="5B6577"/>
                </a:solidFill>
                <a:latin typeface="Noto Sans CJK JP"/>
              </a:rPr>
              <a:t>「Figmaを使って何ができるか」を理解し、次の開発で試せる状態を目指す</a:t>
            </a:r>
          </a:p>
        </p:txBody>
      </p:sp>
      <p:sp>
        <p:nvSpPr>
          <p:cNvPr id="6" name="Rectangle 5"/>
          <p:cNvSpPr/>
          <p:nvPr/>
        </p:nvSpPr>
        <p:spPr>
          <a:xfrm>
            <a:off x="548640" y="1572768"/>
            <a:ext cx="1051560" cy="54864"/>
          </a:xfrm>
          <a:prstGeom prst="rect">
            <a:avLst/>
          </a:prstGeom>
          <a:solidFill>
            <a:srgbClr val="704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874519"/>
            <a:ext cx="5074920" cy="1463040"/>
          </a:xfrm>
          <a:prstGeom prst="roundRect">
            <a:avLst/>
          </a:prstGeom>
          <a:solidFill>
            <a:srgbClr val="FFFFFF"/>
          </a:solidFill>
          <a:ln>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103120"/>
            <a:ext cx="548640" cy="320040"/>
          </a:xfrm>
          <a:prstGeom prst="rect">
            <a:avLst/>
          </a:prstGeom>
          <a:noFill/>
        </p:spPr>
        <p:txBody>
          <a:bodyPr wrap="square">
            <a:spAutoFit/>
          </a:bodyPr>
          <a:lstStyle/>
          <a:p>
            <a:pPr algn="l"/>
            <a:r>
              <a:rPr sz="1800" b="1">
                <a:solidFill>
                  <a:srgbClr val="704CFF"/>
                </a:solidFill>
                <a:latin typeface="Noto Sans CJK JP"/>
              </a:rPr>
              <a:t>01</a:t>
            </a:r>
          </a:p>
        </p:txBody>
      </p:sp>
      <p:sp>
        <p:nvSpPr>
          <p:cNvPr id="9" name="TextBox 8"/>
          <p:cNvSpPr txBox="1"/>
          <p:nvPr/>
        </p:nvSpPr>
        <p:spPr>
          <a:xfrm>
            <a:off x="1645920" y="2075688"/>
            <a:ext cx="3840480" cy="365760"/>
          </a:xfrm>
          <a:prstGeom prst="rect">
            <a:avLst/>
          </a:prstGeom>
          <a:noFill/>
        </p:spPr>
        <p:txBody>
          <a:bodyPr wrap="square">
            <a:spAutoFit/>
          </a:bodyPr>
          <a:lstStyle/>
          <a:p>
            <a:pPr algn="l"/>
            <a:r>
              <a:rPr sz="1600" b="1">
                <a:solidFill>
                  <a:srgbClr val="191F2E"/>
                </a:solidFill>
                <a:latin typeface="Noto Sans CJK JP"/>
              </a:rPr>
              <a:t>画面設計を可視化する</a:t>
            </a:r>
          </a:p>
        </p:txBody>
      </p:sp>
      <p:sp>
        <p:nvSpPr>
          <p:cNvPr id="10" name="TextBox 9"/>
          <p:cNvSpPr txBox="1"/>
          <p:nvPr/>
        </p:nvSpPr>
        <p:spPr>
          <a:xfrm>
            <a:off x="1645920" y="2560320"/>
            <a:ext cx="3749039" cy="548640"/>
          </a:xfrm>
          <a:prstGeom prst="rect">
            <a:avLst/>
          </a:prstGeom>
          <a:noFill/>
        </p:spPr>
        <p:txBody>
          <a:bodyPr wrap="square">
            <a:spAutoFit/>
          </a:bodyPr>
          <a:lstStyle/>
          <a:p>
            <a:pPr algn="l"/>
            <a:r>
              <a:rPr sz="1100" b="0">
                <a:solidFill>
                  <a:srgbClr val="5B6577"/>
                </a:solidFill>
                <a:latin typeface="Noto Sans CJK JP"/>
              </a:rPr>
              <a:t>Excel中心の画面イメージから、実際のUIに近いレイアウトへ</a:t>
            </a:r>
          </a:p>
        </p:txBody>
      </p:sp>
      <p:sp>
        <p:nvSpPr>
          <p:cNvPr id="11" name="Rounded Rectangle 10"/>
          <p:cNvSpPr/>
          <p:nvPr/>
        </p:nvSpPr>
        <p:spPr>
          <a:xfrm>
            <a:off x="6263640" y="1874519"/>
            <a:ext cx="5074920" cy="1463040"/>
          </a:xfrm>
          <a:prstGeom prst="roundRect">
            <a:avLst/>
          </a:prstGeom>
          <a:solidFill>
            <a:srgbClr val="FFFFFF"/>
          </a:solidFill>
          <a:ln>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2103120"/>
            <a:ext cx="548640" cy="320040"/>
          </a:xfrm>
          <a:prstGeom prst="rect">
            <a:avLst/>
          </a:prstGeom>
          <a:noFill/>
        </p:spPr>
        <p:txBody>
          <a:bodyPr wrap="square">
            <a:spAutoFit/>
          </a:bodyPr>
          <a:lstStyle/>
          <a:p>
            <a:pPr algn="l"/>
            <a:r>
              <a:rPr sz="1800" b="1">
                <a:solidFill>
                  <a:srgbClr val="704CFF"/>
                </a:solidFill>
                <a:latin typeface="Noto Sans CJK JP"/>
              </a:rPr>
              <a:t>02</a:t>
            </a:r>
          </a:p>
        </p:txBody>
      </p:sp>
      <p:sp>
        <p:nvSpPr>
          <p:cNvPr id="13" name="TextBox 12"/>
          <p:cNvSpPr txBox="1"/>
          <p:nvPr/>
        </p:nvSpPr>
        <p:spPr>
          <a:xfrm>
            <a:off x="7178040" y="2075688"/>
            <a:ext cx="3840480" cy="365760"/>
          </a:xfrm>
          <a:prstGeom prst="rect">
            <a:avLst/>
          </a:prstGeom>
          <a:noFill/>
        </p:spPr>
        <p:txBody>
          <a:bodyPr wrap="square">
            <a:spAutoFit/>
          </a:bodyPr>
          <a:lstStyle/>
          <a:p>
            <a:pPr algn="l"/>
            <a:r>
              <a:rPr sz="1600" b="1">
                <a:solidFill>
                  <a:srgbClr val="191F2E"/>
                </a:solidFill>
                <a:latin typeface="Noto Sans CJK JP"/>
              </a:rPr>
              <a:t>画面遷移を共有する</a:t>
            </a:r>
          </a:p>
        </p:txBody>
      </p:sp>
      <p:sp>
        <p:nvSpPr>
          <p:cNvPr id="14" name="TextBox 13"/>
          <p:cNvSpPr txBox="1"/>
          <p:nvPr/>
        </p:nvSpPr>
        <p:spPr>
          <a:xfrm>
            <a:off x="7178040" y="2560320"/>
            <a:ext cx="3749039" cy="548640"/>
          </a:xfrm>
          <a:prstGeom prst="rect">
            <a:avLst/>
          </a:prstGeom>
          <a:noFill/>
        </p:spPr>
        <p:txBody>
          <a:bodyPr wrap="square">
            <a:spAutoFit/>
          </a:bodyPr>
          <a:lstStyle/>
          <a:p>
            <a:pPr algn="l"/>
            <a:r>
              <a:rPr sz="1100" b="0">
                <a:solidFill>
                  <a:srgbClr val="5B6577"/>
                </a:solidFill>
                <a:latin typeface="Noto Sans CJK JP"/>
              </a:rPr>
              <a:t>Prototypeで「押すとどうなるか」を開発前に確認</a:t>
            </a:r>
          </a:p>
        </p:txBody>
      </p:sp>
      <p:sp>
        <p:nvSpPr>
          <p:cNvPr id="15" name="Rounded Rectangle 14"/>
          <p:cNvSpPr/>
          <p:nvPr/>
        </p:nvSpPr>
        <p:spPr>
          <a:xfrm>
            <a:off x="731520" y="3703320"/>
            <a:ext cx="5074920" cy="1463040"/>
          </a:xfrm>
          <a:prstGeom prst="roundRect">
            <a:avLst/>
          </a:prstGeom>
          <a:solidFill>
            <a:srgbClr val="FFFFFF"/>
          </a:solidFill>
          <a:ln>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3931920"/>
            <a:ext cx="548640" cy="320040"/>
          </a:xfrm>
          <a:prstGeom prst="rect">
            <a:avLst/>
          </a:prstGeom>
          <a:noFill/>
        </p:spPr>
        <p:txBody>
          <a:bodyPr wrap="square">
            <a:spAutoFit/>
          </a:bodyPr>
          <a:lstStyle/>
          <a:p>
            <a:pPr algn="l"/>
            <a:r>
              <a:rPr sz="1800" b="1">
                <a:solidFill>
                  <a:srgbClr val="704CFF"/>
                </a:solidFill>
                <a:latin typeface="Noto Sans CJK JP"/>
              </a:rPr>
              <a:t>03</a:t>
            </a:r>
          </a:p>
        </p:txBody>
      </p:sp>
      <p:sp>
        <p:nvSpPr>
          <p:cNvPr id="17" name="TextBox 16"/>
          <p:cNvSpPr txBox="1"/>
          <p:nvPr/>
        </p:nvSpPr>
        <p:spPr>
          <a:xfrm>
            <a:off x="1645920" y="3904487"/>
            <a:ext cx="3840480" cy="365760"/>
          </a:xfrm>
          <a:prstGeom prst="rect">
            <a:avLst/>
          </a:prstGeom>
          <a:noFill/>
        </p:spPr>
        <p:txBody>
          <a:bodyPr wrap="square">
            <a:spAutoFit/>
          </a:bodyPr>
          <a:lstStyle/>
          <a:p>
            <a:pPr algn="l"/>
            <a:r>
              <a:rPr sz="1600" b="1">
                <a:solidFill>
                  <a:srgbClr val="191F2E"/>
                </a:solidFill>
                <a:latin typeface="Noto Sans CJK JP"/>
              </a:rPr>
              <a:t>開発との接点を理解する</a:t>
            </a:r>
          </a:p>
        </p:txBody>
      </p:sp>
      <p:sp>
        <p:nvSpPr>
          <p:cNvPr id="18" name="TextBox 17"/>
          <p:cNvSpPr txBox="1"/>
          <p:nvPr/>
        </p:nvSpPr>
        <p:spPr>
          <a:xfrm>
            <a:off x="1645920" y="4389120"/>
            <a:ext cx="3749039" cy="548640"/>
          </a:xfrm>
          <a:prstGeom prst="rect">
            <a:avLst/>
          </a:prstGeom>
          <a:noFill/>
        </p:spPr>
        <p:txBody>
          <a:bodyPr wrap="square">
            <a:spAutoFit/>
          </a:bodyPr>
          <a:lstStyle/>
          <a:p>
            <a:pPr algn="l"/>
            <a:r>
              <a:rPr sz="1100" b="0">
                <a:solidFill>
                  <a:srgbClr val="5B6577"/>
                </a:solidFill>
                <a:latin typeface="Noto Sans CJK JP"/>
              </a:rPr>
              <a:t>Component・Design System・Dev Modeの考え方を知る</a:t>
            </a:r>
          </a:p>
        </p:txBody>
      </p:sp>
      <p:sp>
        <p:nvSpPr>
          <p:cNvPr id="19" name="Rounded Rectangle 18"/>
          <p:cNvSpPr/>
          <p:nvPr/>
        </p:nvSpPr>
        <p:spPr>
          <a:xfrm>
            <a:off x="6263640" y="3703320"/>
            <a:ext cx="5074920" cy="1463040"/>
          </a:xfrm>
          <a:prstGeom prst="roundRect">
            <a:avLst/>
          </a:prstGeom>
          <a:solidFill>
            <a:srgbClr val="FFFFFF"/>
          </a:solidFill>
          <a:ln>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92240" y="3931920"/>
            <a:ext cx="548640" cy="320040"/>
          </a:xfrm>
          <a:prstGeom prst="rect">
            <a:avLst/>
          </a:prstGeom>
          <a:noFill/>
        </p:spPr>
        <p:txBody>
          <a:bodyPr wrap="square">
            <a:spAutoFit/>
          </a:bodyPr>
          <a:lstStyle/>
          <a:p>
            <a:pPr algn="l"/>
            <a:r>
              <a:rPr sz="1800" b="1">
                <a:solidFill>
                  <a:srgbClr val="704CFF"/>
                </a:solidFill>
                <a:latin typeface="Noto Sans CJK JP"/>
              </a:rPr>
              <a:t>04</a:t>
            </a:r>
          </a:p>
        </p:txBody>
      </p:sp>
      <p:sp>
        <p:nvSpPr>
          <p:cNvPr id="21" name="TextBox 20"/>
          <p:cNvSpPr txBox="1"/>
          <p:nvPr/>
        </p:nvSpPr>
        <p:spPr>
          <a:xfrm>
            <a:off x="7178040" y="3904487"/>
            <a:ext cx="3840480" cy="365760"/>
          </a:xfrm>
          <a:prstGeom prst="rect">
            <a:avLst/>
          </a:prstGeom>
          <a:noFill/>
        </p:spPr>
        <p:txBody>
          <a:bodyPr wrap="square">
            <a:spAutoFit/>
          </a:bodyPr>
          <a:lstStyle/>
          <a:p>
            <a:pPr algn="l"/>
            <a:r>
              <a:rPr sz="1600" b="1">
                <a:solidFill>
                  <a:srgbClr val="191F2E"/>
                </a:solidFill>
                <a:latin typeface="Noto Sans CJK JP"/>
              </a:rPr>
              <a:t>AI機能も知る</a:t>
            </a:r>
          </a:p>
        </p:txBody>
      </p:sp>
      <p:sp>
        <p:nvSpPr>
          <p:cNvPr id="22" name="TextBox 21"/>
          <p:cNvSpPr txBox="1"/>
          <p:nvPr/>
        </p:nvSpPr>
        <p:spPr>
          <a:xfrm>
            <a:off x="7178040" y="4389120"/>
            <a:ext cx="3749039" cy="548640"/>
          </a:xfrm>
          <a:prstGeom prst="rect">
            <a:avLst/>
          </a:prstGeom>
          <a:noFill/>
        </p:spPr>
        <p:txBody>
          <a:bodyPr wrap="square">
            <a:spAutoFit/>
          </a:bodyPr>
          <a:lstStyle/>
          <a:p>
            <a:pPr algn="l"/>
            <a:r>
              <a:rPr sz="1100" b="0">
                <a:solidFill>
                  <a:srgbClr val="5B6577"/>
                </a:solidFill>
                <a:latin typeface="Noto Sans CJK JP"/>
              </a:rPr>
              <a:t>Figma Makeを含む、アイデア→動くプロトタイプの新しい流れを紹介</a:t>
            </a:r>
          </a:p>
        </p:txBody>
      </p:sp>
      <p:sp>
        <p:nvSpPr>
          <p:cNvPr id="23" name="TextBox 22"/>
          <p:cNvSpPr txBox="1"/>
          <p:nvPr/>
        </p:nvSpPr>
        <p:spPr>
          <a:xfrm>
            <a:off x="548640" y="6510528"/>
            <a:ext cx="9601200" cy="201168"/>
          </a:xfrm>
          <a:prstGeom prst="rect">
            <a:avLst/>
          </a:prstGeom>
          <a:noFill/>
        </p:spPr>
        <p:txBody>
          <a:bodyPr wrap="square">
            <a:spAutoFit/>
          </a:bodyPr>
          <a:lstStyle/>
          <a:p>
            <a:pPr algn="l"/>
            <a:r>
              <a:rPr sz="800" b="0">
                <a:solidFill>
                  <a:srgbClr val="5B6577"/>
                </a:solidFill>
                <a:latin typeface="Noto Sans CJK JP"/>
              </a:rPr>
              <a:t>Figma勉強会｜Web開発者向け｜画面設計・プロトタイプ・AI活用</a:t>
            </a:r>
          </a:p>
        </p:txBody>
      </p:sp>
      <p:sp>
        <p:nvSpPr>
          <p:cNvPr id="24" name="TextBox 23"/>
          <p:cNvSpPr txBox="1"/>
          <p:nvPr/>
        </p:nvSpPr>
        <p:spPr>
          <a:xfrm>
            <a:off x="11155680" y="6492240"/>
            <a:ext cx="457200" cy="201168"/>
          </a:xfrm>
          <a:prstGeom prst="rect">
            <a:avLst/>
          </a:prstGeom>
          <a:noFill/>
        </p:spPr>
        <p:txBody>
          <a:bodyPr wrap="square">
            <a:spAutoFit/>
          </a:bodyPr>
          <a:lstStyle/>
          <a:p>
            <a:pPr algn="r"/>
            <a:r>
              <a:rPr sz="800" b="0">
                <a:solidFill>
                  <a:srgbClr val="5B6577"/>
                </a:solidFill>
                <a:latin typeface="Noto Sans CJK JP"/>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3200400" cy="274320"/>
          </a:xfrm>
          <a:prstGeom prst="rect">
            <a:avLst/>
          </a:prstGeom>
          <a:noFill/>
        </p:spPr>
        <p:txBody>
          <a:bodyPr wrap="square">
            <a:spAutoFit/>
          </a:bodyPr>
          <a:lstStyle/>
          <a:p>
            <a:pPr algn="l"/>
            <a:r>
              <a:rPr sz="900" b="1">
                <a:solidFill>
                  <a:srgbClr val="704CFF"/>
                </a:solidFill>
                <a:latin typeface="Noto Sans CJK JP"/>
              </a:rPr>
              <a:t>AGENDA</a:t>
            </a:r>
          </a:p>
        </p:txBody>
      </p:sp>
      <p:sp>
        <p:nvSpPr>
          <p:cNvPr id="4" name="TextBox 3"/>
          <p:cNvSpPr txBox="1"/>
          <p:nvPr/>
        </p:nvSpPr>
        <p:spPr>
          <a:xfrm>
            <a:off x="548640" y="548640"/>
            <a:ext cx="10972800" cy="548640"/>
          </a:xfrm>
          <a:prstGeom prst="rect">
            <a:avLst/>
          </a:prstGeom>
          <a:noFill/>
        </p:spPr>
        <p:txBody>
          <a:bodyPr wrap="square">
            <a:spAutoFit/>
          </a:bodyPr>
          <a:lstStyle/>
          <a:p>
            <a:pPr algn="l"/>
            <a:r>
              <a:rPr sz="2600" b="1">
                <a:solidFill>
                  <a:srgbClr val="191F2E"/>
                </a:solidFill>
                <a:latin typeface="Noto Sans CJK JP"/>
              </a:rPr>
              <a:t>60分の進行</a:t>
            </a:r>
          </a:p>
        </p:txBody>
      </p:sp>
      <p:sp>
        <p:nvSpPr>
          <p:cNvPr id="5" name="TextBox 4"/>
          <p:cNvSpPr txBox="1"/>
          <p:nvPr/>
        </p:nvSpPr>
        <p:spPr>
          <a:xfrm>
            <a:off x="566928" y="1097280"/>
            <a:ext cx="10972800" cy="457200"/>
          </a:xfrm>
          <a:prstGeom prst="rect">
            <a:avLst/>
          </a:prstGeom>
          <a:noFill/>
        </p:spPr>
        <p:txBody>
          <a:bodyPr wrap="square">
            <a:spAutoFit/>
          </a:bodyPr>
          <a:lstStyle/>
          <a:p>
            <a:pPr algn="l"/>
            <a:r>
              <a:rPr sz="1200" b="0">
                <a:solidFill>
                  <a:srgbClr val="5B6577"/>
                </a:solidFill>
                <a:latin typeface="Noto Sans CJK JP"/>
              </a:rPr>
              <a:t>ライブ操作ではなく、スクリーンショットと図解を中心に説明する</a:t>
            </a:r>
          </a:p>
        </p:txBody>
      </p:sp>
      <p:sp>
        <p:nvSpPr>
          <p:cNvPr id="6" name="Rectangle 5"/>
          <p:cNvSpPr/>
          <p:nvPr/>
        </p:nvSpPr>
        <p:spPr>
          <a:xfrm>
            <a:off x="548640" y="1572768"/>
            <a:ext cx="1051560" cy="54864"/>
          </a:xfrm>
          <a:prstGeom prst="rect">
            <a:avLst/>
          </a:prstGeom>
          <a:solidFill>
            <a:srgbClr val="704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22960" y="1828800"/>
            <a:ext cx="1828800" cy="502920"/>
          </a:xfrm>
          <a:prstGeom prst="roundRect">
            <a:avLst/>
          </a:prstGeom>
          <a:solidFill>
            <a:srgbClr val="EFECFF"/>
          </a:solidFill>
          <a:ln>
            <a:solidFill>
              <a:srgbClr val="EFEC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938528"/>
            <a:ext cx="1554480" cy="256032"/>
          </a:xfrm>
          <a:prstGeom prst="rect">
            <a:avLst/>
          </a:prstGeom>
          <a:noFill/>
        </p:spPr>
        <p:txBody>
          <a:bodyPr wrap="square">
            <a:spAutoFit/>
          </a:bodyPr>
          <a:lstStyle/>
          <a:p>
            <a:pPr algn="ctr"/>
            <a:r>
              <a:rPr sz="1200" b="1">
                <a:solidFill>
                  <a:srgbClr val="704CFF"/>
                </a:solidFill>
                <a:latin typeface="Noto Sans CJK JP"/>
              </a:rPr>
              <a:t>0–5分</a:t>
            </a:r>
          </a:p>
        </p:txBody>
      </p:sp>
      <p:sp>
        <p:nvSpPr>
          <p:cNvPr id="9" name="TextBox 8"/>
          <p:cNvSpPr txBox="1"/>
          <p:nvPr/>
        </p:nvSpPr>
        <p:spPr>
          <a:xfrm>
            <a:off x="2926080" y="1874519"/>
            <a:ext cx="2103120" cy="292608"/>
          </a:xfrm>
          <a:prstGeom prst="rect">
            <a:avLst/>
          </a:prstGeom>
          <a:noFill/>
        </p:spPr>
        <p:txBody>
          <a:bodyPr wrap="square">
            <a:spAutoFit/>
          </a:bodyPr>
          <a:lstStyle/>
          <a:p>
            <a:pPr algn="l"/>
            <a:r>
              <a:rPr sz="1400" b="1">
                <a:solidFill>
                  <a:srgbClr val="191F2E"/>
                </a:solidFill>
                <a:latin typeface="Noto Sans CJK JP"/>
              </a:rPr>
              <a:t>背景と目的</a:t>
            </a:r>
          </a:p>
        </p:txBody>
      </p:sp>
      <p:sp>
        <p:nvSpPr>
          <p:cNvPr id="10" name="TextBox 9"/>
          <p:cNvSpPr txBox="1"/>
          <p:nvPr/>
        </p:nvSpPr>
        <p:spPr>
          <a:xfrm>
            <a:off x="4983480" y="1892807"/>
            <a:ext cx="5943600" cy="292608"/>
          </a:xfrm>
          <a:prstGeom prst="rect">
            <a:avLst/>
          </a:prstGeom>
          <a:noFill/>
        </p:spPr>
        <p:txBody>
          <a:bodyPr wrap="square">
            <a:spAutoFit/>
          </a:bodyPr>
          <a:lstStyle/>
          <a:p>
            <a:pPr algn="l"/>
            <a:r>
              <a:rPr sz="1100" b="0">
                <a:solidFill>
                  <a:srgbClr val="5B6577"/>
                </a:solidFill>
                <a:latin typeface="Noto Sans CJK JP"/>
              </a:rPr>
              <a:t>ExcelからFigmaへ移行する理由</a:t>
            </a:r>
          </a:p>
        </p:txBody>
      </p:sp>
      <p:sp>
        <p:nvSpPr>
          <p:cNvPr id="11" name="Rounded Rectangle 10"/>
          <p:cNvSpPr/>
          <p:nvPr/>
        </p:nvSpPr>
        <p:spPr>
          <a:xfrm>
            <a:off x="822960" y="2514600"/>
            <a:ext cx="1828800" cy="502920"/>
          </a:xfrm>
          <a:prstGeom prst="roundRect">
            <a:avLst/>
          </a:prstGeom>
          <a:solidFill>
            <a:srgbClr val="EFECFF"/>
          </a:solidFill>
          <a:ln>
            <a:solidFill>
              <a:srgbClr val="EFEC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2624328"/>
            <a:ext cx="1554480" cy="256032"/>
          </a:xfrm>
          <a:prstGeom prst="rect">
            <a:avLst/>
          </a:prstGeom>
          <a:noFill/>
        </p:spPr>
        <p:txBody>
          <a:bodyPr wrap="square">
            <a:spAutoFit/>
          </a:bodyPr>
          <a:lstStyle/>
          <a:p>
            <a:pPr algn="ctr"/>
            <a:r>
              <a:rPr sz="1200" b="1">
                <a:solidFill>
                  <a:srgbClr val="704CFF"/>
                </a:solidFill>
                <a:latin typeface="Noto Sans CJK JP"/>
              </a:rPr>
              <a:t>5–20分</a:t>
            </a:r>
          </a:p>
        </p:txBody>
      </p:sp>
      <p:sp>
        <p:nvSpPr>
          <p:cNvPr id="13" name="TextBox 12"/>
          <p:cNvSpPr txBox="1"/>
          <p:nvPr/>
        </p:nvSpPr>
        <p:spPr>
          <a:xfrm>
            <a:off x="2926080" y="2560320"/>
            <a:ext cx="2103120" cy="292608"/>
          </a:xfrm>
          <a:prstGeom prst="rect">
            <a:avLst/>
          </a:prstGeom>
          <a:noFill/>
        </p:spPr>
        <p:txBody>
          <a:bodyPr wrap="square">
            <a:spAutoFit/>
          </a:bodyPr>
          <a:lstStyle/>
          <a:p>
            <a:pPr algn="l"/>
            <a:r>
              <a:rPr sz="1400" b="1">
                <a:solidFill>
                  <a:srgbClr val="191F2E"/>
                </a:solidFill>
                <a:latin typeface="Noto Sans CJK JP"/>
              </a:rPr>
              <a:t>Figma Design</a:t>
            </a:r>
          </a:p>
        </p:txBody>
      </p:sp>
      <p:sp>
        <p:nvSpPr>
          <p:cNvPr id="14" name="TextBox 13"/>
          <p:cNvSpPr txBox="1"/>
          <p:nvPr/>
        </p:nvSpPr>
        <p:spPr>
          <a:xfrm>
            <a:off x="4983480" y="2578608"/>
            <a:ext cx="5943600" cy="292608"/>
          </a:xfrm>
          <a:prstGeom prst="rect">
            <a:avLst/>
          </a:prstGeom>
          <a:noFill/>
        </p:spPr>
        <p:txBody>
          <a:bodyPr wrap="square">
            <a:spAutoFit/>
          </a:bodyPr>
          <a:lstStyle/>
          <a:p>
            <a:pPr algn="l"/>
            <a:r>
              <a:rPr sz="1100" b="0">
                <a:solidFill>
                  <a:srgbClr val="5B6577"/>
                </a:solidFill>
                <a:latin typeface="Noto Sans CJK JP"/>
              </a:rPr>
              <a:t>画面構成・Layers・Frame・基本操作</a:t>
            </a:r>
          </a:p>
        </p:txBody>
      </p:sp>
      <p:sp>
        <p:nvSpPr>
          <p:cNvPr id="15" name="Rounded Rectangle 14"/>
          <p:cNvSpPr/>
          <p:nvPr/>
        </p:nvSpPr>
        <p:spPr>
          <a:xfrm>
            <a:off x="822960" y="3200400"/>
            <a:ext cx="1828800" cy="502920"/>
          </a:xfrm>
          <a:prstGeom prst="roundRect">
            <a:avLst/>
          </a:prstGeom>
          <a:solidFill>
            <a:srgbClr val="EFECFF"/>
          </a:solidFill>
          <a:ln>
            <a:solidFill>
              <a:srgbClr val="EFEC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3310128"/>
            <a:ext cx="1554480" cy="256032"/>
          </a:xfrm>
          <a:prstGeom prst="rect">
            <a:avLst/>
          </a:prstGeom>
          <a:noFill/>
        </p:spPr>
        <p:txBody>
          <a:bodyPr wrap="square">
            <a:spAutoFit/>
          </a:bodyPr>
          <a:lstStyle/>
          <a:p>
            <a:pPr algn="ctr"/>
            <a:r>
              <a:rPr sz="1200" b="1">
                <a:solidFill>
                  <a:srgbClr val="704CFF"/>
                </a:solidFill>
                <a:latin typeface="Noto Sans CJK JP"/>
              </a:rPr>
              <a:t>20–30分</a:t>
            </a:r>
          </a:p>
        </p:txBody>
      </p:sp>
      <p:sp>
        <p:nvSpPr>
          <p:cNvPr id="17" name="TextBox 16"/>
          <p:cNvSpPr txBox="1"/>
          <p:nvPr/>
        </p:nvSpPr>
        <p:spPr>
          <a:xfrm>
            <a:off x="2926080" y="3246120"/>
            <a:ext cx="2103120" cy="292608"/>
          </a:xfrm>
          <a:prstGeom prst="rect">
            <a:avLst/>
          </a:prstGeom>
          <a:noFill/>
        </p:spPr>
        <p:txBody>
          <a:bodyPr wrap="square">
            <a:spAutoFit/>
          </a:bodyPr>
          <a:lstStyle/>
          <a:p>
            <a:pPr algn="l"/>
            <a:r>
              <a:rPr sz="1400" b="1">
                <a:solidFill>
                  <a:srgbClr val="191F2E"/>
                </a:solidFill>
                <a:latin typeface="Noto Sans CJK JP"/>
              </a:rPr>
              <a:t>UI設計機能</a:t>
            </a:r>
          </a:p>
        </p:txBody>
      </p:sp>
      <p:sp>
        <p:nvSpPr>
          <p:cNvPr id="18" name="TextBox 17"/>
          <p:cNvSpPr txBox="1"/>
          <p:nvPr/>
        </p:nvSpPr>
        <p:spPr>
          <a:xfrm>
            <a:off x="4983480" y="3264408"/>
            <a:ext cx="5943600" cy="292608"/>
          </a:xfrm>
          <a:prstGeom prst="rect">
            <a:avLst/>
          </a:prstGeom>
          <a:noFill/>
        </p:spPr>
        <p:txBody>
          <a:bodyPr wrap="square">
            <a:spAutoFit/>
          </a:bodyPr>
          <a:lstStyle/>
          <a:p>
            <a:pPr algn="l"/>
            <a:r>
              <a:rPr sz="1100" b="0">
                <a:solidFill>
                  <a:srgbClr val="5B6577"/>
                </a:solidFill>
                <a:latin typeface="Noto Sans CJK JP"/>
              </a:rPr>
              <a:t>Auto Layout・Component・Prototype</a:t>
            </a:r>
          </a:p>
        </p:txBody>
      </p:sp>
      <p:sp>
        <p:nvSpPr>
          <p:cNvPr id="19" name="Rounded Rectangle 18"/>
          <p:cNvSpPr/>
          <p:nvPr/>
        </p:nvSpPr>
        <p:spPr>
          <a:xfrm>
            <a:off x="822960" y="3886200"/>
            <a:ext cx="1828800" cy="502920"/>
          </a:xfrm>
          <a:prstGeom prst="roundRect">
            <a:avLst/>
          </a:prstGeom>
          <a:solidFill>
            <a:srgbClr val="EFECFF"/>
          </a:solidFill>
          <a:ln>
            <a:solidFill>
              <a:srgbClr val="EFEC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995928"/>
            <a:ext cx="1554480" cy="256032"/>
          </a:xfrm>
          <a:prstGeom prst="rect">
            <a:avLst/>
          </a:prstGeom>
          <a:noFill/>
        </p:spPr>
        <p:txBody>
          <a:bodyPr wrap="square">
            <a:spAutoFit/>
          </a:bodyPr>
          <a:lstStyle/>
          <a:p>
            <a:pPr algn="ctr"/>
            <a:r>
              <a:rPr sz="1200" b="1">
                <a:solidFill>
                  <a:srgbClr val="704CFF"/>
                </a:solidFill>
                <a:latin typeface="Noto Sans CJK JP"/>
              </a:rPr>
              <a:t>30–40分</a:t>
            </a:r>
          </a:p>
        </p:txBody>
      </p:sp>
      <p:sp>
        <p:nvSpPr>
          <p:cNvPr id="21" name="TextBox 20"/>
          <p:cNvSpPr txBox="1"/>
          <p:nvPr/>
        </p:nvSpPr>
        <p:spPr>
          <a:xfrm>
            <a:off x="2926080" y="3931920"/>
            <a:ext cx="2103120" cy="292608"/>
          </a:xfrm>
          <a:prstGeom prst="rect">
            <a:avLst/>
          </a:prstGeom>
          <a:noFill/>
        </p:spPr>
        <p:txBody>
          <a:bodyPr wrap="square">
            <a:spAutoFit/>
          </a:bodyPr>
          <a:lstStyle/>
          <a:p>
            <a:pPr algn="l"/>
            <a:r>
              <a:rPr sz="1400" b="1">
                <a:solidFill>
                  <a:srgbClr val="191F2E"/>
                </a:solidFill>
                <a:latin typeface="Noto Sans CJK JP"/>
              </a:rPr>
              <a:t>開発との接続</a:t>
            </a:r>
          </a:p>
        </p:txBody>
      </p:sp>
      <p:sp>
        <p:nvSpPr>
          <p:cNvPr id="22" name="TextBox 21"/>
          <p:cNvSpPr txBox="1"/>
          <p:nvPr/>
        </p:nvSpPr>
        <p:spPr>
          <a:xfrm>
            <a:off x="4983480" y="3950208"/>
            <a:ext cx="5943600" cy="292608"/>
          </a:xfrm>
          <a:prstGeom prst="rect">
            <a:avLst/>
          </a:prstGeom>
          <a:noFill/>
        </p:spPr>
        <p:txBody>
          <a:bodyPr wrap="square">
            <a:spAutoFit/>
          </a:bodyPr>
          <a:lstStyle/>
          <a:p>
            <a:pPr algn="l"/>
            <a:r>
              <a:rPr sz="1100" b="0">
                <a:solidFill>
                  <a:srgbClr val="5B6577"/>
                </a:solidFill>
                <a:latin typeface="Noto Sans CJK JP"/>
              </a:rPr>
              <a:t>Angular / Component / Dev Mode</a:t>
            </a:r>
          </a:p>
        </p:txBody>
      </p:sp>
      <p:sp>
        <p:nvSpPr>
          <p:cNvPr id="23" name="Rounded Rectangle 22"/>
          <p:cNvSpPr/>
          <p:nvPr/>
        </p:nvSpPr>
        <p:spPr>
          <a:xfrm>
            <a:off x="822960" y="4572000"/>
            <a:ext cx="1828800" cy="502920"/>
          </a:xfrm>
          <a:prstGeom prst="roundRect">
            <a:avLst/>
          </a:prstGeom>
          <a:solidFill>
            <a:srgbClr val="EFECFF"/>
          </a:solidFill>
          <a:ln>
            <a:solidFill>
              <a:srgbClr val="EFEC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0120" y="4681728"/>
            <a:ext cx="1554480" cy="256032"/>
          </a:xfrm>
          <a:prstGeom prst="rect">
            <a:avLst/>
          </a:prstGeom>
          <a:noFill/>
        </p:spPr>
        <p:txBody>
          <a:bodyPr wrap="square">
            <a:spAutoFit/>
          </a:bodyPr>
          <a:lstStyle/>
          <a:p>
            <a:pPr algn="ctr"/>
            <a:r>
              <a:rPr sz="1200" b="1">
                <a:solidFill>
                  <a:srgbClr val="704CFF"/>
                </a:solidFill>
                <a:latin typeface="Noto Sans CJK JP"/>
              </a:rPr>
              <a:t>40–52分</a:t>
            </a:r>
          </a:p>
        </p:txBody>
      </p:sp>
      <p:sp>
        <p:nvSpPr>
          <p:cNvPr id="25" name="TextBox 24"/>
          <p:cNvSpPr txBox="1"/>
          <p:nvPr/>
        </p:nvSpPr>
        <p:spPr>
          <a:xfrm>
            <a:off x="2926080" y="4617720"/>
            <a:ext cx="2103120" cy="292608"/>
          </a:xfrm>
          <a:prstGeom prst="rect">
            <a:avLst/>
          </a:prstGeom>
          <a:noFill/>
        </p:spPr>
        <p:txBody>
          <a:bodyPr wrap="square">
            <a:spAutoFit/>
          </a:bodyPr>
          <a:lstStyle/>
          <a:p>
            <a:pPr algn="l"/>
            <a:r>
              <a:rPr sz="1400" b="1">
                <a:solidFill>
                  <a:srgbClr val="191F2E"/>
                </a:solidFill>
                <a:latin typeface="Noto Sans CJK JP"/>
              </a:rPr>
              <a:t>Figma Make</a:t>
            </a:r>
          </a:p>
        </p:txBody>
      </p:sp>
      <p:sp>
        <p:nvSpPr>
          <p:cNvPr id="26" name="TextBox 25"/>
          <p:cNvSpPr txBox="1"/>
          <p:nvPr/>
        </p:nvSpPr>
        <p:spPr>
          <a:xfrm>
            <a:off x="4983480" y="4636008"/>
            <a:ext cx="5943600" cy="292608"/>
          </a:xfrm>
          <a:prstGeom prst="rect">
            <a:avLst/>
          </a:prstGeom>
          <a:noFill/>
        </p:spPr>
        <p:txBody>
          <a:bodyPr wrap="square">
            <a:spAutoFit/>
          </a:bodyPr>
          <a:lstStyle/>
          <a:p>
            <a:pPr algn="l"/>
            <a:r>
              <a:rPr sz="1100" b="0">
                <a:solidFill>
                  <a:srgbClr val="5B6577"/>
                </a:solidFill>
                <a:latin typeface="Noto Sans CJK JP"/>
              </a:rPr>
              <a:t>AIでアイデアからインタラクティブな試作へ</a:t>
            </a:r>
          </a:p>
        </p:txBody>
      </p:sp>
      <p:sp>
        <p:nvSpPr>
          <p:cNvPr id="27" name="Rounded Rectangle 26"/>
          <p:cNvSpPr/>
          <p:nvPr/>
        </p:nvSpPr>
        <p:spPr>
          <a:xfrm>
            <a:off x="822960" y="5257800"/>
            <a:ext cx="1828800" cy="502920"/>
          </a:xfrm>
          <a:prstGeom prst="roundRect">
            <a:avLst/>
          </a:prstGeom>
          <a:solidFill>
            <a:srgbClr val="EFECFF"/>
          </a:solidFill>
          <a:ln>
            <a:solidFill>
              <a:srgbClr val="EFEC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60120" y="5367528"/>
            <a:ext cx="1554480" cy="256032"/>
          </a:xfrm>
          <a:prstGeom prst="rect">
            <a:avLst/>
          </a:prstGeom>
          <a:noFill/>
        </p:spPr>
        <p:txBody>
          <a:bodyPr wrap="square">
            <a:spAutoFit/>
          </a:bodyPr>
          <a:lstStyle/>
          <a:p>
            <a:pPr algn="ctr"/>
            <a:r>
              <a:rPr sz="1200" b="1">
                <a:solidFill>
                  <a:srgbClr val="704CFF"/>
                </a:solidFill>
                <a:latin typeface="Noto Sans CJK JP"/>
              </a:rPr>
              <a:t>52–60分</a:t>
            </a:r>
          </a:p>
        </p:txBody>
      </p:sp>
      <p:sp>
        <p:nvSpPr>
          <p:cNvPr id="29" name="TextBox 28"/>
          <p:cNvSpPr txBox="1"/>
          <p:nvPr/>
        </p:nvSpPr>
        <p:spPr>
          <a:xfrm>
            <a:off x="2926080" y="5303520"/>
            <a:ext cx="2103120" cy="292608"/>
          </a:xfrm>
          <a:prstGeom prst="rect">
            <a:avLst/>
          </a:prstGeom>
          <a:noFill/>
        </p:spPr>
        <p:txBody>
          <a:bodyPr wrap="square">
            <a:spAutoFit/>
          </a:bodyPr>
          <a:lstStyle/>
          <a:p>
            <a:pPr algn="l"/>
            <a:r>
              <a:rPr sz="1400" b="1">
                <a:solidFill>
                  <a:srgbClr val="191F2E"/>
                </a:solidFill>
                <a:latin typeface="Noto Sans CJK JP"/>
              </a:rPr>
              <a:t>実務への適用</a:t>
            </a:r>
          </a:p>
        </p:txBody>
      </p:sp>
      <p:sp>
        <p:nvSpPr>
          <p:cNvPr id="30" name="TextBox 29"/>
          <p:cNvSpPr txBox="1"/>
          <p:nvPr/>
        </p:nvSpPr>
        <p:spPr>
          <a:xfrm>
            <a:off x="4983480" y="5321808"/>
            <a:ext cx="5943600" cy="292608"/>
          </a:xfrm>
          <a:prstGeom prst="rect">
            <a:avLst/>
          </a:prstGeom>
          <a:noFill/>
        </p:spPr>
        <p:txBody>
          <a:bodyPr wrap="square">
            <a:spAutoFit/>
          </a:bodyPr>
          <a:lstStyle/>
          <a:p>
            <a:pPr algn="l"/>
            <a:r>
              <a:rPr sz="1100" b="0">
                <a:solidFill>
                  <a:srgbClr val="5B6577"/>
                </a:solidFill>
                <a:latin typeface="Noto Sans CJK JP"/>
              </a:rPr>
              <a:t>最初の案件でどう使い始めるか</a:t>
            </a:r>
          </a:p>
        </p:txBody>
      </p:sp>
      <p:sp>
        <p:nvSpPr>
          <p:cNvPr id="31" name="TextBox 30"/>
          <p:cNvSpPr txBox="1"/>
          <p:nvPr/>
        </p:nvSpPr>
        <p:spPr>
          <a:xfrm>
            <a:off x="548640" y="6510528"/>
            <a:ext cx="9601200" cy="201168"/>
          </a:xfrm>
          <a:prstGeom prst="rect">
            <a:avLst/>
          </a:prstGeom>
          <a:noFill/>
        </p:spPr>
        <p:txBody>
          <a:bodyPr wrap="square">
            <a:spAutoFit/>
          </a:bodyPr>
          <a:lstStyle/>
          <a:p>
            <a:pPr algn="l"/>
            <a:r>
              <a:rPr sz="800" b="0">
                <a:solidFill>
                  <a:srgbClr val="5B6577"/>
                </a:solidFill>
                <a:latin typeface="Noto Sans CJK JP"/>
              </a:rPr>
              <a:t>Figma勉強会｜Web開発者向け｜画面設計・プロトタイプ・AI活用</a:t>
            </a:r>
          </a:p>
        </p:txBody>
      </p:sp>
      <p:sp>
        <p:nvSpPr>
          <p:cNvPr id="32" name="TextBox 31"/>
          <p:cNvSpPr txBox="1"/>
          <p:nvPr/>
        </p:nvSpPr>
        <p:spPr>
          <a:xfrm>
            <a:off x="11155680" y="6492240"/>
            <a:ext cx="457200" cy="201168"/>
          </a:xfrm>
          <a:prstGeom prst="rect">
            <a:avLst/>
          </a:prstGeom>
          <a:noFill/>
        </p:spPr>
        <p:txBody>
          <a:bodyPr wrap="square">
            <a:spAutoFit/>
          </a:bodyPr>
          <a:lstStyle/>
          <a:p>
            <a:pPr algn="r"/>
            <a:r>
              <a:rPr sz="800" b="0">
                <a:solidFill>
                  <a:srgbClr val="5B6577"/>
                </a:solidFill>
                <a:latin typeface="Noto Sans CJK JP"/>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3200400" cy="274320"/>
          </a:xfrm>
          <a:prstGeom prst="rect">
            <a:avLst/>
          </a:prstGeom>
          <a:noFill/>
        </p:spPr>
        <p:txBody>
          <a:bodyPr wrap="square">
            <a:spAutoFit/>
          </a:bodyPr>
          <a:lstStyle/>
          <a:p>
            <a:pPr algn="l"/>
            <a:r>
              <a:rPr sz="900" b="1">
                <a:solidFill>
                  <a:srgbClr val="704CFF"/>
                </a:solidFill>
                <a:latin typeface="Noto Sans CJK JP"/>
              </a:rPr>
              <a:t>WHY</a:t>
            </a:r>
          </a:p>
        </p:txBody>
      </p:sp>
      <p:sp>
        <p:nvSpPr>
          <p:cNvPr id="4" name="TextBox 3"/>
          <p:cNvSpPr txBox="1"/>
          <p:nvPr/>
        </p:nvSpPr>
        <p:spPr>
          <a:xfrm>
            <a:off x="548640" y="548640"/>
            <a:ext cx="10972800" cy="548640"/>
          </a:xfrm>
          <a:prstGeom prst="rect">
            <a:avLst/>
          </a:prstGeom>
          <a:noFill/>
        </p:spPr>
        <p:txBody>
          <a:bodyPr wrap="square">
            <a:spAutoFit/>
          </a:bodyPr>
          <a:lstStyle/>
          <a:p>
            <a:pPr algn="l"/>
            <a:r>
              <a:rPr sz="2600" b="1">
                <a:solidFill>
                  <a:srgbClr val="191F2E"/>
                </a:solidFill>
                <a:latin typeface="Noto Sans CJK JP"/>
              </a:rPr>
              <a:t>なぜExcelからFigmaへ？</a:t>
            </a:r>
          </a:p>
        </p:txBody>
      </p:sp>
      <p:sp>
        <p:nvSpPr>
          <p:cNvPr id="5" name="TextBox 4"/>
          <p:cNvSpPr txBox="1"/>
          <p:nvPr/>
        </p:nvSpPr>
        <p:spPr>
          <a:xfrm>
            <a:off x="566928" y="1097280"/>
            <a:ext cx="10972800" cy="457200"/>
          </a:xfrm>
          <a:prstGeom prst="rect">
            <a:avLst/>
          </a:prstGeom>
          <a:noFill/>
        </p:spPr>
        <p:txBody>
          <a:bodyPr wrap="square">
            <a:spAutoFit/>
          </a:bodyPr>
          <a:lstStyle/>
          <a:p>
            <a:pPr algn="l"/>
            <a:r>
              <a:rPr sz="1200" b="0">
                <a:solidFill>
                  <a:srgbClr val="5B6577"/>
                </a:solidFill>
                <a:latin typeface="Noto Sans CJK JP"/>
              </a:rPr>
              <a:t>Excelを否定するのではなく、「画面の見える化」に適したツールへ役割分担する</a:t>
            </a:r>
          </a:p>
        </p:txBody>
      </p:sp>
      <p:sp>
        <p:nvSpPr>
          <p:cNvPr id="6" name="Rectangle 5"/>
          <p:cNvSpPr/>
          <p:nvPr/>
        </p:nvSpPr>
        <p:spPr>
          <a:xfrm>
            <a:off x="548640" y="1572768"/>
            <a:ext cx="1051560" cy="54864"/>
          </a:xfrm>
          <a:prstGeom prst="rect">
            <a:avLst/>
          </a:prstGeom>
          <a:solidFill>
            <a:srgbClr val="704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828800"/>
            <a:ext cx="5074920" cy="3566160"/>
          </a:xfrm>
          <a:prstGeom prst="roundRect">
            <a:avLst/>
          </a:prstGeom>
          <a:solidFill>
            <a:srgbClr val="FFFFFF"/>
          </a:solidFill>
          <a:ln>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2057400"/>
            <a:ext cx="4572000" cy="365760"/>
          </a:xfrm>
          <a:prstGeom prst="rect">
            <a:avLst/>
          </a:prstGeom>
          <a:noFill/>
        </p:spPr>
        <p:txBody>
          <a:bodyPr wrap="square">
            <a:spAutoFit/>
          </a:bodyPr>
          <a:lstStyle/>
          <a:p>
            <a:pPr algn="l"/>
            <a:r>
              <a:rPr sz="1800" b="1">
                <a:solidFill>
                  <a:srgbClr val="191F2E"/>
                </a:solidFill>
                <a:latin typeface="Noto Sans CJK JP"/>
              </a:rPr>
              <a:t>これまで：Excel中心</a:t>
            </a:r>
          </a:p>
        </p:txBody>
      </p:sp>
      <p:sp>
        <p:nvSpPr>
          <p:cNvPr id="9" name="Oval 8"/>
          <p:cNvSpPr/>
          <p:nvPr/>
        </p:nvSpPr>
        <p:spPr>
          <a:xfrm>
            <a:off x="1051560" y="2724912"/>
            <a:ext cx="201168" cy="201168"/>
          </a:xfrm>
          <a:prstGeom prst="ellipse">
            <a:avLst/>
          </a:prstGeom>
          <a:solidFill>
            <a:srgbClr val="F58B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2697480"/>
            <a:ext cx="4069080" cy="274320"/>
          </a:xfrm>
          <a:prstGeom prst="rect">
            <a:avLst/>
          </a:prstGeom>
          <a:noFill/>
        </p:spPr>
        <p:txBody>
          <a:bodyPr wrap="square">
            <a:spAutoFit/>
          </a:bodyPr>
          <a:lstStyle/>
          <a:p>
            <a:pPr algn="l"/>
            <a:r>
              <a:rPr sz="1400" b="1">
                <a:solidFill>
                  <a:srgbClr val="191F2E"/>
                </a:solidFill>
                <a:latin typeface="Noto Sans CJK JP"/>
              </a:rPr>
              <a:t>画面仕様を表形式で管理</a:t>
            </a:r>
          </a:p>
        </p:txBody>
      </p:sp>
      <p:sp>
        <p:nvSpPr>
          <p:cNvPr id="11" name="TextBox 10"/>
          <p:cNvSpPr txBox="1"/>
          <p:nvPr/>
        </p:nvSpPr>
        <p:spPr>
          <a:xfrm>
            <a:off x="1371600" y="2999232"/>
            <a:ext cx="4069080" cy="246887"/>
          </a:xfrm>
          <a:prstGeom prst="rect">
            <a:avLst/>
          </a:prstGeom>
          <a:noFill/>
        </p:spPr>
        <p:txBody>
          <a:bodyPr wrap="square">
            <a:spAutoFit/>
          </a:bodyPr>
          <a:lstStyle/>
          <a:p>
            <a:pPr algn="l"/>
            <a:r>
              <a:rPr sz="1100" b="0">
                <a:solidFill>
                  <a:srgbClr val="5B6577"/>
                </a:solidFill>
                <a:latin typeface="Noto Sans CJK JP"/>
              </a:rPr>
              <a:t/>
            </a:r>
          </a:p>
        </p:txBody>
      </p:sp>
      <p:sp>
        <p:nvSpPr>
          <p:cNvPr id="12" name="Oval 11"/>
          <p:cNvSpPr/>
          <p:nvPr/>
        </p:nvSpPr>
        <p:spPr>
          <a:xfrm>
            <a:off x="1051560" y="3456432"/>
            <a:ext cx="201168" cy="201168"/>
          </a:xfrm>
          <a:prstGeom prst="ellipse">
            <a:avLst/>
          </a:prstGeom>
          <a:solidFill>
            <a:srgbClr val="F58B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71600" y="3429000"/>
            <a:ext cx="4069080" cy="274320"/>
          </a:xfrm>
          <a:prstGeom prst="rect">
            <a:avLst/>
          </a:prstGeom>
          <a:noFill/>
        </p:spPr>
        <p:txBody>
          <a:bodyPr wrap="square">
            <a:spAutoFit/>
          </a:bodyPr>
          <a:lstStyle/>
          <a:p>
            <a:pPr algn="l"/>
            <a:r>
              <a:rPr sz="1400" b="1">
                <a:solidFill>
                  <a:srgbClr val="191F2E"/>
                </a:solidFill>
                <a:latin typeface="Noto Sans CJK JP"/>
              </a:rPr>
              <a:t>セルや図形で画面イメージを作成</a:t>
            </a:r>
          </a:p>
        </p:txBody>
      </p:sp>
      <p:sp>
        <p:nvSpPr>
          <p:cNvPr id="14" name="TextBox 13"/>
          <p:cNvSpPr txBox="1"/>
          <p:nvPr/>
        </p:nvSpPr>
        <p:spPr>
          <a:xfrm>
            <a:off x="1371600" y="3730752"/>
            <a:ext cx="4069080" cy="246887"/>
          </a:xfrm>
          <a:prstGeom prst="rect">
            <a:avLst/>
          </a:prstGeom>
          <a:noFill/>
        </p:spPr>
        <p:txBody>
          <a:bodyPr wrap="square">
            <a:spAutoFit/>
          </a:bodyPr>
          <a:lstStyle/>
          <a:p>
            <a:pPr algn="l"/>
            <a:r>
              <a:rPr sz="1100" b="0">
                <a:solidFill>
                  <a:srgbClr val="5B6577"/>
                </a:solidFill>
                <a:latin typeface="Noto Sans CJK JP"/>
              </a:rPr>
              <a:t/>
            </a:r>
          </a:p>
        </p:txBody>
      </p:sp>
      <p:sp>
        <p:nvSpPr>
          <p:cNvPr id="15" name="Oval 14"/>
          <p:cNvSpPr/>
          <p:nvPr/>
        </p:nvSpPr>
        <p:spPr>
          <a:xfrm>
            <a:off x="1051560" y="4187952"/>
            <a:ext cx="201168" cy="201168"/>
          </a:xfrm>
          <a:prstGeom prst="ellipse">
            <a:avLst/>
          </a:prstGeom>
          <a:solidFill>
            <a:srgbClr val="F58B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371600" y="4160520"/>
            <a:ext cx="4069080" cy="274320"/>
          </a:xfrm>
          <a:prstGeom prst="rect">
            <a:avLst/>
          </a:prstGeom>
          <a:noFill/>
        </p:spPr>
        <p:txBody>
          <a:bodyPr wrap="square">
            <a:spAutoFit/>
          </a:bodyPr>
          <a:lstStyle/>
          <a:p>
            <a:pPr algn="l"/>
            <a:r>
              <a:rPr sz="1400" b="1">
                <a:solidFill>
                  <a:srgbClr val="191F2E"/>
                </a:solidFill>
                <a:latin typeface="Noto Sans CJK JP"/>
              </a:rPr>
              <a:t>画面遷移は矢印や説明文で表現</a:t>
            </a:r>
          </a:p>
        </p:txBody>
      </p:sp>
      <p:sp>
        <p:nvSpPr>
          <p:cNvPr id="17" name="TextBox 16"/>
          <p:cNvSpPr txBox="1"/>
          <p:nvPr/>
        </p:nvSpPr>
        <p:spPr>
          <a:xfrm>
            <a:off x="1371600" y="4462272"/>
            <a:ext cx="4069080" cy="246887"/>
          </a:xfrm>
          <a:prstGeom prst="rect">
            <a:avLst/>
          </a:prstGeom>
          <a:noFill/>
        </p:spPr>
        <p:txBody>
          <a:bodyPr wrap="square">
            <a:spAutoFit/>
          </a:bodyPr>
          <a:lstStyle/>
          <a:p>
            <a:pPr algn="l"/>
            <a:r>
              <a:rPr sz="1100" b="0">
                <a:solidFill>
                  <a:srgbClr val="5B6577"/>
                </a:solidFill>
                <a:latin typeface="Noto Sans CJK JP"/>
              </a:rPr>
              <a:t/>
            </a:r>
          </a:p>
        </p:txBody>
      </p:sp>
      <p:sp>
        <p:nvSpPr>
          <p:cNvPr id="18" name="Rounded Rectangle 17"/>
          <p:cNvSpPr/>
          <p:nvPr/>
        </p:nvSpPr>
        <p:spPr>
          <a:xfrm>
            <a:off x="6309360" y="1828800"/>
            <a:ext cx="5074920" cy="3566160"/>
          </a:xfrm>
          <a:prstGeom prst="roundRect">
            <a:avLst/>
          </a:prstGeom>
          <a:solidFill>
            <a:srgbClr val="FFFFFF"/>
          </a:solidFill>
          <a:ln>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37960" y="2057400"/>
            <a:ext cx="4572000" cy="365760"/>
          </a:xfrm>
          <a:prstGeom prst="rect">
            <a:avLst/>
          </a:prstGeom>
          <a:noFill/>
        </p:spPr>
        <p:txBody>
          <a:bodyPr wrap="square">
            <a:spAutoFit/>
          </a:bodyPr>
          <a:lstStyle/>
          <a:p>
            <a:pPr algn="l"/>
            <a:r>
              <a:rPr sz="1800" b="1">
                <a:solidFill>
                  <a:srgbClr val="191F2E"/>
                </a:solidFill>
                <a:latin typeface="Noto Sans CJK JP"/>
              </a:rPr>
              <a:t>これから：Figma中心</a:t>
            </a:r>
          </a:p>
        </p:txBody>
      </p:sp>
      <p:sp>
        <p:nvSpPr>
          <p:cNvPr id="20" name="Oval 19"/>
          <p:cNvSpPr/>
          <p:nvPr/>
        </p:nvSpPr>
        <p:spPr>
          <a:xfrm>
            <a:off x="6583680" y="2724912"/>
            <a:ext cx="201168" cy="201168"/>
          </a:xfrm>
          <a:prstGeom prst="ellipse">
            <a:avLst/>
          </a:prstGeom>
          <a:solidFill>
            <a:srgbClr val="1FAB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903720" y="2697480"/>
            <a:ext cx="4069080" cy="274320"/>
          </a:xfrm>
          <a:prstGeom prst="rect">
            <a:avLst/>
          </a:prstGeom>
          <a:noFill/>
        </p:spPr>
        <p:txBody>
          <a:bodyPr wrap="square">
            <a:spAutoFit/>
          </a:bodyPr>
          <a:lstStyle/>
          <a:p>
            <a:pPr algn="l"/>
            <a:r>
              <a:rPr sz="1400" b="1">
                <a:solidFill>
                  <a:srgbClr val="191F2E"/>
                </a:solidFill>
                <a:latin typeface="Noto Sans CJK JP"/>
              </a:rPr>
              <a:t>実際のUIに近い画面を並べる</a:t>
            </a:r>
          </a:p>
        </p:txBody>
      </p:sp>
      <p:sp>
        <p:nvSpPr>
          <p:cNvPr id="22" name="TextBox 21"/>
          <p:cNvSpPr txBox="1"/>
          <p:nvPr/>
        </p:nvSpPr>
        <p:spPr>
          <a:xfrm>
            <a:off x="6903720" y="2999232"/>
            <a:ext cx="4069080" cy="246887"/>
          </a:xfrm>
          <a:prstGeom prst="rect">
            <a:avLst/>
          </a:prstGeom>
          <a:noFill/>
        </p:spPr>
        <p:txBody>
          <a:bodyPr wrap="square">
            <a:spAutoFit/>
          </a:bodyPr>
          <a:lstStyle/>
          <a:p>
            <a:pPr algn="l"/>
            <a:r>
              <a:rPr sz="1100" b="0">
                <a:solidFill>
                  <a:srgbClr val="5B6577"/>
                </a:solidFill>
                <a:latin typeface="Noto Sans CJK JP"/>
              </a:rPr>
              <a:t/>
            </a:r>
          </a:p>
        </p:txBody>
      </p:sp>
      <p:sp>
        <p:nvSpPr>
          <p:cNvPr id="23" name="Oval 22"/>
          <p:cNvSpPr/>
          <p:nvPr/>
        </p:nvSpPr>
        <p:spPr>
          <a:xfrm>
            <a:off x="6583680" y="3456432"/>
            <a:ext cx="201168" cy="201168"/>
          </a:xfrm>
          <a:prstGeom prst="ellipse">
            <a:avLst/>
          </a:prstGeom>
          <a:solidFill>
            <a:srgbClr val="1FAB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903720" y="3429000"/>
            <a:ext cx="4069080" cy="274320"/>
          </a:xfrm>
          <a:prstGeom prst="rect">
            <a:avLst/>
          </a:prstGeom>
          <a:noFill/>
        </p:spPr>
        <p:txBody>
          <a:bodyPr wrap="square">
            <a:spAutoFit/>
          </a:bodyPr>
          <a:lstStyle/>
          <a:p>
            <a:pPr algn="l"/>
            <a:r>
              <a:rPr sz="1400" b="1">
                <a:solidFill>
                  <a:srgbClr val="191F2E"/>
                </a:solidFill>
                <a:latin typeface="Noto Sans CJK JP"/>
              </a:rPr>
              <a:t>画面遷移をクリックできる形で確認</a:t>
            </a:r>
          </a:p>
        </p:txBody>
      </p:sp>
      <p:sp>
        <p:nvSpPr>
          <p:cNvPr id="25" name="TextBox 24"/>
          <p:cNvSpPr txBox="1"/>
          <p:nvPr/>
        </p:nvSpPr>
        <p:spPr>
          <a:xfrm>
            <a:off x="6903720" y="3730752"/>
            <a:ext cx="4069080" cy="246887"/>
          </a:xfrm>
          <a:prstGeom prst="rect">
            <a:avLst/>
          </a:prstGeom>
          <a:noFill/>
        </p:spPr>
        <p:txBody>
          <a:bodyPr wrap="square">
            <a:spAutoFit/>
          </a:bodyPr>
          <a:lstStyle/>
          <a:p>
            <a:pPr algn="l"/>
            <a:r>
              <a:rPr sz="1100" b="0">
                <a:solidFill>
                  <a:srgbClr val="5B6577"/>
                </a:solidFill>
                <a:latin typeface="Noto Sans CJK JP"/>
              </a:rPr>
              <a:t/>
            </a:r>
          </a:p>
        </p:txBody>
      </p:sp>
      <p:sp>
        <p:nvSpPr>
          <p:cNvPr id="26" name="Oval 25"/>
          <p:cNvSpPr/>
          <p:nvPr/>
        </p:nvSpPr>
        <p:spPr>
          <a:xfrm>
            <a:off x="6583680" y="4187952"/>
            <a:ext cx="201168" cy="201168"/>
          </a:xfrm>
          <a:prstGeom prst="ellipse">
            <a:avLst/>
          </a:prstGeom>
          <a:solidFill>
            <a:srgbClr val="1FAB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903720" y="4160520"/>
            <a:ext cx="4069080" cy="274320"/>
          </a:xfrm>
          <a:prstGeom prst="rect">
            <a:avLst/>
          </a:prstGeom>
          <a:noFill/>
        </p:spPr>
        <p:txBody>
          <a:bodyPr wrap="square">
            <a:spAutoFit/>
          </a:bodyPr>
          <a:lstStyle/>
          <a:p>
            <a:pPr algn="l"/>
            <a:r>
              <a:rPr sz="1400" b="1">
                <a:solidFill>
                  <a:srgbClr val="191F2E"/>
                </a:solidFill>
                <a:latin typeface="Noto Sans CJK JP"/>
              </a:rPr>
              <a:t>コメント・共有・共同レビューを行う</a:t>
            </a:r>
          </a:p>
        </p:txBody>
      </p:sp>
      <p:sp>
        <p:nvSpPr>
          <p:cNvPr id="28" name="TextBox 27"/>
          <p:cNvSpPr txBox="1"/>
          <p:nvPr/>
        </p:nvSpPr>
        <p:spPr>
          <a:xfrm>
            <a:off x="6903720" y="4462272"/>
            <a:ext cx="4069080" cy="246887"/>
          </a:xfrm>
          <a:prstGeom prst="rect">
            <a:avLst/>
          </a:prstGeom>
          <a:noFill/>
        </p:spPr>
        <p:txBody>
          <a:bodyPr wrap="square">
            <a:spAutoFit/>
          </a:bodyPr>
          <a:lstStyle/>
          <a:p>
            <a:pPr algn="l"/>
            <a:r>
              <a:rPr sz="1100" b="0">
                <a:solidFill>
                  <a:srgbClr val="5B6577"/>
                </a:solidFill>
                <a:latin typeface="Noto Sans CJK JP"/>
              </a:rPr>
              <a:t/>
            </a:r>
          </a:p>
        </p:txBody>
      </p:sp>
      <p:sp>
        <p:nvSpPr>
          <p:cNvPr id="29" name="TextBox 28"/>
          <p:cNvSpPr txBox="1"/>
          <p:nvPr/>
        </p:nvSpPr>
        <p:spPr>
          <a:xfrm>
            <a:off x="914400" y="5669280"/>
            <a:ext cx="10332720" cy="502920"/>
          </a:xfrm>
          <a:prstGeom prst="rect">
            <a:avLst/>
          </a:prstGeom>
          <a:noFill/>
        </p:spPr>
        <p:txBody>
          <a:bodyPr wrap="square">
            <a:spAutoFit/>
          </a:bodyPr>
          <a:lstStyle/>
          <a:p>
            <a:pPr algn="ctr"/>
            <a:r>
              <a:rPr sz="1400" b="1">
                <a:solidFill>
                  <a:srgbClr val="704CFF"/>
                </a:solidFill>
                <a:latin typeface="Noto Sans CJK JP"/>
              </a:rPr>
              <a:t>おすすめの役割分担：Figma＝見た目・操作・画面遷移 ／ 既存資料＝詳細仕様・業務ルール・項目定義</a:t>
            </a:r>
          </a:p>
        </p:txBody>
      </p:sp>
      <p:sp>
        <p:nvSpPr>
          <p:cNvPr id="30" name="TextBox 29"/>
          <p:cNvSpPr txBox="1"/>
          <p:nvPr/>
        </p:nvSpPr>
        <p:spPr>
          <a:xfrm>
            <a:off x="548640" y="6510528"/>
            <a:ext cx="9601200" cy="201168"/>
          </a:xfrm>
          <a:prstGeom prst="rect">
            <a:avLst/>
          </a:prstGeom>
          <a:noFill/>
        </p:spPr>
        <p:txBody>
          <a:bodyPr wrap="square">
            <a:spAutoFit/>
          </a:bodyPr>
          <a:lstStyle/>
          <a:p>
            <a:pPr algn="l"/>
            <a:r>
              <a:rPr sz="800" b="0">
                <a:solidFill>
                  <a:srgbClr val="5B6577"/>
                </a:solidFill>
                <a:latin typeface="Noto Sans CJK JP"/>
              </a:rPr>
              <a:t>Figma勉強会｜Web開発者向け｜画面設計・プロトタイプ・AI活用</a:t>
            </a:r>
          </a:p>
        </p:txBody>
      </p:sp>
      <p:sp>
        <p:nvSpPr>
          <p:cNvPr id="31" name="TextBox 30"/>
          <p:cNvSpPr txBox="1"/>
          <p:nvPr/>
        </p:nvSpPr>
        <p:spPr>
          <a:xfrm>
            <a:off x="11155680" y="6492240"/>
            <a:ext cx="457200" cy="201168"/>
          </a:xfrm>
          <a:prstGeom prst="rect">
            <a:avLst/>
          </a:prstGeom>
          <a:noFill/>
        </p:spPr>
        <p:txBody>
          <a:bodyPr wrap="square">
            <a:spAutoFit/>
          </a:bodyPr>
          <a:lstStyle/>
          <a:p>
            <a:pPr algn="r"/>
            <a:r>
              <a:rPr sz="800" b="0">
                <a:solidFill>
                  <a:srgbClr val="5B6577"/>
                </a:solidFill>
                <a:latin typeface="Noto Sans CJK JP"/>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3200400" cy="274320"/>
          </a:xfrm>
          <a:prstGeom prst="rect">
            <a:avLst/>
          </a:prstGeom>
          <a:noFill/>
        </p:spPr>
        <p:txBody>
          <a:bodyPr wrap="square">
            <a:spAutoFit/>
          </a:bodyPr>
          <a:lstStyle/>
          <a:p>
            <a:pPr algn="l"/>
            <a:r>
              <a:rPr sz="900" b="1">
                <a:solidFill>
                  <a:srgbClr val="704CFF"/>
                </a:solidFill>
                <a:latin typeface="Noto Sans CJK JP"/>
              </a:rPr>
              <a:t>SCREENSHOT</a:t>
            </a:r>
          </a:p>
        </p:txBody>
      </p:sp>
      <p:sp>
        <p:nvSpPr>
          <p:cNvPr id="4" name="TextBox 3"/>
          <p:cNvSpPr txBox="1"/>
          <p:nvPr/>
        </p:nvSpPr>
        <p:spPr>
          <a:xfrm>
            <a:off x="548640" y="548640"/>
            <a:ext cx="10972800" cy="548640"/>
          </a:xfrm>
          <a:prstGeom prst="rect">
            <a:avLst/>
          </a:prstGeom>
          <a:noFill/>
        </p:spPr>
        <p:txBody>
          <a:bodyPr wrap="square">
            <a:spAutoFit/>
          </a:bodyPr>
          <a:lstStyle/>
          <a:p>
            <a:pPr algn="l"/>
            <a:r>
              <a:rPr sz="2600" b="1">
                <a:solidFill>
                  <a:srgbClr val="191F2E"/>
                </a:solidFill>
                <a:latin typeface="Noto Sans CJK JP"/>
              </a:rPr>
              <a:t>手動デモをしない説明方法</a:t>
            </a:r>
          </a:p>
        </p:txBody>
      </p:sp>
      <p:sp>
        <p:nvSpPr>
          <p:cNvPr id="5" name="TextBox 4"/>
          <p:cNvSpPr txBox="1"/>
          <p:nvPr/>
        </p:nvSpPr>
        <p:spPr>
          <a:xfrm>
            <a:off x="566928" y="1097280"/>
            <a:ext cx="10972800" cy="457200"/>
          </a:xfrm>
          <a:prstGeom prst="rect">
            <a:avLst/>
          </a:prstGeom>
          <a:noFill/>
        </p:spPr>
        <p:txBody>
          <a:bodyPr wrap="square">
            <a:spAutoFit/>
          </a:bodyPr>
          <a:lstStyle/>
          <a:p>
            <a:pPr algn="l"/>
            <a:r>
              <a:rPr sz="1200" b="0">
                <a:solidFill>
                  <a:srgbClr val="5B6577"/>
                </a:solidFill>
                <a:latin typeface="Noto Sans CJK JP"/>
              </a:rPr>
              <a:t>スクリーンショットを「操作説明」ではなく「見るべき場所の説明」に使う</a:t>
            </a:r>
          </a:p>
        </p:txBody>
      </p:sp>
      <p:sp>
        <p:nvSpPr>
          <p:cNvPr id="6" name="Rectangle 5"/>
          <p:cNvSpPr/>
          <p:nvPr/>
        </p:nvSpPr>
        <p:spPr>
          <a:xfrm>
            <a:off x="548640" y="1572768"/>
            <a:ext cx="1051560" cy="54864"/>
          </a:xfrm>
          <a:prstGeom prst="rect">
            <a:avLst/>
          </a:prstGeom>
          <a:solidFill>
            <a:srgbClr val="704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828800"/>
            <a:ext cx="6949440" cy="3977639"/>
          </a:xfrm>
          <a:prstGeom prst="rect">
            <a:avLst/>
          </a:prstGeom>
          <a:solidFill>
            <a:srgbClr val="FFFFFF"/>
          </a:solidFill>
          <a:ln>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828800"/>
            <a:ext cx="6949440" cy="384048"/>
          </a:xfrm>
          <a:prstGeom prst="rect">
            <a:avLst/>
          </a:prstGeom>
          <a:solidFill>
            <a:srgbClr val="191F2E"/>
          </a:solidFill>
          <a:ln>
            <a:solidFill>
              <a:srgbClr val="191F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911095"/>
            <a:ext cx="1828800" cy="182880"/>
          </a:xfrm>
          <a:prstGeom prst="rect">
            <a:avLst/>
          </a:prstGeom>
          <a:noFill/>
        </p:spPr>
        <p:txBody>
          <a:bodyPr wrap="square">
            <a:spAutoFit/>
          </a:bodyPr>
          <a:lstStyle/>
          <a:p>
            <a:pPr algn="l"/>
            <a:r>
              <a:rPr sz="900" b="1">
                <a:solidFill>
                  <a:srgbClr val="FFFFFF"/>
                </a:solidFill>
                <a:latin typeface="Noto Sans CJK JP"/>
              </a:rPr>
              <a:t>Figma Design（説明用イメージ）</a:t>
            </a:r>
          </a:p>
        </p:txBody>
      </p:sp>
      <p:sp>
        <p:nvSpPr>
          <p:cNvPr id="10" name="Rectangle 9"/>
          <p:cNvSpPr/>
          <p:nvPr/>
        </p:nvSpPr>
        <p:spPr>
          <a:xfrm>
            <a:off x="868680" y="2395728"/>
            <a:ext cx="1417320" cy="3154680"/>
          </a:xfrm>
          <a:prstGeom prst="rect">
            <a:avLst/>
          </a:prstGeom>
          <a:solidFill>
            <a:srgbClr val="F4F6FA"/>
          </a:solidFill>
          <a:ln>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2560320"/>
            <a:ext cx="1097280" cy="274320"/>
          </a:xfrm>
          <a:prstGeom prst="rect">
            <a:avLst/>
          </a:prstGeom>
          <a:noFill/>
        </p:spPr>
        <p:txBody>
          <a:bodyPr wrap="square">
            <a:spAutoFit/>
          </a:bodyPr>
          <a:lstStyle/>
          <a:p>
            <a:pPr algn="l"/>
            <a:r>
              <a:rPr sz="1200" b="1">
                <a:solidFill>
                  <a:srgbClr val="191F2E"/>
                </a:solidFill>
                <a:latin typeface="Noto Sans CJK JP"/>
              </a:rPr>
              <a:t>Layers</a:t>
            </a:r>
          </a:p>
        </p:txBody>
      </p:sp>
      <p:sp>
        <p:nvSpPr>
          <p:cNvPr id="12" name="TextBox 11"/>
          <p:cNvSpPr txBox="1"/>
          <p:nvPr/>
        </p:nvSpPr>
        <p:spPr>
          <a:xfrm>
            <a:off x="1005840" y="2971800"/>
            <a:ext cx="1097280" cy="228600"/>
          </a:xfrm>
          <a:prstGeom prst="rect">
            <a:avLst/>
          </a:prstGeom>
          <a:noFill/>
        </p:spPr>
        <p:txBody>
          <a:bodyPr wrap="square">
            <a:spAutoFit/>
          </a:bodyPr>
          <a:lstStyle/>
          <a:p>
            <a:pPr algn="l"/>
            <a:r>
              <a:rPr sz="800" b="0">
                <a:solidFill>
                  <a:srgbClr val="5B6577"/>
                </a:solidFill>
                <a:latin typeface="Noto Sans CJK JP"/>
              </a:rPr>
              <a:t>UserList / Frame</a:t>
            </a:r>
          </a:p>
        </p:txBody>
      </p:sp>
      <p:sp>
        <p:nvSpPr>
          <p:cNvPr id="13" name="TextBox 12"/>
          <p:cNvSpPr txBox="1"/>
          <p:nvPr/>
        </p:nvSpPr>
        <p:spPr>
          <a:xfrm>
            <a:off x="1005840" y="3410712"/>
            <a:ext cx="1097280" cy="228600"/>
          </a:xfrm>
          <a:prstGeom prst="rect">
            <a:avLst/>
          </a:prstGeom>
          <a:noFill/>
        </p:spPr>
        <p:txBody>
          <a:bodyPr wrap="square">
            <a:spAutoFit/>
          </a:bodyPr>
          <a:lstStyle/>
          <a:p>
            <a:pPr algn="l"/>
            <a:r>
              <a:rPr sz="800" b="0">
                <a:solidFill>
                  <a:srgbClr val="5B6577"/>
                </a:solidFill>
                <a:latin typeface="Noto Sans CJK JP"/>
              </a:rPr>
              <a:t>Header</a:t>
            </a:r>
          </a:p>
        </p:txBody>
      </p:sp>
      <p:sp>
        <p:nvSpPr>
          <p:cNvPr id="14" name="TextBox 13"/>
          <p:cNvSpPr txBox="1"/>
          <p:nvPr/>
        </p:nvSpPr>
        <p:spPr>
          <a:xfrm>
            <a:off x="1005840" y="3849624"/>
            <a:ext cx="1097280" cy="228600"/>
          </a:xfrm>
          <a:prstGeom prst="rect">
            <a:avLst/>
          </a:prstGeom>
          <a:noFill/>
        </p:spPr>
        <p:txBody>
          <a:bodyPr wrap="square">
            <a:spAutoFit/>
          </a:bodyPr>
          <a:lstStyle/>
          <a:p>
            <a:pPr algn="l"/>
            <a:r>
              <a:rPr sz="800" b="0">
                <a:solidFill>
                  <a:srgbClr val="5B6577"/>
                </a:solidFill>
                <a:latin typeface="Noto Sans CJK JP"/>
              </a:rPr>
              <a:t>SearchArea</a:t>
            </a:r>
          </a:p>
        </p:txBody>
      </p:sp>
      <p:sp>
        <p:nvSpPr>
          <p:cNvPr id="15" name="TextBox 14"/>
          <p:cNvSpPr txBox="1"/>
          <p:nvPr/>
        </p:nvSpPr>
        <p:spPr>
          <a:xfrm>
            <a:off x="1005840" y="4288536"/>
            <a:ext cx="1097280" cy="228600"/>
          </a:xfrm>
          <a:prstGeom prst="rect">
            <a:avLst/>
          </a:prstGeom>
          <a:noFill/>
        </p:spPr>
        <p:txBody>
          <a:bodyPr wrap="square">
            <a:spAutoFit/>
          </a:bodyPr>
          <a:lstStyle/>
          <a:p>
            <a:pPr algn="l"/>
            <a:r>
              <a:rPr sz="800" b="0">
                <a:solidFill>
                  <a:srgbClr val="5B6577"/>
                </a:solidFill>
                <a:latin typeface="Noto Sans CJK JP"/>
              </a:rPr>
              <a:t>UserTable</a:t>
            </a:r>
          </a:p>
        </p:txBody>
      </p:sp>
      <p:sp>
        <p:nvSpPr>
          <p:cNvPr id="16" name="TextBox 15"/>
          <p:cNvSpPr txBox="1"/>
          <p:nvPr/>
        </p:nvSpPr>
        <p:spPr>
          <a:xfrm>
            <a:off x="1005840" y="4727448"/>
            <a:ext cx="1097280" cy="228600"/>
          </a:xfrm>
          <a:prstGeom prst="rect">
            <a:avLst/>
          </a:prstGeom>
          <a:noFill/>
        </p:spPr>
        <p:txBody>
          <a:bodyPr wrap="square">
            <a:spAutoFit/>
          </a:bodyPr>
          <a:lstStyle/>
          <a:p>
            <a:pPr algn="l"/>
            <a:r>
              <a:rPr sz="800" b="0">
                <a:solidFill>
                  <a:srgbClr val="5B6577"/>
                </a:solidFill>
                <a:latin typeface="Noto Sans CJK JP"/>
              </a:rPr>
              <a:t>Pagination</a:t>
            </a:r>
          </a:p>
        </p:txBody>
      </p:sp>
      <p:sp>
        <p:nvSpPr>
          <p:cNvPr id="17" name="Rectangle 16"/>
          <p:cNvSpPr/>
          <p:nvPr/>
        </p:nvSpPr>
        <p:spPr>
          <a:xfrm>
            <a:off x="2468880" y="2395728"/>
            <a:ext cx="3657600" cy="3154680"/>
          </a:xfrm>
          <a:prstGeom prst="rect">
            <a:avLst/>
          </a:prstGeom>
          <a:solidFill>
            <a:srgbClr val="FCFCFE"/>
          </a:solidFill>
          <a:ln>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017520" y="2834640"/>
            <a:ext cx="2560320" cy="2148840"/>
          </a:xfrm>
          <a:prstGeom prst="roundRect">
            <a:avLst/>
          </a:prstGeom>
          <a:solidFill>
            <a:srgbClr val="F0F4FA"/>
          </a:solidFill>
          <a:ln>
            <a:solidFill>
              <a:srgbClr val="704C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291840" y="3063240"/>
            <a:ext cx="2011680" cy="228600"/>
          </a:xfrm>
          <a:prstGeom prst="rect">
            <a:avLst/>
          </a:prstGeom>
          <a:noFill/>
        </p:spPr>
        <p:txBody>
          <a:bodyPr wrap="square">
            <a:spAutoFit/>
          </a:bodyPr>
          <a:lstStyle/>
          <a:p>
            <a:pPr algn="l"/>
            <a:r>
              <a:rPr sz="1000" b="1">
                <a:solidFill>
                  <a:srgbClr val="191F2E"/>
                </a:solidFill>
                <a:latin typeface="Noto Sans CJK JP"/>
              </a:rPr>
              <a:t>User Management</a:t>
            </a:r>
          </a:p>
        </p:txBody>
      </p:sp>
      <p:sp>
        <p:nvSpPr>
          <p:cNvPr id="20" name="Rounded Rectangle 19"/>
          <p:cNvSpPr/>
          <p:nvPr/>
        </p:nvSpPr>
        <p:spPr>
          <a:xfrm>
            <a:off x="3337560" y="3566160"/>
            <a:ext cx="1920240" cy="292608"/>
          </a:xfrm>
          <a:prstGeom prst="roundRect">
            <a:avLst/>
          </a:prstGeom>
          <a:solidFill>
            <a:srgbClr val="FFFFFF"/>
          </a:solidFill>
          <a:ln>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337560" y="4069080"/>
            <a:ext cx="1920240" cy="411480"/>
          </a:xfrm>
          <a:prstGeom prst="rect">
            <a:avLst/>
          </a:prstGeom>
          <a:solidFill>
            <a:srgbClr val="FFFFFF"/>
          </a:solidFill>
          <a:ln>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355080" y="2395728"/>
            <a:ext cx="1143000" cy="3154680"/>
          </a:xfrm>
          <a:prstGeom prst="rect">
            <a:avLst/>
          </a:prstGeom>
          <a:solidFill>
            <a:srgbClr val="F4F6FA"/>
          </a:solidFill>
          <a:ln>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73952" y="2560320"/>
            <a:ext cx="822960" cy="274320"/>
          </a:xfrm>
          <a:prstGeom prst="rect">
            <a:avLst/>
          </a:prstGeom>
          <a:noFill/>
        </p:spPr>
        <p:txBody>
          <a:bodyPr wrap="square">
            <a:spAutoFit/>
          </a:bodyPr>
          <a:lstStyle/>
          <a:p>
            <a:pPr algn="l"/>
            <a:r>
              <a:rPr sz="900" b="1">
                <a:solidFill>
                  <a:srgbClr val="191F2E"/>
                </a:solidFill>
                <a:latin typeface="Noto Sans CJK JP"/>
              </a:rPr>
              <a:t>Properties</a:t>
            </a:r>
          </a:p>
        </p:txBody>
      </p:sp>
      <p:sp>
        <p:nvSpPr>
          <p:cNvPr id="24" name="TextBox 23"/>
          <p:cNvSpPr txBox="1"/>
          <p:nvPr/>
        </p:nvSpPr>
        <p:spPr>
          <a:xfrm>
            <a:off x="6473952" y="3017520"/>
            <a:ext cx="822960" cy="914400"/>
          </a:xfrm>
          <a:prstGeom prst="rect">
            <a:avLst/>
          </a:prstGeom>
          <a:noFill/>
        </p:spPr>
        <p:txBody>
          <a:bodyPr wrap="square">
            <a:spAutoFit/>
          </a:bodyPr>
          <a:lstStyle/>
          <a:p>
            <a:pPr algn="l"/>
            <a:r>
              <a:rPr sz="800" b="0">
                <a:solidFill>
                  <a:srgbClr val="5B6577"/>
                </a:solidFill>
                <a:latin typeface="Noto Sans CJK JP"/>
              </a:rPr>
              <a:t>Design
Prototype
Inspect</a:t>
            </a:r>
          </a:p>
        </p:txBody>
      </p:sp>
      <p:sp>
        <p:nvSpPr>
          <p:cNvPr id="25" name="Oval 24"/>
          <p:cNvSpPr/>
          <p:nvPr/>
        </p:nvSpPr>
        <p:spPr>
          <a:xfrm>
            <a:off x="1920240" y="2743200"/>
            <a:ext cx="320040" cy="320040"/>
          </a:xfrm>
          <a:prstGeom prst="ellipse">
            <a:avLst/>
          </a:prstGeom>
          <a:solidFill>
            <a:srgbClr val="704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920240" y="2770632"/>
            <a:ext cx="320040" cy="182880"/>
          </a:xfrm>
          <a:prstGeom prst="rect">
            <a:avLst/>
          </a:prstGeom>
          <a:noFill/>
        </p:spPr>
        <p:txBody>
          <a:bodyPr wrap="square">
            <a:spAutoFit/>
          </a:bodyPr>
          <a:lstStyle/>
          <a:p>
            <a:pPr algn="ctr"/>
            <a:r>
              <a:rPr sz="900" b="1">
                <a:solidFill>
                  <a:srgbClr val="FFFFFF"/>
                </a:solidFill>
                <a:latin typeface="Noto Sans CJK JP"/>
              </a:rPr>
              <a:t>1</a:t>
            </a:r>
          </a:p>
        </p:txBody>
      </p:sp>
      <p:sp>
        <p:nvSpPr>
          <p:cNvPr id="27" name="TextBox 26"/>
          <p:cNvSpPr txBox="1"/>
          <p:nvPr/>
        </p:nvSpPr>
        <p:spPr>
          <a:xfrm>
            <a:off x="2304288" y="2724912"/>
            <a:ext cx="1371600" cy="274320"/>
          </a:xfrm>
          <a:prstGeom prst="rect">
            <a:avLst/>
          </a:prstGeom>
          <a:noFill/>
        </p:spPr>
        <p:txBody>
          <a:bodyPr wrap="square">
            <a:spAutoFit/>
          </a:bodyPr>
          <a:lstStyle/>
          <a:p>
            <a:pPr algn="l"/>
            <a:r>
              <a:rPr sz="1000" b="1">
                <a:solidFill>
                  <a:srgbClr val="191F2E"/>
                </a:solidFill>
                <a:latin typeface="Noto Sans CJK JP"/>
              </a:rPr>
              <a:t>Layersを見る</a:t>
            </a:r>
          </a:p>
        </p:txBody>
      </p:sp>
      <p:sp>
        <p:nvSpPr>
          <p:cNvPr id="28" name="Oval 27"/>
          <p:cNvSpPr/>
          <p:nvPr/>
        </p:nvSpPr>
        <p:spPr>
          <a:xfrm>
            <a:off x="5212080" y="3657600"/>
            <a:ext cx="320040" cy="320040"/>
          </a:xfrm>
          <a:prstGeom prst="ellipse">
            <a:avLst/>
          </a:prstGeom>
          <a:solidFill>
            <a:srgbClr val="704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212080" y="3685032"/>
            <a:ext cx="320040" cy="182880"/>
          </a:xfrm>
          <a:prstGeom prst="rect">
            <a:avLst/>
          </a:prstGeom>
          <a:noFill/>
        </p:spPr>
        <p:txBody>
          <a:bodyPr wrap="square">
            <a:spAutoFit/>
          </a:bodyPr>
          <a:lstStyle/>
          <a:p>
            <a:pPr algn="ctr"/>
            <a:r>
              <a:rPr sz="900" b="1">
                <a:solidFill>
                  <a:srgbClr val="FFFFFF"/>
                </a:solidFill>
                <a:latin typeface="Noto Sans CJK JP"/>
              </a:rPr>
              <a:t>2</a:t>
            </a:r>
          </a:p>
        </p:txBody>
      </p:sp>
      <p:sp>
        <p:nvSpPr>
          <p:cNvPr id="30" name="TextBox 29"/>
          <p:cNvSpPr txBox="1"/>
          <p:nvPr/>
        </p:nvSpPr>
        <p:spPr>
          <a:xfrm>
            <a:off x="5596128" y="3639312"/>
            <a:ext cx="1371600" cy="274320"/>
          </a:xfrm>
          <a:prstGeom prst="rect">
            <a:avLst/>
          </a:prstGeom>
          <a:noFill/>
        </p:spPr>
        <p:txBody>
          <a:bodyPr wrap="square">
            <a:spAutoFit/>
          </a:bodyPr>
          <a:lstStyle/>
          <a:p>
            <a:pPr algn="l"/>
            <a:r>
              <a:rPr sz="1000" b="1">
                <a:solidFill>
                  <a:srgbClr val="191F2E"/>
                </a:solidFill>
                <a:latin typeface="Noto Sans CJK JP"/>
              </a:rPr>
              <a:t>Frameを見る</a:t>
            </a:r>
          </a:p>
        </p:txBody>
      </p:sp>
      <p:sp>
        <p:nvSpPr>
          <p:cNvPr id="31" name="Oval 30"/>
          <p:cNvSpPr/>
          <p:nvPr/>
        </p:nvSpPr>
        <p:spPr>
          <a:xfrm>
            <a:off x="7315200" y="3566160"/>
            <a:ext cx="320040" cy="320040"/>
          </a:xfrm>
          <a:prstGeom prst="ellipse">
            <a:avLst/>
          </a:prstGeom>
          <a:solidFill>
            <a:srgbClr val="704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15200" y="3593591"/>
            <a:ext cx="320040" cy="182880"/>
          </a:xfrm>
          <a:prstGeom prst="rect">
            <a:avLst/>
          </a:prstGeom>
          <a:noFill/>
        </p:spPr>
        <p:txBody>
          <a:bodyPr wrap="square">
            <a:spAutoFit/>
          </a:bodyPr>
          <a:lstStyle/>
          <a:p>
            <a:pPr algn="ctr"/>
            <a:r>
              <a:rPr sz="900" b="1">
                <a:solidFill>
                  <a:srgbClr val="FFFFFF"/>
                </a:solidFill>
                <a:latin typeface="Noto Sans CJK JP"/>
              </a:rPr>
              <a:t>3</a:t>
            </a:r>
          </a:p>
        </p:txBody>
      </p:sp>
      <p:sp>
        <p:nvSpPr>
          <p:cNvPr id="33" name="TextBox 32"/>
          <p:cNvSpPr txBox="1"/>
          <p:nvPr/>
        </p:nvSpPr>
        <p:spPr>
          <a:xfrm>
            <a:off x="7699248" y="3547872"/>
            <a:ext cx="1371600" cy="274320"/>
          </a:xfrm>
          <a:prstGeom prst="rect">
            <a:avLst/>
          </a:prstGeom>
          <a:noFill/>
        </p:spPr>
        <p:txBody>
          <a:bodyPr wrap="square">
            <a:spAutoFit/>
          </a:bodyPr>
          <a:lstStyle/>
          <a:p>
            <a:pPr algn="l"/>
            <a:r>
              <a:rPr sz="1000" b="1">
                <a:solidFill>
                  <a:srgbClr val="191F2E"/>
                </a:solidFill>
                <a:latin typeface="Noto Sans CJK JP"/>
              </a:rPr>
              <a:t>右パネルを見る</a:t>
            </a:r>
          </a:p>
        </p:txBody>
      </p:sp>
      <p:sp>
        <p:nvSpPr>
          <p:cNvPr id="34" name="Rounded Rectangle 33"/>
          <p:cNvSpPr/>
          <p:nvPr/>
        </p:nvSpPr>
        <p:spPr>
          <a:xfrm>
            <a:off x="8001000" y="1874519"/>
            <a:ext cx="3429000" cy="3840480"/>
          </a:xfrm>
          <a:prstGeom prst="roundRect">
            <a:avLst/>
          </a:prstGeom>
          <a:solidFill>
            <a:srgbClr val="EFECFF"/>
          </a:solidFill>
          <a:ln>
            <a:solidFill>
              <a:srgbClr val="EFEC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275320" y="2148840"/>
            <a:ext cx="2834640" cy="365760"/>
          </a:xfrm>
          <a:prstGeom prst="rect">
            <a:avLst/>
          </a:prstGeom>
          <a:noFill/>
        </p:spPr>
        <p:txBody>
          <a:bodyPr wrap="square">
            <a:spAutoFit/>
          </a:bodyPr>
          <a:lstStyle/>
          <a:p>
            <a:pPr algn="l"/>
            <a:r>
              <a:rPr sz="1600" b="1">
                <a:solidFill>
                  <a:srgbClr val="704CFF"/>
                </a:solidFill>
                <a:latin typeface="Noto Sans CJK JP"/>
              </a:rPr>
              <a:t>スクリーンショット説明の型</a:t>
            </a:r>
          </a:p>
        </p:txBody>
      </p:sp>
      <p:sp>
        <p:nvSpPr>
          <p:cNvPr id="36" name="TextBox 35"/>
          <p:cNvSpPr txBox="1"/>
          <p:nvPr/>
        </p:nvSpPr>
        <p:spPr>
          <a:xfrm>
            <a:off x="8321040" y="2788920"/>
            <a:ext cx="2697480" cy="320040"/>
          </a:xfrm>
          <a:prstGeom prst="rect">
            <a:avLst/>
          </a:prstGeom>
          <a:noFill/>
        </p:spPr>
        <p:txBody>
          <a:bodyPr wrap="square">
            <a:spAutoFit/>
          </a:bodyPr>
          <a:lstStyle/>
          <a:p>
            <a:pPr algn="l"/>
            <a:r>
              <a:rPr sz="1100" b="0">
                <a:solidFill>
                  <a:srgbClr val="191F2E"/>
                </a:solidFill>
                <a:latin typeface="Noto Sans CJK JP"/>
              </a:rPr>
              <a:t>① まず全体を見る</a:t>
            </a:r>
          </a:p>
        </p:txBody>
      </p:sp>
      <p:sp>
        <p:nvSpPr>
          <p:cNvPr id="37" name="TextBox 36"/>
          <p:cNvSpPr txBox="1"/>
          <p:nvPr/>
        </p:nvSpPr>
        <p:spPr>
          <a:xfrm>
            <a:off x="8321040" y="3264408"/>
            <a:ext cx="2697480" cy="320040"/>
          </a:xfrm>
          <a:prstGeom prst="rect">
            <a:avLst/>
          </a:prstGeom>
          <a:noFill/>
        </p:spPr>
        <p:txBody>
          <a:bodyPr wrap="square">
            <a:spAutoFit/>
          </a:bodyPr>
          <a:lstStyle/>
          <a:p>
            <a:pPr algn="l"/>
            <a:r>
              <a:rPr sz="1100" b="0">
                <a:solidFill>
                  <a:srgbClr val="191F2E"/>
                </a:solidFill>
                <a:latin typeface="Noto Sans CJK JP"/>
              </a:rPr>
              <a:t>② 左：Layersの構造を見る</a:t>
            </a:r>
          </a:p>
        </p:txBody>
      </p:sp>
      <p:sp>
        <p:nvSpPr>
          <p:cNvPr id="38" name="TextBox 37"/>
          <p:cNvSpPr txBox="1"/>
          <p:nvPr/>
        </p:nvSpPr>
        <p:spPr>
          <a:xfrm>
            <a:off x="8321040" y="3739896"/>
            <a:ext cx="2697480" cy="320040"/>
          </a:xfrm>
          <a:prstGeom prst="rect">
            <a:avLst/>
          </a:prstGeom>
          <a:noFill/>
        </p:spPr>
        <p:txBody>
          <a:bodyPr wrap="square">
            <a:spAutoFit/>
          </a:bodyPr>
          <a:lstStyle/>
          <a:p>
            <a:pPr algn="l"/>
            <a:r>
              <a:rPr sz="1100" b="0">
                <a:solidFill>
                  <a:srgbClr val="191F2E"/>
                </a:solidFill>
                <a:latin typeface="Noto Sans CJK JP"/>
              </a:rPr>
              <a:t>③ 中央：画面を確認する</a:t>
            </a:r>
          </a:p>
        </p:txBody>
      </p:sp>
      <p:sp>
        <p:nvSpPr>
          <p:cNvPr id="39" name="TextBox 38"/>
          <p:cNvSpPr txBox="1"/>
          <p:nvPr/>
        </p:nvSpPr>
        <p:spPr>
          <a:xfrm>
            <a:off x="8321040" y="4215383"/>
            <a:ext cx="2697480" cy="320040"/>
          </a:xfrm>
          <a:prstGeom prst="rect">
            <a:avLst/>
          </a:prstGeom>
          <a:noFill/>
        </p:spPr>
        <p:txBody>
          <a:bodyPr wrap="square">
            <a:spAutoFit/>
          </a:bodyPr>
          <a:lstStyle/>
          <a:p>
            <a:pPr algn="l"/>
            <a:r>
              <a:rPr sz="1100" b="0">
                <a:solidFill>
                  <a:srgbClr val="191F2E"/>
                </a:solidFill>
                <a:latin typeface="Noto Sans CJK JP"/>
              </a:rPr>
              <a:t>④ 右：設定内容を見る</a:t>
            </a:r>
          </a:p>
        </p:txBody>
      </p:sp>
      <p:sp>
        <p:nvSpPr>
          <p:cNvPr id="40" name="TextBox 39"/>
          <p:cNvSpPr txBox="1"/>
          <p:nvPr/>
        </p:nvSpPr>
        <p:spPr>
          <a:xfrm>
            <a:off x="8321040" y="4690872"/>
            <a:ext cx="2697480" cy="320040"/>
          </a:xfrm>
          <a:prstGeom prst="rect">
            <a:avLst/>
          </a:prstGeom>
          <a:noFill/>
        </p:spPr>
        <p:txBody>
          <a:bodyPr wrap="square">
            <a:spAutoFit/>
          </a:bodyPr>
          <a:lstStyle/>
          <a:p>
            <a:pPr algn="l"/>
            <a:r>
              <a:rPr sz="1100" b="1">
                <a:solidFill>
                  <a:srgbClr val="191F2E"/>
                </a:solidFill>
                <a:latin typeface="Noto Sans CJK JP"/>
              </a:rPr>
              <a:t>⑤ 赤枠・番号で注目箇所を固定</a:t>
            </a:r>
          </a:p>
        </p:txBody>
      </p:sp>
      <p:sp>
        <p:nvSpPr>
          <p:cNvPr id="41" name="TextBox 40"/>
          <p:cNvSpPr txBox="1"/>
          <p:nvPr/>
        </p:nvSpPr>
        <p:spPr>
          <a:xfrm>
            <a:off x="822960" y="5989320"/>
            <a:ext cx="10607040" cy="320040"/>
          </a:xfrm>
          <a:prstGeom prst="rect">
            <a:avLst/>
          </a:prstGeom>
          <a:noFill/>
        </p:spPr>
        <p:txBody>
          <a:bodyPr wrap="square">
            <a:spAutoFit/>
          </a:bodyPr>
          <a:lstStyle/>
          <a:p>
            <a:pPr algn="l"/>
            <a:r>
              <a:rPr sz="900" b="0">
                <a:solidFill>
                  <a:srgbClr val="5B6577"/>
                </a:solidFill>
                <a:latin typeface="Noto Sans CJK JP"/>
              </a:rPr>
              <a:t>※ 実際の勉強会では、本社環境のFigma画面をキャプチャしてこの構成の画像に差し替えると最も分かりやすくなります。</a:t>
            </a:r>
          </a:p>
        </p:txBody>
      </p:sp>
      <p:sp>
        <p:nvSpPr>
          <p:cNvPr id="42" name="TextBox 41"/>
          <p:cNvSpPr txBox="1"/>
          <p:nvPr/>
        </p:nvSpPr>
        <p:spPr>
          <a:xfrm>
            <a:off x="548640" y="6510528"/>
            <a:ext cx="9601200" cy="201168"/>
          </a:xfrm>
          <a:prstGeom prst="rect">
            <a:avLst/>
          </a:prstGeom>
          <a:noFill/>
        </p:spPr>
        <p:txBody>
          <a:bodyPr wrap="square">
            <a:spAutoFit/>
          </a:bodyPr>
          <a:lstStyle/>
          <a:p>
            <a:pPr algn="l"/>
            <a:r>
              <a:rPr sz="800" b="0">
                <a:solidFill>
                  <a:srgbClr val="5B6577"/>
                </a:solidFill>
                <a:latin typeface="Noto Sans CJK JP"/>
              </a:rPr>
              <a:t>Figma勉強会｜Web開発者向け｜画面設計・プロトタイプ・AI活用</a:t>
            </a:r>
          </a:p>
        </p:txBody>
      </p:sp>
      <p:sp>
        <p:nvSpPr>
          <p:cNvPr id="43" name="TextBox 42"/>
          <p:cNvSpPr txBox="1"/>
          <p:nvPr/>
        </p:nvSpPr>
        <p:spPr>
          <a:xfrm>
            <a:off x="11155680" y="6492240"/>
            <a:ext cx="457200" cy="201168"/>
          </a:xfrm>
          <a:prstGeom prst="rect">
            <a:avLst/>
          </a:prstGeom>
          <a:noFill/>
        </p:spPr>
        <p:txBody>
          <a:bodyPr wrap="square">
            <a:spAutoFit/>
          </a:bodyPr>
          <a:lstStyle/>
          <a:p>
            <a:pPr algn="r"/>
            <a:r>
              <a:rPr sz="800" b="0">
                <a:solidFill>
                  <a:srgbClr val="5B6577"/>
                </a:solidFill>
                <a:latin typeface="Noto Sans CJK JP"/>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3200400" cy="274320"/>
          </a:xfrm>
          <a:prstGeom prst="rect">
            <a:avLst/>
          </a:prstGeom>
          <a:noFill/>
        </p:spPr>
        <p:txBody>
          <a:bodyPr wrap="square">
            <a:spAutoFit/>
          </a:bodyPr>
          <a:lstStyle/>
          <a:p>
            <a:pPr algn="l"/>
            <a:r>
              <a:rPr sz="900" b="1">
                <a:solidFill>
                  <a:srgbClr val="704CFF"/>
                </a:solidFill>
                <a:latin typeface="Noto Sans CJK JP"/>
              </a:rPr>
              <a:t>DESIGN</a:t>
            </a:r>
          </a:p>
        </p:txBody>
      </p:sp>
      <p:sp>
        <p:nvSpPr>
          <p:cNvPr id="4" name="TextBox 3"/>
          <p:cNvSpPr txBox="1"/>
          <p:nvPr/>
        </p:nvSpPr>
        <p:spPr>
          <a:xfrm>
            <a:off x="548640" y="548640"/>
            <a:ext cx="10972800" cy="548640"/>
          </a:xfrm>
          <a:prstGeom prst="rect">
            <a:avLst/>
          </a:prstGeom>
          <a:noFill/>
        </p:spPr>
        <p:txBody>
          <a:bodyPr wrap="square">
            <a:spAutoFit/>
          </a:bodyPr>
          <a:lstStyle/>
          <a:p>
            <a:pPr algn="l"/>
            <a:r>
              <a:rPr sz="2600" b="1">
                <a:solidFill>
                  <a:srgbClr val="191F2E"/>
                </a:solidFill>
                <a:latin typeface="Noto Sans CJK JP"/>
              </a:rPr>
              <a:t>Figmaの基本：Frame と Layers</a:t>
            </a:r>
          </a:p>
        </p:txBody>
      </p:sp>
      <p:sp>
        <p:nvSpPr>
          <p:cNvPr id="5" name="TextBox 4"/>
          <p:cNvSpPr txBox="1"/>
          <p:nvPr/>
        </p:nvSpPr>
        <p:spPr>
          <a:xfrm>
            <a:off x="566928" y="1097280"/>
            <a:ext cx="10972800" cy="457200"/>
          </a:xfrm>
          <a:prstGeom prst="rect">
            <a:avLst/>
          </a:prstGeom>
          <a:noFill/>
        </p:spPr>
        <p:txBody>
          <a:bodyPr wrap="square">
            <a:spAutoFit/>
          </a:bodyPr>
          <a:lstStyle/>
          <a:p>
            <a:pPr algn="l"/>
            <a:r>
              <a:rPr sz="1200" b="0">
                <a:solidFill>
                  <a:srgbClr val="5B6577"/>
                </a:solidFill>
                <a:latin typeface="Noto Sans CJK JP"/>
              </a:rPr>
              <a:t>Web開発者は「画面 → 領域 → UI部品」の構造として理解すると分かりやすい</a:t>
            </a:r>
          </a:p>
        </p:txBody>
      </p:sp>
      <p:sp>
        <p:nvSpPr>
          <p:cNvPr id="6" name="Rectangle 5"/>
          <p:cNvSpPr/>
          <p:nvPr/>
        </p:nvSpPr>
        <p:spPr>
          <a:xfrm>
            <a:off x="548640" y="1572768"/>
            <a:ext cx="1051560" cy="54864"/>
          </a:xfrm>
          <a:prstGeom prst="rect">
            <a:avLst/>
          </a:prstGeom>
          <a:solidFill>
            <a:srgbClr val="704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920240"/>
            <a:ext cx="2286000" cy="1234440"/>
          </a:xfrm>
          <a:prstGeom prst="roundRect">
            <a:avLst/>
          </a:prstGeom>
          <a:solidFill>
            <a:srgbClr val="FFFFFF"/>
          </a:solidFill>
          <a:ln>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1920240"/>
            <a:ext cx="2286000" cy="109728"/>
          </a:xfrm>
          <a:prstGeom prst="roundRect">
            <a:avLst/>
          </a:prstGeom>
          <a:solidFill>
            <a:srgbClr val="704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2121408"/>
            <a:ext cx="1956816" cy="320040"/>
          </a:xfrm>
          <a:prstGeom prst="rect">
            <a:avLst/>
          </a:prstGeom>
          <a:noFill/>
        </p:spPr>
        <p:txBody>
          <a:bodyPr wrap="square">
            <a:spAutoFit/>
          </a:bodyPr>
          <a:lstStyle/>
          <a:p>
            <a:pPr algn="ctr"/>
            <a:r>
              <a:rPr sz="1300" b="1">
                <a:solidFill>
                  <a:srgbClr val="191F2E"/>
                </a:solidFill>
                <a:latin typeface="Noto Sans CJK JP"/>
              </a:rPr>
              <a:t>Frame</a:t>
            </a:r>
          </a:p>
        </p:txBody>
      </p:sp>
      <p:sp>
        <p:nvSpPr>
          <p:cNvPr id="10" name="TextBox 9"/>
          <p:cNvSpPr txBox="1"/>
          <p:nvPr/>
        </p:nvSpPr>
        <p:spPr>
          <a:xfrm>
            <a:off x="868680" y="2542032"/>
            <a:ext cx="2011680" cy="521208"/>
          </a:xfrm>
          <a:prstGeom prst="rect">
            <a:avLst/>
          </a:prstGeom>
          <a:noFill/>
        </p:spPr>
        <p:txBody>
          <a:bodyPr wrap="square">
            <a:spAutoFit/>
          </a:bodyPr>
          <a:lstStyle/>
          <a:p>
            <a:pPr algn="ctr"/>
            <a:r>
              <a:rPr sz="1000" b="0">
                <a:solidFill>
                  <a:srgbClr val="5B6577"/>
                </a:solidFill>
                <a:latin typeface="Noto Sans CJK JP"/>
              </a:rPr>
              <a:t>UserList（画面）</a:t>
            </a:r>
          </a:p>
        </p:txBody>
      </p:sp>
      <p:sp>
        <p:nvSpPr>
          <p:cNvPr id="11" name="Rounded Rectangle 10"/>
          <p:cNvSpPr/>
          <p:nvPr/>
        </p:nvSpPr>
        <p:spPr>
          <a:xfrm>
            <a:off x="3383280" y="1920240"/>
            <a:ext cx="2286000" cy="1234440"/>
          </a:xfrm>
          <a:prstGeom prst="roundRect">
            <a:avLst/>
          </a:prstGeom>
          <a:solidFill>
            <a:srgbClr val="FFFFFF"/>
          </a:solidFill>
          <a:ln>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383280" y="1920240"/>
            <a:ext cx="2286000" cy="109728"/>
          </a:xfrm>
          <a:prstGeom prst="roundRect">
            <a:avLst/>
          </a:prstGeom>
          <a:solidFill>
            <a:srgbClr val="2A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47872" y="2121408"/>
            <a:ext cx="1956816" cy="320040"/>
          </a:xfrm>
          <a:prstGeom prst="rect">
            <a:avLst/>
          </a:prstGeom>
          <a:noFill/>
        </p:spPr>
        <p:txBody>
          <a:bodyPr wrap="square">
            <a:spAutoFit/>
          </a:bodyPr>
          <a:lstStyle/>
          <a:p>
            <a:pPr algn="ctr"/>
            <a:r>
              <a:rPr sz="1300" b="1">
                <a:solidFill>
                  <a:srgbClr val="191F2E"/>
                </a:solidFill>
                <a:latin typeface="Noto Sans CJK JP"/>
              </a:rPr>
              <a:t>Section / Group</a:t>
            </a:r>
          </a:p>
        </p:txBody>
      </p:sp>
      <p:sp>
        <p:nvSpPr>
          <p:cNvPr id="14" name="TextBox 13"/>
          <p:cNvSpPr txBox="1"/>
          <p:nvPr/>
        </p:nvSpPr>
        <p:spPr>
          <a:xfrm>
            <a:off x="3520440" y="2542032"/>
            <a:ext cx="2011680" cy="521208"/>
          </a:xfrm>
          <a:prstGeom prst="rect">
            <a:avLst/>
          </a:prstGeom>
          <a:noFill/>
        </p:spPr>
        <p:txBody>
          <a:bodyPr wrap="square">
            <a:spAutoFit/>
          </a:bodyPr>
          <a:lstStyle/>
          <a:p>
            <a:pPr algn="ctr"/>
            <a:r>
              <a:rPr sz="1000" b="0">
                <a:solidFill>
                  <a:srgbClr val="5B6577"/>
                </a:solidFill>
                <a:latin typeface="Noto Sans CJK JP"/>
              </a:rPr>
              <a:t>Header / Main</a:t>
            </a:r>
          </a:p>
        </p:txBody>
      </p:sp>
      <p:sp>
        <p:nvSpPr>
          <p:cNvPr id="15" name="Rounded Rectangle 14"/>
          <p:cNvSpPr/>
          <p:nvPr/>
        </p:nvSpPr>
        <p:spPr>
          <a:xfrm>
            <a:off x="6035040" y="1920240"/>
            <a:ext cx="2286000" cy="1234440"/>
          </a:xfrm>
          <a:prstGeom prst="roundRect">
            <a:avLst/>
          </a:prstGeom>
          <a:solidFill>
            <a:srgbClr val="FFFFFF"/>
          </a:solidFill>
          <a:ln>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035040" y="1920240"/>
            <a:ext cx="2286000" cy="109728"/>
          </a:xfrm>
          <a:prstGeom prst="roundRect">
            <a:avLst/>
          </a:prstGeom>
          <a:solidFill>
            <a:srgbClr val="1FAB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99631" y="2121408"/>
            <a:ext cx="1956816" cy="320040"/>
          </a:xfrm>
          <a:prstGeom prst="rect">
            <a:avLst/>
          </a:prstGeom>
          <a:noFill/>
        </p:spPr>
        <p:txBody>
          <a:bodyPr wrap="square">
            <a:spAutoFit/>
          </a:bodyPr>
          <a:lstStyle/>
          <a:p>
            <a:pPr algn="ctr"/>
            <a:r>
              <a:rPr sz="1300" b="1">
                <a:solidFill>
                  <a:srgbClr val="191F2E"/>
                </a:solidFill>
                <a:latin typeface="Noto Sans CJK JP"/>
              </a:rPr>
              <a:t>Component</a:t>
            </a:r>
          </a:p>
        </p:txBody>
      </p:sp>
      <p:sp>
        <p:nvSpPr>
          <p:cNvPr id="18" name="TextBox 17"/>
          <p:cNvSpPr txBox="1"/>
          <p:nvPr/>
        </p:nvSpPr>
        <p:spPr>
          <a:xfrm>
            <a:off x="6172200" y="2542032"/>
            <a:ext cx="2011680" cy="521208"/>
          </a:xfrm>
          <a:prstGeom prst="rect">
            <a:avLst/>
          </a:prstGeom>
          <a:noFill/>
        </p:spPr>
        <p:txBody>
          <a:bodyPr wrap="square">
            <a:spAutoFit/>
          </a:bodyPr>
          <a:lstStyle/>
          <a:p>
            <a:pPr algn="ctr"/>
            <a:r>
              <a:rPr sz="1000" b="0">
                <a:solidFill>
                  <a:srgbClr val="5B6577"/>
                </a:solidFill>
                <a:latin typeface="Noto Sans CJK JP"/>
              </a:rPr>
              <a:t>Search / Table</a:t>
            </a:r>
          </a:p>
        </p:txBody>
      </p:sp>
      <p:sp>
        <p:nvSpPr>
          <p:cNvPr id="19" name="Rounded Rectangle 18"/>
          <p:cNvSpPr/>
          <p:nvPr/>
        </p:nvSpPr>
        <p:spPr>
          <a:xfrm>
            <a:off x="8686800" y="1920240"/>
            <a:ext cx="2286000" cy="1234440"/>
          </a:xfrm>
          <a:prstGeom prst="roundRect">
            <a:avLst/>
          </a:prstGeom>
          <a:solidFill>
            <a:srgbClr val="FFFFFF"/>
          </a:solidFill>
          <a:ln>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686800" y="1920240"/>
            <a:ext cx="2286000" cy="109728"/>
          </a:xfrm>
          <a:prstGeom prst="roundRect">
            <a:avLst/>
          </a:prstGeom>
          <a:solidFill>
            <a:srgbClr val="F58B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851392" y="2121408"/>
            <a:ext cx="1956816" cy="320040"/>
          </a:xfrm>
          <a:prstGeom prst="rect">
            <a:avLst/>
          </a:prstGeom>
          <a:noFill/>
        </p:spPr>
        <p:txBody>
          <a:bodyPr wrap="square">
            <a:spAutoFit/>
          </a:bodyPr>
          <a:lstStyle/>
          <a:p>
            <a:pPr algn="ctr"/>
            <a:r>
              <a:rPr sz="1300" b="1">
                <a:solidFill>
                  <a:srgbClr val="191F2E"/>
                </a:solidFill>
                <a:latin typeface="Noto Sans CJK JP"/>
              </a:rPr>
              <a:t>Layer</a:t>
            </a:r>
          </a:p>
        </p:txBody>
      </p:sp>
      <p:sp>
        <p:nvSpPr>
          <p:cNvPr id="22" name="TextBox 21"/>
          <p:cNvSpPr txBox="1"/>
          <p:nvPr/>
        </p:nvSpPr>
        <p:spPr>
          <a:xfrm>
            <a:off x="8823960" y="2542032"/>
            <a:ext cx="2011680" cy="521208"/>
          </a:xfrm>
          <a:prstGeom prst="rect">
            <a:avLst/>
          </a:prstGeom>
          <a:noFill/>
        </p:spPr>
        <p:txBody>
          <a:bodyPr wrap="square">
            <a:spAutoFit/>
          </a:bodyPr>
          <a:lstStyle/>
          <a:p>
            <a:pPr algn="ctr"/>
            <a:r>
              <a:rPr sz="1000" b="0">
                <a:solidFill>
                  <a:srgbClr val="5B6577"/>
                </a:solidFill>
                <a:latin typeface="Noto Sans CJK JP"/>
              </a:rPr>
              <a:t>Text / Button</a:t>
            </a:r>
          </a:p>
        </p:txBody>
      </p:sp>
      <p:sp>
        <p:nvSpPr>
          <p:cNvPr id="23" name="TextBox 22"/>
          <p:cNvSpPr txBox="1"/>
          <p:nvPr/>
        </p:nvSpPr>
        <p:spPr>
          <a:xfrm>
            <a:off x="3017520" y="2304288"/>
            <a:ext cx="320040" cy="274320"/>
          </a:xfrm>
          <a:prstGeom prst="rect">
            <a:avLst/>
          </a:prstGeom>
          <a:noFill/>
        </p:spPr>
        <p:txBody>
          <a:bodyPr wrap="square">
            <a:spAutoFit/>
          </a:bodyPr>
          <a:lstStyle/>
          <a:p>
            <a:pPr algn="ctr"/>
            <a:r>
              <a:rPr sz="2000" b="1">
                <a:solidFill>
                  <a:srgbClr val="704CFF"/>
                </a:solidFill>
                <a:latin typeface="Noto Sans CJK JP"/>
              </a:rPr>
              <a:t>→</a:t>
            </a:r>
          </a:p>
        </p:txBody>
      </p:sp>
      <p:sp>
        <p:nvSpPr>
          <p:cNvPr id="24" name="TextBox 23"/>
          <p:cNvSpPr txBox="1"/>
          <p:nvPr/>
        </p:nvSpPr>
        <p:spPr>
          <a:xfrm>
            <a:off x="5669280" y="2304288"/>
            <a:ext cx="320040" cy="274320"/>
          </a:xfrm>
          <a:prstGeom prst="rect">
            <a:avLst/>
          </a:prstGeom>
          <a:noFill/>
        </p:spPr>
        <p:txBody>
          <a:bodyPr wrap="square">
            <a:spAutoFit/>
          </a:bodyPr>
          <a:lstStyle/>
          <a:p>
            <a:pPr algn="ctr"/>
            <a:r>
              <a:rPr sz="2000" b="1">
                <a:solidFill>
                  <a:srgbClr val="704CFF"/>
                </a:solidFill>
                <a:latin typeface="Noto Sans CJK JP"/>
              </a:rPr>
              <a:t>→</a:t>
            </a:r>
          </a:p>
        </p:txBody>
      </p:sp>
      <p:sp>
        <p:nvSpPr>
          <p:cNvPr id="25" name="TextBox 24"/>
          <p:cNvSpPr txBox="1"/>
          <p:nvPr/>
        </p:nvSpPr>
        <p:spPr>
          <a:xfrm>
            <a:off x="8321040" y="2304288"/>
            <a:ext cx="320040" cy="274320"/>
          </a:xfrm>
          <a:prstGeom prst="rect">
            <a:avLst/>
          </a:prstGeom>
          <a:noFill/>
        </p:spPr>
        <p:txBody>
          <a:bodyPr wrap="square">
            <a:spAutoFit/>
          </a:bodyPr>
          <a:lstStyle/>
          <a:p>
            <a:pPr algn="ctr"/>
            <a:r>
              <a:rPr sz="2000" b="1">
                <a:solidFill>
                  <a:srgbClr val="704CFF"/>
                </a:solidFill>
                <a:latin typeface="Noto Sans CJK JP"/>
              </a:rPr>
              <a:t>→</a:t>
            </a:r>
          </a:p>
        </p:txBody>
      </p:sp>
      <p:sp>
        <p:nvSpPr>
          <p:cNvPr id="26" name="Rounded Rectangle 25"/>
          <p:cNvSpPr/>
          <p:nvPr/>
        </p:nvSpPr>
        <p:spPr>
          <a:xfrm>
            <a:off x="914400" y="3794760"/>
            <a:ext cx="10241280" cy="1234440"/>
          </a:xfrm>
          <a:prstGeom prst="roundRect">
            <a:avLst/>
          </a:prstGeom>
          <a:solidFill>
            <a:srgbClr val="FFFFFF"/>
          </a:solidFill>
          <a:ln>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234440" y="4069080"/>
            <a:ext cx="1828800" cy="274320"/>
          </a:xfrm>
          <a:prstGeom prst="rect">
            <a:avLst/>
          </a:prstGeom>
          <a:noFill/>
        </p:spPr>
        <p:txBody>
          <a:bodyPr wrap="square">
            <a:spAutoFit/>
          </a:bodyPr>
          <a:lstStyle/>
          <a:p>
            <a:pPr algn="l"/>
            <a:r>
              <a:rPr sz="1300" b="1">
                <a:solidFill>
                  <a:srgbClr val="191F2E"/>
                </a:solidFill>
                <a:latin typeface="Noto Sans CJK JP"/>
              </a:rPr>
              <a:t>Angularとの対応イメージ</a:t>
            </a:r>
          </a:p>
        </p:txBody>
      </p:sp>
      <p:sp>
        <p:nvSpPr>
          <p:cNvPr id="28" name="TextBox 27"/>
          <p:cNvSpPr txBox="1"/>
          <p:nvPr/>
        </p:nvSpPr>
        <p:spPr>
          <a:xfrm>
            <a:off x="3246120" y="4005072"/>
            <a:ext cx="7223760" cy="594360"/>
          </a:xfrm>
          <a:prstGeom prst="rect">
            <a:avLst/>
          </a:prstGeom>
          <a:noFill/>
        </p:spPr>
        <p:txBody>
          <a:bodyPr wrap="square">
            <a:spAutoFit/>
          </a:bodyPr>
          <a:lstStyle/>
          <a:p>
            <a:pPr algn="l"/>
            <a:r>
              <a:rPr sz="1500" b="1">
                <a:solidFill>
                  <a:srgbClr val="704CFF"/>
                </a:solidFill>
                <a:latin typeface="Noto Sans CJK JP"/>
              </a:rPr>
              <a:t>Figma：UserList Frame → SearchArea → UserTable
Angular：UserListComponent → SearchComponent → UserTableComponent</a:t>
            </a:r>
          </a:p>
        </p:txBody>
      </p:sp>
      <p:sp>
        <p:nvSpPr>
          <p:cNvPr id="29" name="TextBox 28"/>
          <p:cNvSpPr txBox="1"/>
          <p:nvPr/>
        </p:nvSpPr>
        <p:spPr>
          <a:xfrm>
            <a:off x="914400" y="5440680"/>
            <a:ext cx="10241280" cy="502920"/>
          </a:xfrm>
          <a:prstGeom prst="rect">
            <a:avLst/>
          </a:prstGeom>
          <a:noFill/>
        </p:spPr>
        <p:txBody>
          <a:bodyPr wrap="square">
            <a:spAutoFit/>
          </a:bodyPr>
          <a:lstStyle/>
          <a:p>
            <a:pPr algn="ctr"/>
            <a:r>
              <a:rPr sz="1300" b="1">
                <a:solidFill>
                  <a:srgbClr val="5B6577"/>
                </a:solidFill>
                <a:latin typeface="Noto Sans CJK JP"/>
              </a:rPr>
              <a:t>ポイント：FigmaのLayersを整理すると、画面構造・コンポーネント分割の会話がしやすくなります。</a:t>
            </a:r>
          </a:p>
        </p:txBody>
      </p:sp>
      <p:sp>
        <p:nvSpPr>
          <p:cNvPr id="30" name="TextBox 29"/>
          <p:cNvSpPr txBox="1"/>
          <p:nvPr/>
        </p:nvSpPr>
        <p:spPr>
          <a:xfrm>
            <a:off x="548640" y="6510528"/>
            <a:ext cx="9601200" cy="201168"/>
          </a:xfrm>
          <a:prstGeom prst="rect">
            <a:avLst/>
          </a:prstGeom>
          <a:noFill/>
        </p:spPr>
        <p:txBody>
          <a:bodyPr wrap="square">
            <a:spAutoFit/>
          </a:bodyPr>
          <a:lstStyle/>
          <a:p>
            <a:pPr algn="l"/>
            <a:r>
              <a:rPr sz="800" b="0">
                <a:solidFill>
                  <a:srgbClr val="5B6577"/>
                </a:solidFill>
                <a:latin typeface="Noto Sans CJK JP"/>
              </a:rPr>
              <a:t>Figma勉強会｜Web開発者向け｜画面設計・プロトタイプ・AI活用</a:t>
            </a:r>
          </a:p>
        </p:txBody>
      </p:sp>
      <p:sp>
        <p:nvSpPr>
          <p:cNvPr id="31" name="TextBox 30"/>
          <p:cNvSpPr txBox="1"/>
          <p:nvPr/>
        </p:nvSpPr>
        <p:spPr>
          <a:xfrm>
            <a:off x="11155680" y="6492240"/>
            <a:ext cx="457200" cy="201168"/>
          </a:xfrm>
          <a:prstGeom prst="rect">
            <a:avLst/>
          </a:prstGeom>
          <a:noFill/>
        </p:spPr>
        <p:txBody>
          <a:bodyPr wrap="square">
            <a:spAutoFit/>
          </a:bodyPr>
          <a:lstStyle/>
          <a:p>
            <a:pPr algn="r"/>
            <a:r>
              <a:rPr sz="800" b="0">
                <a:solidFill>
                  <a:srgbClr val="5B6577"/>
                </a:solidFill>
                <a:latin typeface="Noto Sans CJK JP"/>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3200400" cy="274320"/>
          </a:xfrm>
          <a:prstGeom prst="rect">
            <a:avLst/>
          </a:prstGeom>
          <a:noFill/>
        </p:spPr>
        <p:txBody>
          <a:bodyPr wrap="square">
            <a:spAutoFit/>
          </a:bodyPr>
          <a:lstStyle/>
          <a:p>
            <a:pPr algn="l"/>
            <a:r>
              <a:rPr sz="900" b="1">
                <a:solidFill>
                  <a:srgbClr val="704CFF"/>
                </a:solidFill>
                <a:latin typeface="Noto Sans CJK JP"/>
              </a:rPr>
              <a:t>CORE FEATURES</a:t>
            </a:r>
          </a:p>
        </p:txBody>
      </p:sp>
      <p:sp>
        <p:nvSpPr>
          <p:cNvPr id="4" name="TextBox 3"/>
          <p:cNvSpPr txBox="1"/>
          <p:nvPr/>
        </p:nvSpPr>
        <p:spPr>
          <a:xfrm>
            <a:off x="548640" y="548640"/>
            <a:ext cx="10972800" cy="548640"/>
          </a:xfrm>
          <a:prstGeom prst="rect">
            <a:avLst/>
          </a:prstGeom>
          <a:noFill/>
        </p:spPr>
        <p:txBody>
          <a:bodyPr wrap="square">
            <a:spAutoFit/>
          </a:bodyPr>
          <a:lstStyle/>
          <a:p>
            <a:pPr algn="l"/>
            <a:r>
              <a:rPr sz="2600" b="1">
                <a:solidFill>
                  <a:srgbClr val="191F2E"/>
                </a:solidFill>
                <a:latin typeface="Noto Sans CJK JP"/>
              </a:rPr>
              <a:t>最初に覚える4つの機能</a:t>
            </a:r>
          </a:p>
        </p:txBody>
      </p:sp>
      <p:sp>
        <p:nvSpPr>
          <p:cNvPr id="5" name="TextBox 4"/>
          <p:cNvSpPr txBox="1"/>
          <p:nvPr/>
        </p:nvSpPr>
        <p:spPr>
          <a:xfrm>
            <a:off x="566928" y="1097280"/>
            <a:ext cx="10972800" cy="457200"/>
          </a:xfrm>
          <a:prstGeom prst="rect">
            <a:avLst/>
          </a:prstGeom>
          <a:noFill/>
        </p:spPr>
        <p:txBody>
          <a:bodyPr wrap="square">
            <a:spAutoFit/>
          </a:bodyPr>
          <a:lstStyle/>
          <a:p>
            <a:pPr algn="l"/>
            <a:r>
              <a:rPr sz="1200" b="0">
                <a:solidFill>
                  <a:srgbClr val="5B6577"/>
                </a:solidFill>
                <a:latin typeface="Noto Sans CJK JP"/>
              </a:rPr>
              <a:t>デザインの細かい技術よりも、再利用性と画面の可視化を優先する</a:t>
            </a:r>
          </a:p>
        </p:txBody>
      </p:sp>
      <p:sp>
        <p:nvSpPr>
          <p:cNvPr id="6" name="Rectangle 5"/>
          <p:cNvSpPr/>
          <p:nvPr/>
        </p:nvSpPr>
        <p:spPr>
          <a:xfrm>
            <a:off x="548640" y="1572768"/>
            <a:ext cx="1051560" cy="54864"/>
          </a:xfrm>
          <a:prstGeom prst="rect">
            <a:avLst/>
          </a:prstGeom>
          <a:solidFill>
            <a:srgbClr val="704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874519"/>
            <a:ext cx="5074920" cy="1417320"/>
          </a:xfrm>
          <a:prstGeom prst="roundRect">
            <a:avLst/>
          </a:prstGeom>
          <a:solidFill>
            <a:srgbClr val="FFFFFF"/>
          </a:solidFill>
          <a:ln>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33271" y="2103120"/>
            <a:ext cx="4480560" cy="320040"/>
          </a:xfrm>
          <a:prstGeom prst="rect">
            <a:avLst/>
          </a:prstGeom>
          <a:noFill/>
        </p:spPr>
        <p:txBody>
          <a:bodyPr wrap="square">
            <a:spAutoFit/>
          </a:bodyPr>
          <a:lstStyle/>
          <a:p>
            <a:pPr algn="l"/>
            <a:r>
              <a:rPr sz="1700" b="1">
                <a:solidFill>
                  <a:srgbClr val="191F2E"/>
                </a:solidFill>
                <a:latin typeface="Noto Sans CJK JP"/>
              </a:rPr>
              <a:t>Frame</a:t>
            </a:r>
          </a:p>
        </p:txBody>
      </p:sp>
      <p:sp>
        <p:nvSpPr>
          <p:cNvPr id="9" name="TextBox 8"/>
          <p:cNvSpPr txBox="1"/>
          <p:nvPr/>
        </p:nvSpPr>
        <p:spPr>
          <a:xfrm>
            <a:off x="1033271" y="2532887"/>
            <a:ext cx="4480560" cy="228600"/>
          </a:xfrm>
          <a:prstGeom prst="rect">
            <a:avLst/>
          </a:prstGeom>
          <a:noFill/>
        </p:spPr>
        <p:txBody>
          <a:bodyPr wrap="square">
            <a:spAutoFit/>
          </a:bodyPr>
          <a:lstStyle/>
          <a:p>
            <a:pPr algn="l"/>
            <a:r>
              <a:rPr sz="1100" b="1">
                <a:solidFill>
                  <a:srgbClr val="704CFF"/>
                </a:solidFill>
                <a:latin typeface="Noto Sans CJK JP"/>
              </a:rPr>
              <a:t>画面・領域を作る</a:t>
            </a:r>
          </a:p>
        </p:txBody>
      </p:sp>
      <p:sp>
        <p:nvSpPr>
          <p:cNvPr id="10" name="TextBox 9"/>
          <p:cNvSpPr txBox="1"/>
          <p:nvPr/>
        </p:nvSpPr>
        <p:spPr>
          <a:xfrm>
            <a:off x="1033271" y="2834639"/>
            <a:ext cx="4480560" cy="228600"/>
          </a:xfrm>
          <a:prstGeom prst="rect">
            <a:avLst/>
          </a:prstGeom>
          <a:noFill/>
        </p:spPr>
        <p:txBody>
          <a:bodyPr wrap="square">
            <a:spAutoFit/>
          </a:bodyPr>
          <a:lstStyle/>
          <a:p>
            <a:pPr algn="l"/>
            <a:r>
              <a:rPr sz="1000" b="0">
                <a:solidFill>
                  <a:srgbClr val="5B6577"/>
                </a:solidFill>
                <a:latin typeface="Noto Sans CJK JP"/>
              </a:rPr>
              <a:t>Desktop / Mobile / Dialogなど</a:t>
            </a:r>
          </a:p>
        </p:txBody>
      </p:sp>
      <p:sp>
        <p:nvSpPr>
          <p:cNvPr id="11" name="Rounded Rectangle 10"/>
          <p:cNvSpPr/>
          <p:nvPr/>
        </p:nvSpPr>
        <p:spPr>
          <a:xfrm>
            <a:off x="6309359" y="1874519"/>
            <a:ext cx="5074920" cy="1417320"/>
          </a:xfrm>
          <a:prstGeom prst="roundRect">
            <a:avLst/>
          </a:prstGeom>
          <a:solidFill>
            <a:srgbClr val="FFFFFF"/>
          </a:solidFill>
          <a:ln>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65392" y="2103120"/>
            <a:ext cx="4480560" cy="320040"/>
          </a:xfrm>
          <a:prstGeom prst="rect">
            <a:avLst/>
          </a:prstGeom>
          <a:noFill/>
        </p:spPr>
        <p:txBody>
          <a:bodyPr wrap="square">
            <a:spAutoFit/>
          </a:bodyPr>
          <a:lstStyle/>
          <a:p>
            <a:pPr algn="l"/>
            <a:r>
              <a:rPr sz="1700" b="1">
                <a:solidFill>
                  <a:srgbClr val="191F2E"/>
                </a:solidFill>
                <a:latin typeface="Noto Sans CJK JP"/>
              </a:rPr>
              <a:t>Auto Layout</a:t>
            </a:r>
          </a:p>
        </p:txBody>
      </p:sp>
      <p:sp>
        <p:nvSpPr>
          <p:cNvPr id="13" name="TextBox 12"/>
          <p:cNvSpPr txBox="1"/>
          <p:nvPr/>
        </p:nvSpPr>
        <p:spPr>
          <a:xfrm>
            <a:off x="6565392" y="2532887"/>
            <a:ext cx="4480560" cy="228600"/>
          </a:xfrm>
          <a:prstGeom prst="rect">
            <a:avLst/>
          </a:prstGeom>
          <a:noFill/>
        </p:spPr>
        <p:txBody>
          <a:bodyPr wrap="square">
            <a:spAutoFit/>
          </a:bodyPr>
          <a:lstStyle/>
          <a:p>
            <a:pPr algn="l"/>
            <a:r>
              <a:rPr sz="1100" b="1">
                <a:solidFill>
                  <a:srgbClr val="704CFF"/>
                </a:solidFill>
                <a:latin typeface="Noto Sans CJK JP"/>
              </a:rPr>
              <a:t>並び方を自動化</a:t>
            </a:r>
          </a:p>
        </p:txBody>
      </p:sp>
      <p:sp>
        <p:nvSpPr>
          <p:cNvPr id="14" name="TextBox 13"/>
          <p:cNvSpPr txBox="1"/>
          <p:nvPr/>
        </p:nvSpPr>
        <p:spPr>
          <a:xfrm>
            <a:off x="6565392" y="2834639"/>
            <a:ext cx="4480560" cy="228600"/>
          </a:xfrm>
          <a:prstGeom prst="rect">
            <a:avLst/>
          </a:prstGeom>
          <a:noFill/>
        </p:spPr>
        <p:txBody>
          <a:bodyPr wrap="square">
            <a:spAutoFit/>
          </a:bodyPr>
          <a:lstStyle/>
          <a:p>
            <a:pPr algn="l"/>
            <a:r>
              <a:rPr sz="1000" b="0">
                <a:solidFill>
                  <a:srgbClr val="5B6577"/>
                </a:solidFill>
                <a:latin typeface="Noto Sans CJK JP"/>
              </a:rPr>
              <a:t>縦・横・余白・伸縮</a:t>
            </a:r>
          </a:p>
        </p:txBody>
      </p:sp>
      <p:sp>
        <p:nvSpPr>
          <p:cNvPr id="15" name="Rounded Rectangle 14"/>
          <p:cNvSpPr/>
          <p:nvPr/>
        </p:nvSpPr>
        <p:spPr>
          <a:xfrm>
            <a:off x="777240" y="3703320"/>
            <a:ext cx="5074920" cy="1417320"/>
          </a:xfrm>
          <a:prstGeom prst="roundRect">
            <a:avLst/>
          </a:prstGeom>
          <a:solidFill>
            <a:srgbClr val="FFFFFF"/>
          </a:solidFill>
          <a:ln>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33271" y="3931920"/>
            <a:ext cx="4480560" cy="320040"/>
          </a:xfrm>
          <a:prstGeom prst="rect">
            <a:avLst/>
          </a:prstGeom>
          <a:noFill/>
        </p:spPr>
        <p:txBody>
          <a:bodyPr wrap="square">
            <a:spAutoFit/>
          </a:bodyPr>
          <a:lstStyle/>
          <a:p>
            <a:pPr algn="l"/>
            <a:r>
              <a:rPr sz="1700" b="1">
                <a:solidFill>
                  <a:srgbClr val="191F2E"/>
                </a:solidFill>
                <a:latin typeface="Noto Sans CJK JP"/>
              </a:rPr>
              <a:t>Component</a:t>
            </a:r>
          </a:p>
        </p:txBody>
      </p:sp>
      <p:sp>
        <p:nvSpPr>
          <p:cNvPr id="17" name="TextBox 16"/>
          <p:cNvSpPr txBox="1"/>
          <p:nvPr/>
        </p:nvSpPr>
        <p:spPr>
          <a:xfrm>
            <a:off x="1033271" y="4361688"/>
            <a:ext cx="4480560" cy="228600"/>
          </a:xfrm>
          <a:prstGeom prst="rect">
            <a:avLst/>
          </a:prstGeom>
          <a:noFill/>
        </p:spPr>
        <p:txBody>
          <a:bodyPr wrap="square">
            <a:spAutoFit/>
          </a:bodyPr>
          <a:lstStyle/>
          <a:p>
            <a:pPr algn="l"/>
            <a:r>
              <a:rPr sz="1100" b="1">
                <a:solidFill>
                  <a:srgbClr val="704CFF"/>
                </a:solidFill>
                <a:latin typeface="Noto Sans CJK JP"/>
              </a:rPr>
              <a:t>共通UIを再利用</a:t>
            </a:r>
          </a:p>
        </p:txBody>
      </p:sp>
      <p:sp>
        <p:nvSpPr>
          <p:cNvPr id="18" name="TextBox 17"/>
          <p:cNvSpPr txBox="1"/>
          <p:nvPr/>
        </p:nvSpPr>
        <p:spPr>
          <a:xfrm>
            <a:off x="1033271" y="4663440"/>
            <a:ext cx="4480560" cy="228600"/>
          </a:xfrm>
          <a:prstGeom prst="rect">
            <a:avLst/>
          </a:prstGeom>
          <a:noFill/>
        </p:spPr>
        <p:txBody>
          <a:bodyPr wrap="square">
            <a:spAutoFit/>
          </a:bodyPr>
          <a:lstStyle/>
          <a:p>
            <a:pPr algn="l"/>
            <a:r>
              <a:rPr sz="1000" b="0">
                <a:solidFill>
                  <a:srgbClr val="5B6577"/>
                </a:solidFill>
                <a:latin typeface="Noto Sans CJK JP"/>
              </a:rPr>
              <a:t>Button / Input / Header</a:t>
            </a:r>
          </a:p>
        </p:txBody>
      </p:sp>
      <p:sp>
        <p:nvSpPr>
          <p:cNvPr id="19" name="Rounded Rectangle 18"/>
          <p:cNvSpPr/>
          <p:nvPr/>
        </p:nvSpPr>
        <p:spPr>
          <a:xfrm>
            <a:off x="6309359" y="3703320"/>
            <a:ext cx="5074920" cy="1417320"/>
          </a:xfrm>
          <a:prstGeom prst="roundRect">
            <a:avLst/>
          </a:prstGeom>
          <a:solidFill>
            <a:srgbClr val="FFFFFF"/>
          </a:solidFill>
          <a:ln>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65392" y="3931920"/>
            <a:ext cx="4480560" cy="320040"/>
          </a:xfrm>
          <a:prstGeom prst="rect">
            <a:avLst/>
          </a:prstGeom>
          <a:noFill/>
        </p:spPr>
        <p:txBody>
          <a:bodyPr wrap="square">
            <a:spAutoFit/>
          </a:bodyPr>
          <a:lstStyle/>
          <a:p>
            <a:pPr algn="l"/>
            <a:r>
              <a:rPr sz="1700" b="1">
                <a:solidFill>
                  <a:srgbClr val="191F2E"/>
                </a:solidFill>
                <a:latin typeface="Noto Sans CJK JP"/>
              </a:rPr>
              <a:t>Prototype</a:t>
            </a:r>
          </a:p>
        </p:txBody>
      </p:sp>
      <p:sp>
        <p:nvSpPr>
          <p:cNvPr id="21" name="TextBox 20"/>
          <p:cNvSpPr txBox="1"/>
          <p:nvPr/>
        </p:nvSpPr>
        <p:spPr>
          <a:xfrm>
            <a:off x="6565392" y="4361688"/>
            <a:ext cx="4480560" cy="228600"/>
          </a:xfrm>
          <a:prstGeom prst="rect">
            <a:avLst/>
          </a:prstGeom>
          <a:noFill/>
        </p:spPr>
        <p:txBody>
          <a:bodyPr wrap="square">
            <a:spAutoFit/>
          </a:bodyPr>
          <a:lstStyle/>
          <a:p>
            <a:pPr algn="l"/>
            <a:r>
              <a:rPr sz="1100" b="1">
                <a:solidFill>
                  <a:srgbClr val="704CFF"/>
                </a:solidFill>
                <a:latin typeface="Noto Sans CJK JP"/>
              </a:rPr>
              <a:t>画面遷移を確認</a:t>
            </a:r>
          </a:p>
        </p:txBody>
      </p:sp>
      <p:sp>
        <p:nvSpPr>
          <p:cNvPr id="22" name="TextBox 21"/>
          <p:cNvSpPr txBox="1"/>
          <p:nvPr/>
        </p:nvSpPr>
        <p:spPr>
          <a:xfrm>
            <a:off x="6565392" y="4663440"/>
            <a:ext cx="4480560" cy="228600"/>
          </a:xfrm>
          <a:prstGeom prst="rect">
            <a:avLst/>
          </a:prstGeom>
          <a:noFill/>
        </p:spPr>
        <p:txBody>
          <a:bodyPr wrap="square">
            <a:spAutoFit/>
          </a:bodyPr>
          <a:lstStyle/>
          <a:p>
            <a:pPr algn="l"/>
            <a:r>
              <a:rPr sz="1000" b="0">
                <a:solidFill>
                  <a:srgbClr val="5B6577"/>
                </a:solidFill>
                <a:latin typeface="Noto Sans CJK JP"/>
              </a:rPr>
              <a:t>Click → Navigate / Overlay</a:t>
            </a:r>
          </a:p>
        </p:txBody>
      </p:sp>
      <p:sp>
        <p:nvSpPr>
          <p:cNvPr id="23" name="TextBox 22"/>
          <p:cNvSpPr txBox="1"/>
          <p:nvPr/>
        </p:nvSpPr>
        <p:spPr>
          <a:xfrm>
            <a:off x="822960" y="5806440"/>
            <a:ext cx="10607040" cy="365760"/>
          </a:xfrm>
          <a:prstGeom prst="rect">
            <a:avLst/>
          </a:prstGeom>
          <a:noFill/>
        </p:spPr>
        <p:txBody>
          <a:bodyPr wrap="square">
            <a:spAutoFit/>
          </a:bodyPr>
          <a:lstStyle/>
          <a:p>
            <a:pPr algn="ctr"/>
            <a:r>
              <a:rPr sz="1400" b="1">
                <a:solidFill>
                  <a:srgbClr val="191F2E"/>
                </a:solidFill>
                <a:latin typeface="Noto Sans CJK JP"/>
              </a:rPr>
              <a:t>この4つだけでも「Excelで作っていた画面仕様」から大きく前進できます。</a:t>
            </a:r>
          </a:p>
        </p:txBody>
      </p:sp>
      <p:sp>
        <p:nvSpPr>
          <p:cNvPr id="24" name="TextBox 23"/>
          <p:cNvSpPr txBox="1"/>
          <p:nvPr/>
        </p:nvSpPr>
        <p:spPr>
          <a:xfrm>
            <a:off x="548640" y="6510528"/>
            <a:ext cx="9601200" cy="201168"/>
          </a:xfrm>
          <a:prstGeom prst="rect">
            <a:avLst/>
          </a:prstGeom>
          <a:noFill/>
        </p:spPr>
        <p:txBody>
          <a:bodyPr wrap="square">
            <a:spAutoFit/>
          </a:bodyPr>
          <a:lstStyle/>
          <a:p>
            <a:pPr algn="l"/>
            <a:r>
              <a:rPr sz="800" b="0">
                <a:solidFill>
                  <a:srgbClr val="5B6577"/>
                </a:solidFill>
                <a:latin typeface="Noto Sans CJK JP"/>
              </a:rPr>
              <a:t>Figma勉強会｜Web開発者向け｜画面設計・プロトタイプ・AI活用</a:t>
            </a:r>
          </a:p>
        </p:txBody>
      </p:sp>
      <p:sp>
        <p:nvSpPr>
          <p:cNvPr id="25" name="TextBox 24"/>
          <p:cNvSpPr txBox="1"/>
          <p:nvPr/>
        </p:nvSpPr>
        <p:spPr>
          <a:xfrm>
            <a:off x="11155680" y="6492240"/>
            <a:ext cx="457200" cy="201168"/>
          </a:xfrm>
          <a:prstGeom prst="rect">
            <a:avLst/>
          </a:prstGeom>
          <a:noFill/>
        </p:spPr>
        <p:txBody>
          <a:bodyPr wrap="square">
            <a:spAutoFit/>
          </a:bodyPr>
          <a:lstStyle/>
          <a:p>
            <a:pPr algn="r"/>
            <a:r>
              <a:rPr sz="800" b="0">
                <a:solidFill>
                  <a:srgbClr val="5B6577"/>
                </a:solidFill>
                <a:latin typeface="Noto Sans CJK JP"/>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3200400" cy="274320"/>
          </a:xfrm>
          <a:prstGeom prst="rect">
            <a:avLst/>
          </a:prstGeom>
          <a:noFill/>
        </p:spPr>
        <p:txBody>
          <a:bodyPr wrap="square">
            <a:spAutoFit/>
          </a:bodyPr>
          <a:lstStyle/>
          <a:p>
            <a:pPr algn="l"/>
            <a:r>
              <a:rPr sz="900" b="1">
                <a:solidFill>
                  <a:srgbClr val="704CFF"/>
                </a:solidFill>
                <a:latin typeface="Noto Sans CJK JP"/>
              </a:rPr>
              <a:t>PROTOTYPE</a:t>
            </a:r>
          </a:p>
        </p:txBody>
      </p:sp>
      <p:sp>
        <p:nvSpPr>
          <p:cNvPr id="4" name="TextBox 3"/>
          <p:cNvSpPr txBox="1"/>
          <p:nvPr/>
        </p:nvSpPr>
        <p:spPr>
          <a:xfrm>
            <a:off x="548640" y="548640"/>
            <a:ext cx="10972800" cy="548640"/>
          </a:xfrm>
          <a:prstGeom prst="rect">
            <a:avLst/>
          </a:prstGeom>
          <a:noFill/>
        </p:spPr>
        <p:txBody>
          <a:bodyPr wrap="square">
            <a:spAutoFit/>
          </a:bodyPr>
          <a:lstStyle/>
          <a:p>
            <a:pPr algn="l"/>
            <a:r>
              <a:rPr sz="2600" b="1">
                <a:solidFill>
                  <a:srgbClr val="191F2E"/>
                </a:solidFill>
                <a:latin typeface="Noto Sans CJK JP"/>
              </a:rPr>
              <a:t>Prototype：画面遷移を「操作できる仕様」にする</a:t>
            </a:r>
          </a:p>
        </p:txBody>
      </p:sp>
      <p:sp>
        <p:nvSpPr>
          <p:cNvPr id="5" name="TextBox 4"/>
          <p:cNvSpPr txBox="1"/>
          <p:nvPr/>
        </p:nvSpPr>
        <p:spPr>
          <a:xfrm>
            <a:off x="566928" y="1097280"/>
            <a:ext cx="10972800" cy="457200"/>
          </a:xfrm>
          <a:prstGeom prst="rect">
            <a:avLst/>
          </a:prstGeom>
          <a:noFill/>
        </p:spPr>
        <p:txBody>
          <a:bodyPr wrap="square">
            <a:spAutoFit/>
          </a:bodyPr>
          <a:lstStyle/>
          <a:p>
            <a:pPr algn="l"/>
            <a:r>
              <a:rPr sz="1200" b="0">
                <a:solidFill>
                  <a:srgbClr val="5B6577"/>
                </a:solidFill>
                <a:latin typeface="Noto Sans CJK JP"/>
              </a:rPr>
              <a:t>ライブデモは不要。画面遷移のスクリーンショット＋完成したプロトタイプの画面を見せる</a:t>
            </a:r>
          </a:p>
        </p:txBody>
      </p:sp>
      <p:sp>
        <p:nvSpPr>
          <p:cNvPr id="6" name="Rectangle 5"/>
          <p:cNvSpPr/>
          <p:nvPr/>
        </p:nvSpPr>
        <p:spPr>
          <a:xfrm>
            <a:off x="548640" y="1572768"/>
            <a:ext cx="1051560" cy="54864"/>
          </a:xfrm>
          <a:prstGeom prst="rect">
            <a:avLst/>
          </a:prstGeom>
          <a:solidFill>
            <a:srgbClr val="704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2057400"/>
            <a:ext cx="3063240" cy="2971800"/>
          </a:xfrm>
          <a:prstGeom prst="roundRect">
            <a:avLst/>
          </a:prstGeom>
          <a:solidFill>
            <a:srgbClr val="FFFFFF"/>
          </a:solidFill>
          <a:ln>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051560" y="2423160"/>
            <a:ext cx="2423160" cy="384048"/>
          </a:xfrm>
          <a:prstGeom prst="roundRect">
            <a:avLst/>
          </a:prstGeom>
          <a:solidFill>
            <a:srgbClr val="EFECFF"/>
          </a:solidFill>
          <a:ln>
            <a:solidFill>
              <a:srgbClr val="EFEC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523744"/>
            <a:ext cx="2423160" cy="164592"/>
          </a:xfrm>
          <a:prstGeom prst="rect">
            <a:avLst/>
          </a:prstGeom>
          <a:noFill/>
        </p:spPr>
        <p:txBody>
          <a:bodyPr wrap="square">
            <a:spAutoFit/>
          </a:bodyPr>
          <a:lstStyle/>
          <a:p>
            <a:pPr algn="ctr"/>
            <a:r>
              <a:rPr sz="1100" b="1">
                <a:solidFill>
                  <a:srgbClr val="191F2E"/>
                </a:solidFill>
                <a:latin typeface="Noto Sans CJK JP"/>
              </a:rPr>
              <a:t>User List</a:t>
            </a:r>
          </a:p>
        </p:txBody>
      </p:sp>
      <p:sp>
        <p:nvSpPr>
          <p:cNvPr id="10" name="Rounded Rectangle 9"/>
          <p:cNvSpPr/>
          <p:nvPr/>
        </p:nvSpPr>
        <p:spPr>
          <a:xfrm>
            <a:off x="1170432" y="3063240"/>
            <a:ext cx="2194560" cy="210312"/>
          </a:xfrm>
          <a:prstGeom prst="roundRect">
            <a:avLst/>
          </a:prstGeom>
          <a:solidFill>
            <a:srgbClr val="F5F7FA"/>
          </a:solidFill>
          <a:ln>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170432" y="3447288"/>
            <a:ext cx="2194560" cy="210312"/>
          </a:xfrm>
          <a:prstGeom prst="roundRect">
            <a:avLst/>
          </a:prstGeom>
          <a:solidFill>
            <a:srgbClr val="F5F7FA"/>
          </a:solidFill>
          <a:ln>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170432" y="3831336"/>
            <a:ext cx="2194560" cy="210312"/>
          </a:xfrm>
          <a:prstGeom prst="roundRect">
            <a:avLst/>
          </a:prstGeom>
          <a:solidFill>
            <a:srgbClr val="F5F7FA"/>
          </a:solidFill>
          <a:ln>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170432" y="4215384"/>
            <a:ext cx="2194560" cy="210312"/>
          </a:xfrm>
          <a:prstGeom prst="roundRect">
            <a:avLst/>
          </a:prstGeom>
          <a:solidFill>
            <a:srgbClr val="F5F7FA"/>
          </a:solidFill>
          <a:ln>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43000" y="4663440"/>
            <a:ext cx="2286000" cy="201168"/>
          </a:xfrm>
          <a:prstGeom prst="rect">
            <a:avLst/>
          </a:prstGeom>
          <a:noFill/>
        </p:spPr>
        <p:txBody>
          <a:bodyPr wrap="square">
            <a:spAutoFit/>
          </a:bodyPr>
          <a:lstStyle/>
          <a:p>
            <a:pPr algn="ctr"/>
            <a:r>
              <a:rPr sz="900" b="1">
                <a:solidFill>
                  <a:srgbClr val="704CFF"/>
                </a:solidFill>
                <a:latin typeface="Noto Sans CJK JP"/>
              </a:rPr>
              <a:t>Detail / Add</a:t>
            </a:r>
          </a:p>
        </p:txBody>
      </p:sp>
      <p:sp>
        <p:nvSpPr>
          <p:cNvPr id="15" name="TextBox 14"/>
          <p:cNvSpPr txBox="1"/>
          <p:nvPr/>
        </p:nvSpPr>
        <p:spPr>
          <a:xfrm>
            <a:off x="3913632" y="3401568"/>
            <a:ext cx="457200" cy="320040"/>
          </a:xfrm>
          <a:prstGeom prst="rect">
            <a:avLst/>
          </a:prstGeom>
          <a:noFill/>
        </p:spPr>
        <p:txBody>
          <a:bodyPr wrap="square">
            <a:spAutoFit/>
          </a:bodyPr>
          <a:lstStyle/>
          <a:p>
            <a:pPr algn="ctr"/>
            <a:r>
              <a:rPr sz="2200" b="1">
                <a:solidFill>
                  <a:srgbClr val="704CFF"/>
                </a:solidFill>
                <a:latin typeface="Noto Sans CJK JP"/>
              </a:rPr>
              <a:t>→</a:t>
            </a:r>
          </a:p>
        </p:txBody>
      </p:sp>
      <p:sp>
        <p:nvSpPr>
          <p:cNvPr id="16" name="Rounded Rectangle 15"/>
          <p:cNvSpPr/>
          <p:nvPr/>
        </p:nvSpPr>
        <p:spPr>
          <a:xfrm>
            <a:off x="4572000" y="2057400"/>
            <a:ext cx="3063240" cy="2971800"/>
          </a:xfrm>
          <a:prstGeom prst="roundRect">
            <a:avLst/>
          </a:prstGeom>
          <a:solidFill>
            <a:srgbClr val="FFFFFF"/>
          </a:solidFill>
          <a:ln>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892040" y="2423160"/>
            <a:ext cx="2423160" cy="384048"/>
          </a:xfrm>
          <a:prstGeom prst="roundRect">
            <a:avLst/>
          </a:prstGeom>
          <a:solidFill>
            <a:srgbClr val="EFECFF"/>
          </a:solidFill>
          <a:ln>
            <a:solidFill>
              <a:srgbClr val="EFEC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892040" y="2523744"/>
            <a:ext cx="2423160" cy="164592"/>
          </a:xfrm>
          <a:prstGeom prst="rect">
            <a:avLst/>
          </a:prstGeom>
          <a:noFill/>
        </p:spPr>
        <p:txBody>
          <a:bodyPr wrap="square">
            <a:spAutoFit/>
          </a:bodyPr>
          <a:lstStyle/>
          <a:p>
            <a:pPr algn="ctr"/>
            <a:r>
              <a:rPr sz="1100" b="1">
                <a:solidFill>
                  <a:srgbClr val="191F2E"/>
                </a:solidFill>
                <a:latin typeface="Noto Sans CJK JP"/>
              </a:rPr>
              <a:t>User Detail</a:t>
            </a:r>
          </a:p>
        </p:txBody>
      </p:sp>
      <p:sp>
        <p:nvSpPr>
          <p:cNvPr id="19" name="Rounded Rectangle 18"/>
          <p:cNvSpPr/>
          <p:nvPr/>
        </p:nvSpPr>
        <p:spPr>
          <a:xfrm>
            <a:off x="5010912" y="3063240"/>
            <a:ext cx="2194560" cy="210312"/>
          </a:xfrm>
          <a:prstGeom prst="roundRect">
            <a:avLst/>
          </a:prstGeom>
          <a:solidFill>
            <a:srgbClr val="F5F7FA"/>
          </a:solidFill>
          <a:ln>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010912" y="3447288"/>
            <a:ext cx="2194560" cy="210312"/>
          </a:xfrm>
          <a:prstGeom prst="roundRect">
            <a:avLst/>
          </a:prstGeom>
          <a:solidFill>
            <a:srgbClr val="F5F7FA"/>
          </a:solidFill>
          <a:ln>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5010912" y="3831336"/>
            <a:ext cx="2194560" cy="210312"/>
          </a:xfrm>
          <a:prstGeom prst="roundRect">
            <a:avLst/>
          </a:prstGeom>
          <a:solidFill>
            <a:srgbClr val="F5F7FA"/>
          </a:solidFill>
          <a:ln>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010912" y="4215384"/>
            <a:ext cx="2194560" cy="210312"/>
          </a:xfrm>
          <a:prstGeom prst="roundRect">
            <a:avLst/>
          </a:prstGeom>
          <a:solidFill>
            <a:srgbClr val="F5F7FA"/>
          </a:solidFill>
          <a:ln>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983480" y="4663440"/>
            <a:ext cx="2286000" cy="201168"/>
          </a:xfrm>
          <a:prstGeom prst="rect">
            <a:avLst/>
          </a:prstGeom>
          <a:noFill/>
        </p:spPr>
        <p:txBody>
          <a:bodyPr wrap="square">
            <a:spAutoFit/>
          </a:bodyPr>
          <a:lstStyle/>
          <a:p>
            <a:pPr algn="ctr"/>
            <a:r>
              <a:rPr sz="900" b="1">
                <a:solidFill>
                  <a:srgbClr val="704CFF"/>
                </a:solidFill>
                <a:latin typeface="Noto Sans CJK JP"/>
              </a:rPr>
              <a:t>Back / Edit</a:t>
            </a:r>
          </a:p>
        </p:txBody>
      </p:sp>
      <p:sp>
        <p:nvSpPr>
          <p:cNvPr id="24" name="TextBox 23"/>
          <p:cNvSpPr txBox="1"/>
          <p:nvPr/>
        </p:nvSpPr>
        <p:spPr>
          <a:xfrm>
            <a:off x="7754112" y="3401568"/>
            <a:ext cx="457200" cy="320040"/>
          </a:xfrm>
          <a:prstGeom prst="rect">
            <a:avLst/>
          </a:prstGeom>
          <a:noFill/>
        </p:spPr>
        <p:txBody>
          <a:bodyPr wrap="square">
            <a:spAutoFit/>
          </a:bodyPr>
          <a:lstStyle/>
          <a:p>
            <a:pPr algn="ctr"/>
            <a:r>
              <a:rPr sz="2200" b="1">
                <a:solidFill>
                  <a:srgbClr val="704CFF"/>
                </a:solidFill>
                <a:latin typeface="Noto Sans CJK JP"/>
              </a:rPr>
              <a:t>→</a:t>
            </a:r>
          </a:p>
        </p:txBody>
      </p:sp>
      <p:sp>
        <p:nvSpPr>
          <p:cNvPr id="25" name="Rounded Rectangle 24"/>
          <p:cNvSpPr/>
          <p:nvPr/>
        </p:nvSpPr>
        <p:spPr>
          <a:xfrm>
            <a:off x="8412480" y="2057400"/>
            <a:ext cx="3063240" cy="2971800"/>
          </a:xfrm>
          <a:prstGeom prst="roundRect">
            <a:avLst/>
          </a:prstGeom>
          <a:solidFill>
            <a:srgbClr val="FFFFFF"/>
          </a:solidFill>
          <a:ln>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8732520" y="2423160"/>
            <a:ext cx="2423160" cy="384048"/>
          </a:xfrm>
          <a:prstGeom prst="roundRect">
            <a:avLst/>
          </a:prstGeom>
          <a:solidFill>
            <a:srgbClr val="EFECFF"/>
          </a:solidFill>
          <a:ln>
            <a:solidFill>
              <a:srgbClr val="EFEC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32520" y="2523744"/>
            <a:ext cx="2423160" cy="164592"/>
          </a:xfrm>
          <a:prstGeom prst="rect">
            <a:avLst/>
          </a:prstGeom>
          <a:noFill/>
        </p:spPr>
        <p:txBody>
          <a:bodyPr wrap="square">
            <a:spAutoFit/>
          </a:bodyPr>
          <a:lstStyle/>
          <a:p>
            <a:pPr algn="ctr"/>
            <a:r>
              <a:rPr sz="1100" b="1">
                <a:solidFill>
                  <a:srgbClr val="191F2E"/>
                </a:solidFill>
                <a:latin typeface="Noto Sans CJK JP"/>
              </a:rPr>
              <a:t>Add User</a:t>
            </a:r>
          </a:p>
        </p:txBody>
      </p:sp>
      <p:sp>
        <p:nvSpPr>
          <p:cNvPr id="28" name="Rounded Rectangle 27"/>
          <p:cNvSpPr/>
          <p:nvPr/>
        </p:nvSpPr>
        <p:spPr>
          <a:xfrm>
            <a:off x="8851392" y="3063240"/>
            <a:ext cx="2194560" cy="210312"/>
          </a:xfrm>
          <a:prstGeom prst="roundRect">
            <a:avLst/>
          </a:prstGeom>
          <a:solidFill>
            <a:srgbClr val="F5F7FA"/>
          </a:solidFill>
          <a:ln>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8851392" y="3447288"/>
            <a:ext cx="2194560" cy="210312"/>
          </a:xfrm>
          <a:prstGeom prst="roundRect">
            <a:avLst/>
          </a:prstGeom>
          <a:solidFill>
            <a:srgbClr val="F5F7FA"/>
          </a:solidFill>
          <a:ln>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8851392" y="3831336"/>
            <a:ext cx="2194560" cy="210312"/>
          </a:xfrm>
          <a:prstGeom prst="roundRect">
            <a:avLst/>
          </a:prstGeom>
          <a:solidFill>
            <a:srgbClr val="F5F7FA"/>
          </a:solidFill>
          <a:ln>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851392" y="4215384"/>
            <a:ext cx="2194560" cy="210312"/>
          </a:xfrm>
          <a:prstGeom prst="roundRect">
            <a:avLst/>
          </a:prstGeom>
          <a:solidFill>
            <a:srgbClr val="F5F7FA"/>
          </a:solidFill>
          <a:ln>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23960" y="4663440"/>
            <a:ext cx="2286000" cy="201168"/>
          </a:xfrm>
          <a:prstGeom prst="rect">
            <a:avLst/>
          </a:prstGeom>
          <a:noFill/>
        </p:spPr>
        <p:txBody>
          <a:bodyPr wrap="square">
            <a:spAutoFit/>
          </a:bodyPr>
          <a:lstStyle/>
          <a:p>
            <a:pPr algn="ctr"/>
            <a:r>
              <a:rPr sz="900" b="1">
                <a:solidFill>
                  <a:srgbClr val="704CFF"/>
                </a:solidFill>
                <a:latin typeface="Noto Sans CJK JP"/>
              </a:rPr>
              <a:t>Save / Cancel</a:t>
            </a:r>
          </a:p>
        </p:txBody>
      </p:sp>
      <p:sp>
        <p:nvSpPr>
          <p:cNvPr id="33" name="Rounded Rectangle 32"/>
          <p:cNvSpPr/>
          <p:nvPr/>
        </p:nvSpPr>
        <p:spPr>
          <a:xfrm>
            <a:off x="960120" y="5440680"/>
            <a:ext cx="10149840" cy="502920"/>
          </a:xfrm>
          <a:prstGeom prst="roundRect">
            <a:avLst/>
          </a:prstGeom>
          <a:solidFill>
            <a:srgbClr val="EFECFF"/>
          </a:solidFill>
          <a:ln>
            <a:solidFill>
              <a:srgbClr val="EFEC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188720" y="5577840"/>
            <a:ext cx="9692640" cy="228600"/>
          </a:xfrm>
          <a:prstGeom prst="rect">
            <a:avLst/>
          </a:prstGeom>
          <a:noFill/>
        </p:spPr>
        <p:txBody>
          <a:bodyPr wrap="square">
            <a:spAutoFit/>
          </a:bodyPr>
          <a:lstStyle/>
          <a:p>
            <a:pPr algn="ctr"/>
            <a:r>
              <a:rPr sz="1200" b="1">
                <a:solidFill>
                  <a:srgbClr val="704CFF"/>
                </a:solidFill>
                <a:latin typeface="Noto Sans CJK JP"/>
              </a:rPr>
              <a:t>説明するポイント：① どの要素をクリックするか　② 遷移先　③ 開発前に確認できること</a:t>
            </a:r>
          </a:p>
        </p:txBody>
      </p:sp>
      <p:sp>
        <p:nvSpPr>
          <p:cNvPr id="35" name="TextBox 34"/>
          <p:cNvSpPr txBox="1"/>
          <p:nvPr/>
        </p:nvSpPr>
        <p:spPr>
          <a:xfrm>
            <a:off x="548640" y="6510528"/>
            <a:ext cx="9601200" cy="201168"/>
          </a:xfrm>
          <a:prstGeom prst="rect">
            <a:avLst/>
          </a:prstGeom>
          <a:noFill/>
        </p:spPr>
        <p:txBody>
          <a:bodyPr wrap="square">
            <a:spAutoFit/>
          </a:bodyPr>
          <a:lstStyle/>
          <a:p>
            <a:pPr algn="l"/>
            <a:r>
              <a:rPr sz="800" b="0">
                <a:solidFill>
                  <a:srgbClr val="5B6577"/>
                </a:solidFill>
                <a:latin typeface="Noto Sans CJK JP"/>
              </a:rPr>
              <a:t>Figma勉強会｜Web開発者向け｜画面設計・プロトタイプ・AI活用</a:t>
            </a:r>
          </a:p>
        </p:txBody>
      </p:sp>
      <p:sp>
        <p:nvSpPr>
          <p:cNvPr id="36" name="TextBox 35"/>
          <p:cNvSpPr txBox="1"/>
          <p:nvPr/>
        </p:nvSpPr>
        <p:spPr>
          <a:xfrm>
            <a:off x="11155680" y="6492240"/>
            <a:ext cx="457200" cy="201168"/>
          </a:xfrm>
          <a:prstGeom prst="rect">
            <a:avLst/>
          </a:prstGeom>
          <a:noFill/>
        </p:spPr>
        <p:txBody>
          <a:bodyPr wrap="square">
            <a:spAutoFit/>
          </a:bodyPr>
          <a:lstStyle/>
          <a:p>
            <a:pPr algn="r"/>
            <a:r>
              <a:rPr sz="800" b="0">
                <a:solidFill>
                  <a:srgbClr val="5B6577"/>
                </a:solidFill>
                <a:latin typeface="Noto Sans CJK JP"/>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3200400" cy="274320"/>
          </a:xfrm>
          <a:prstGeom prst="rect">
            <a:avLst/>
          </a:prstGeom>
          <a:noFill/>
        </p:spPr>
        <p:txBody>
          <a:bodyPr wrap="square">
            <a:spAutoFit/>
          </a:bodyPr>
          <a:lstStyle/>
          <a:p>
            <a:pPr algn="l"/>
            <a:r>
              <a:rPr sz="900" b="1">
                <a:solidFill>
                  <a:srgbClr val="704CFF"/>
                </a:solidFill>
                <a:latin typeface="Noto Sans CJK JP"/>
              </a:rPr>
              <a:t>DEVELOPMENT</a:t>
            </a:r>
          </a:p>
        </p:txBody>
      </p:sp>
      <p:sp>
        <p:nvSpPr>
          <p:cNvPr id="4" name="TextBox 3"/>
          <p:cNvSpPr txBox="1"/>
          <p:nvPr/>
        </p:nvSpPr>
        <p:spPr>
          <a:xfrm>
            <a:off x="548640" y="548640"/>
            <a:ext cx="10972800" cy="548640"/>
          </a:xfrm>
          <a:prstGeom prst="rect">
            <a:avLst/>
          </a:prstGeom>
          <a:noFill/>
        </p:spPr>
        <p:txBody>
          <a:bodyPr wrap="square">
            <a:spAutoFit/>
          </a:bodyPr>
          <a:lstStyle/>
          <a:p>
            <a:pPr algn="l"/>
            <a:r>
              <a:rPr sz="2600" b="1">
                <a:solidFill>
                  <a:srgbClr val="191F2E"/>
                </a:solidFill>
                <a:latin typeface="Noto Sans CJK JP"/>
              </a:rPr>
              <a:t>開発者にとって重要：Designから実装へ</a:t>
            </a:r>
          </a:p>
        </p:txBody>
      </p:sp>
      <p:sp>
        <p:nvSpPr>
          <p:cNvPr id="5" name="TextBox 4"/>
          <p:cNvSpPr txBox="1"/>
          <p:nvPr/>
        </p:nvSpPr>
        <p:spPr>
          <a:xfrm>
            <a:off x="566928" y="1097280"/>
            <a:ext cx="10972800" cy="457200"/>
          </a:xfrm>
          <a:prstGeom prst="rect">
            <a:avLst/>
          </a:prstGeom>
          <a:noFill/>
        </p:spPr>
        <p:txBody>
          <a:bodyPr wrap="square">
            <a:spAutoFit/>
          </a:bodyPr>
          <a:lstStyle/>
          <a:p>
            <a:pPr algn="l"/>
            <a:r>
              <a:rPr sz="1200" b="0">
                <a:solidFill>
                  <a:srgbClr val="5B6577"/>
                </a:solidFill>
                <a:latin typeface="Noto Sans CJK JP"/>
              </a:rPr>
              <a:t>Figmaは「デザイン作成」だけでなく、設計・レビュー・実装の接点を作る</a:t>
            </a:r>
          </a:p>
        </p:txBody>
      </p:sp>
      <p:sp>
        <p:nvSpPr>
          <p:cNvPr id="6" name="Rectangle 5"/>
          <p:cNvSpPr/>
          <p:nvPr/>
        </p:nvSpPr>
        <p:spPr>
          <a:xfrm>
            <a:off x="548640" y="1572768"/>
            <a:ext cx="1051560" cy="54864"/>
          </a:xfrm>
          <a:prstGeom prst="rect">
            <a:avLst/>
          </a:prstGeom>
          <a:solidFill>
            <a:srgbClr val="704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02920" y="2103120"/>
            <a:ext cx="1920240" cy="1325880"/>
          </a:xfrm>
          <a:prstGeom prst="roundRect">
            <a:avLst/>
          </a:prstGeom>
          <a:solidFill>
            <a:srgbClr val="FFFFFF"/>
          </a:solidFill>
          <a:ln>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2920" y="2103120"/>
            <a:ext cx="1920240" cy="109728"/>
          </a:xfrm>
          <a:prstGeom prst="roundRect">
            <a:avLst/>
          </a:prstGeom>
          <a:solidFill>
            <a:srgbClr val="704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 y="2304288"/>
            <a:ext cx="1591056" cy="320040"/>
          </a:xfrm>
          <a:prstGeom prst="rect">
            <a:avLst/>
          </a:prstGeom>
          <a:noFill/>
        </p:spPr>
        <p:txBody>
          <a:bodyPr wrap="square">
            <a:spAutoFit/>
          </a:bodyPr>
          <a:lstStyle/>
          <a:p>
            <a:pPr algn="ctr"/>
            <a:r>
              <a:rPr sz="1300" b="1">
                <a:solidFill>
                  <a:srgbClr val="191F2E"/>
                </a:solidFill>
                <a:latin typeface="Noto Sans CJK JP"/>
              </a:rPr>
              <a:t>要件</a:t>
            </a:r>
          </a:p>
        </p:txBody>
      </p:sp>
      <p:sp>
        <p:nvSpPr>
          <p:cNvPr id="10" name="TextBox 9"/>
          <p:cNvSpPr txBox="1"/>
          <p:nvPr/>
        </p:nvSpPr>
        <p:spPr>
          <a:xfrm>
            <a:off x="640080" y="2724912"/>
            <a:ext cx="1645920" cy="612647"/>
          </a:xfrm>
          <a:prstGeom prst="rect">
            <a:avLst/>
          </a:prstGeom>
          <a:noFill/>
        </p:spPr>
        <p:txBody>
          <a:bodyPr wrap="square">
            <a:spAutoFit/>
          </a:bodyPr>
          <a:lstStyle/>
          <a:p>
            <a:pPr algn="ctr"/>
            <a:r>
              <a:rPr sz="1000" b="0">
                <a:solidFill>
                  <a:srgbClr val="5B6577"/>
                </a:solidFill>
                <a:latin typeface="Noto Sans CJK JP"/>
              </a:rPr>
              <a:t>画面一覧・業務フロー</a:t>
            </a:r>
          </a:p>
        </p:txBody>
      </p:sp>
      <p:sp>
        <p:nvSpPr>
          <p:cNvPr id="11" name="TextBox 10"/>
          <p:cNvSpPr txBox="1"/>
          <p:nvPr/>
        </p:nvSpPr>
        <p:spPr>
          <a:xfrm>
            <a:off x="2441448" y="2606040"/>
            <a:ext cx="320040" cy="274320"/>
          </a:xfrm>
          <a:prstGeom prst="rect">
            <a:avLst/>
          </a:prstGeom>
          <a:noFill/>
        </p:spPr>
        <p:txBody>
          <a:bodyPr wrap="square">
            <a:spAutoFit/>
          </a:bodyPr>
          <a:lstStyle/>
          <a:p>
            <a:pPr algn="ctr"/>
            <a:r>
              <a:rPr sz="1800" b="1">
                <a:solidFill>
                  <a:srgbClr val="704CFF"/>
                </a:solidFill>
                <a:latin typeface="Noto Sans CJK JP"/>
              </a:rPr>
              <a:t>→</a:t>
            </a:r>
          </a:p>
        </p:txBody>
      </p:sp>
      <p:sp>
        <p:nvSpPr>
          <p:cNvPr id="12" name="Rounded Rectangle 11"/>
          <p:cNvSpPr/>
          <p:nvPr/>
        </p:nvSpPr>
        <p:spPr>
          <a:xfrm>
            <a:off x="2788920" y="2103120"/>
            <a:ext cx="1920240" cy="1325880"/>
          </a:xfrm>
          <a:prstGeom prst="roundRect">
            <a:avLst/>
          </a:prstGeom>
          <a:solidFill>
            <a:srgbClr val="FFFFFF"/>
          </a:solidFill>
          <a:ln>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788920" y="2103120"/>
            <a:ext cx="1920240" cy="109728"/>
          </a:xfrm>
          <a:prstGeom prst="roundRect">
            <a:avLst/>
          </a:prstGeom>
          <a:solidFill>
            <a:srgbClr val="2AA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53512" y="2304288"/>
            <a:ext cx="1591056" cy="320040"/>
          </a:xfrm>
          <a:prstGeom prst="rect">
            <a:avLst/>
          </a:prstGeom>
          <a:noFill/>
        </p:spPr>
        <p:txBody>
          <a:bodyPr wrap="square">
            <a:spAutoFit/>
          </a:bodyPr>
          <a:lstStyle/>
          <a:p>
            <a:pPr algn="ctr"/>
            <a:r>
              <a:rPr sz="1300" b="1">
                <a:solidFill>
                  <a:srgbClr val="191F2E"/>
                </a:solidFill>
                <a:latin typeface="Noto Sans CJK JP"/>
              </a:rPr>
              <a:t>Figma Design</a:t>
            </a:r>
          </a:p>
        </p:txBody>
      </p:sp>
      <p:sp>
        <p:nvSpPr>
          <p:cNvPr id="15" name="TextBox 14"/>
          <p:cNvSpPr txBox="1"/>
          <p:nvPr/>
        </p:nvSpPr>
        <p:spPr>
          <a:xfrm>
            <a:off x="2926079" y="2724912"/>
            <a:ext cx="1645920" cy="612647"/>
          </a:xfrm>
          <a:prstGeom prst="rect">
            <a:avLst/>
          </a:prstGeom>
          <a:noFill/>
        </p:spPr>
        <p:txBody>
          <a:bodyPr wrap="square">
            <a:spAutoFit/>
          </a:bodyPr>
          <a:lstStyle/>
          <a:p>
            <a:pPr algn="ctr"/>
            <a:r>
              <a:rPr sz="1000" b="0">
                <a:solidFill>
                  <a:srgbClr val="5B6577"/>
                </a:solidFill>
                <a:latin typeface="Noto Sans CJK JP"/>
              </a:rPr>
              <a:t>画面レイアウト</a:t>
            </a:r>
          </a:p>
        </p:txBody>
      </p:sp>
      <p:sp>
        <p:nvSpPr>
          <p:cNvPr id="16" name="TextBox 15"/>
          <p:cNvSpPr txBox="1"/>
          <p:nvPr/>
        </p:nvSpPr>
        <p:spPr>
          <a:xfrm>
            <a:off x="4727448" y="2606040"/>
            <a:ext cx="320040" cy="274320"/>
          </a:xfrm>
          <a:prstGeom prst="rect">
            <a:avLst/>
          </a:prstGeom>
          <a:noFill/>
        </p:spPr>
        <p:txBody>
          <a:bodyPr wrap="square">
            <a:spAutoFit/>
          </a:bodyPr>
          <a:lstStyle/>
          <a:p>
            <a:pPr algn="ctr"/>
            <a:r>
              <a:rPr sz="1800" b="1">
                <a:solidFill>
                  <a:srgbClr val="704CFF"/>
                </a:solidFill>
                <a:latin typeface="Noto Sans CJK JP"/>
              </a:rPr>
              <a:t>→</a:t>
            </a:r>
          </a:p>
        </p:txBody>
      </p:sp>
      <p:sp>
        <p:nvSpPr>
          <p:cNvPr id="17" name="Rounded Rectangle 16"/>
          <p:cNvSpPr/>
          <p:nvPr/>
        </p:nvSpPr>
        <p:spPr>
          <a:xfrm>
            <a:off x="5074920" y="2103120"/>
            <a:ext cx="1920240" cy="1325880"/>
          </a:xfrm>
          <a:prstGeom prst="roundRect">
            <a:avLst/>
          </a:prstGeom>
          <a:solidFill>
            <a:srgbClr val="FFFFFF"/>
          </a:solidFill>
          <a:ln>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074920" y="2103120"/>
            <a:ext cx="1920240" cy="109728"/>
          </a:xfrm>
          <a:prstGeom prst="roundRect">
            <a:avLst/>
          </a:prstGeom>
          <a:solidFill>
            <a:srgbClr val="1FAB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39512" y="2304288"/>
            <a:ext cx="1591056" cy="320040"/>
          </a:xfrm>
          <a:prstGeom prst="rect">
            <a:avLst/>
          </a:prstGeom>
          <a:noFill/>
        </p:spPr>
        <p:txBody>
          <a:bodyPr wrap="square">
            <a:spAutoFit/>
          </a:bodyPr>
          <a:lstStyle/>
          <a:p>
            <a:pPr algn="ctr"/>
            <a:r>
              <a:rPr sz="1300" b="1">
                <a:solidFill>
                  <a:srgbClr val="191F2E"/>
                </a:solidFill>
                <a:latin typeface="Noto Sans CJK JP"/>
              </a:rPr>
              <a:t>Review</a:t>
            </a:r>
          </a:p>
        </p:txBody>
      </p:sp>
      <p:sp>
        <p:nvSpPr>
          <p:cNvPr id="20" name="TextBox 19"/>
          <p:cNvSpPr txBox="1"/>
          <p:nvPr/>
        </p:nvSpPr>
        <p:spPr>
          <a:xfrm>
            <a:off x="5212080" y="2724912"/>
            <a:ext cx="1645920" cy="612647"/>
          </a:xfrm>
          <a:prstGeom prst="rect">
            <a:avLst/>
          </a:prstGeom>
          <a:noFill/>
        </p:spPr>
        <p:txBody>
          <a:bodyPr wrap="square">
            <a:spAutoFit/>
          </a:bodyPr>
          <a:lstStyle/>
          <a:p>
            <a:pPr algn="ctr"/>
            <a:r>
              <a:rPr sz="1000" b="0">
                <a:solidFill>
                  <a:srgbClr val="5B6577"/>
                </a:solidFill>
                <a:latin typeface="Noto Sans CJK JP"/>
              </a:rPr>
              <a:t>コメント・認識合わせ</a:t>
            </a:r>
          </a:p>
        </p:txBody>
      </p:sp>
      <p:sp>
        <p:nvSpPr>
          <p:cNvPr id="21" name="TextBox 20"/>
          <p:cNvSpPr txBox="1"/>
          <p:nvPr/>
        </p:nvSpPr>
        <p:spPr>
          <a:xfrm>
            <a:off x="7013448" y="2606040"/>
            <a:ext cx="320040" cy="274320"/>
          </a:xfrm>
          <a:prstGeom prst="rect">
            <a:avLst/>
          </a:prstGeom>
          <a:noFill/>
        </p:spPr>
        <p:txBody>
          <a:bodyPr wrap="square">
            <a:spAutoFit/>
          </a:bodyPr>
          <a:lstStyle/>
          <a:p>
            <a:pPr algn="ctr"/>
            <a:r>
              <a:rPr sz="1800" b="1">
                <a:solidFill>
                  <a:srgbClr val="704CFF"/>
                </a:solidFill>
                <a:latin typeface="Noto Sans CJK JP"/>
              </a:rPr>
              <a:t>→</a:t>
            </a:r>
          </a:p>
        </p:txBody>
      </p:sp>
      <p:sp>
        <p:nvSpPr>
          <p:cNvPr id="22" name="Rounded Rectangle 21"/>
          <p:cNvSpPr/>
          <p:nvPr/>
        </p:nvSpPr>
        <p:spPr>
          <a:xfrm>
            <a:off x="7360920" y="2103120"/>
            <a:ext cx="1920240" cy="1325880"/>
          </a:xfrm>
          <a:prstGeom prst="roundRect">
            <a:avLst/>
          </a:prstGeom>
          <a:solidFill>
            <a:srgbClr val="FFFFFF"/>
          </a:solidFill>
          <a:ln>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360920" y="2103120"/>
            <a:ext cx="1920240" cy="109728"/>
          </a:xfrm>
          <a:prstGeom prst="roundRect">
            <a:avLst/>
          </a:prstGeom>
          <a:solidFill>
            <a:srgbClr val="F58B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25512" y="2304288"/>
            <a:ext cx="1591056" cy="320040"/>
          </a:xfrm>
          <a:prstGeom prst="rect">
            <a:avLst/>
          </a:prstGeom>
          <a:noFill/>
        </p:spPr>
        <p:txBody>
          <a:bodyPr wrap="square">
            <a:spAutoFit/>
          </a:bodyPr>
          <a:lstStyle/>
          <a:p>
            <a:pPr algn="ctr"/>
            <a:r>
              <a:rPr sz="1300" b="1">
                <a:solidFill>
                  <a:srgbClr val="191F2E"/>
                </a:solidFill>
                <a:latin typeface="Noto Sans CJK JP"/>
              </a:rPr>
              <a:t>Angular</a:t>
            </a:r>
          </a:p>
        </p:txBody>
      </p:sp>
      <p:sp>
        <p:nvSpPr>
          <p:cNvPr id="25" name="TextBox 24"/>
          <p:cNvSpPr txBox="1"/>
          <p:nvPr/>
        </p:nvSpPr>
        <p:spPr>
          <a:xfrm>
            <a:off x="7498080" y="2724912"/>
            <a:ext cx="1645920" cy="612647"/>
          </a:xfrm>
          <a:prstGeom prst="rect">
            <a:avLst/>
          </a:prstGeom>
          <a:noFill/>
        </p:spPr>
        <p:txBody>
          <a:bodyPr wrap="square">
            <a:spAutoFit/>
          </a:bodyPr>
          <a:lstStyle/>
          <a:p>
            <a:pPr algn="ctr"/>
            <a:r>
              <a:rPr sz="1000" b="0">
                <a:solidFill>
                  <a:srgbClr val="5B6577"/>
                </a:solidFill>
                <a:latin typeface="Noto Sans CJK JP"/>
              </a:rPr>
              <a:t>Component実装</a:t>
            </a:r>
          </a:p>
        </p:txBody>
      </p:sp>
      <p:sp>
        <p:nvSpPr>
          <p:cNvPr id="26" name="TextBox 25"/>
          <p:cNvSpPr txBox="1"/>
          <p:nvPr/>
        </p:nvSpPr>
        <p:spPr>
          <a:xfrm>
            <a:off x="9299448" y="2606040"/>
            <a:ext cx="320040" cy="274320"/>
          </a:xfrm>
          <a:prstGeom prst="rect">
            <a:avLst/>
          </a:prstGeom>
          <a:noFill/>
        </p:spPr>
        <p:txBody>
          <a:bodyPr wrap="square">
            <a:spAutoFit/>
          </a:bodyPr>
          <a:lstStyle/>
          <a:p>
            <a:pPr algn="ctr"/>
            <a:r>
              <a:rPr sz="1800" b="1">
                <a:solidFill>
                  <a:srgbClr val="704CFF"/>
                </a:solidFill>
                <a:latin typeface="Noto Sans CJK JP"/>
              </a:rPr>
              <a:t>→</a:t>
            </a:r>
          </a:p>
        </p:txBody>
      </p:sp>
      <p:sp>
        <p:nvSpPr>
          <p:cNvPr id="27" name="Rounded Rectangle 26"/>
          <p:cNvSpPr/>
          <p:nvPr/>
        </p:nvSpPr>
        <p:spPr>
          <a:xfrm>
            <a:off x="9646920" y="2103120"/>
            <a:ext cx="1920240" cy="1325880"/>
          </a:xfrm>
          <a:prstGeom prst="roundRect">
            <a:avLst/>
          </a:prstGeom>
          <a:solidFill>
            <a:srgbClr val="FFFFFF"/>
          </a:solidFill>
          <a:ln>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9646920" y="2103120"/>
            <a:ext cx="1920240" cy="109728"/>
          </a:xfrm>
          <a:prstGeom prst="roundRect">
            <a:avLst/>
          </a:prstGeom>
          <a:solidFill>
            <a:srgbClr val="704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811512" y="2304288"/>
            <a:ext cx="1591056" cy="320040"/>
          </a:xfrm>
          <a:prstGeom prst="rect">
            <a:avLst/>
          </a:prstGeom>
          <a:noFill/>
        </p:spPr>
        <p:txBody>
          <a:bodyPr wrap="square">
            <a:spAutoFit/>
          </a:bodyPr>
          <a:lstStyle/>
          <a:p>
            <a:pPr algn="ctr"/>
            <a:r>
              <a:rPr sz="1300" b="1">
                <a:solidFill>
                  <a:srgbClr val="191F2E"/>
                </a:solidFill>
                <a:latin typeface="Noto Sans CJK JP"/>
              </a:rPr>
              <a:t>Test</a:t>
            </a:r>
          </a:p>
        </p:txBody>
      </p:sp>
      <p:sp>
        <p:nvSpPr>
          <p:cNvPr id="30" name="TextBox 29"/>
          <p:cNvSpPr txBox="1"/>
          <p:nvPr/>
        </p:nvSpPr>
        <p:spPr>
          <a:xfrm>
            <a:off x="9784080" y="2724912"/>
            <a:ext cx="1645920" cy="612647"/>
          </a:xfrm>
          <a:prstGeom prst="rect">
            <a:avLst/>
          </a:prstGeom>
          <a:noFill/>
        </p:spPr>
        <p:txBody>
          <a:bodyPr wrap="square">
            <a:spAutoFit/>
          </a:bodyPr>
          <a:lstStyle/>
          <a:p>
            <a:pPr algn="ctr"/>
            <a:r>
              <a:rPr sz="1000" b="0">
                <a:solidFill>
                  <a:srgbClr val="5B6577"/>
                </a:solidFill>
                <a:latin typeface="Noto Sans CJK JP"/>
              </a:rPr>
              <a:t>画面確認</a:t>
            </a:r>
          </a:p>
        </p:txBody>
      </p:sp>
      <p:sp>
        <p:nvSpPr>
          <p:cNvPr id="31" name="Rounded Rectangle 30"/>
          <p:cNvSpPr/>
          <p:nvPr/>
        </p:nvSpPr>
        <p:spPr>
          <a:xfrm>
            <a:off x="868680" y="4069080"/>
            <a:ext cx="10515600" cy="1234440"/>
          </a:xfrm>
          <a:prstGeom prst="roundRect">
            <a:avLst/>
          </a:prstGeom>
          <a:solidFill>
            <a:srgbClr val="FFFFFF"/>
          </a:solidFill>
          <a:ln>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143000" y="4343400"/>
            <a:ext cx="1920240" cy="320040"/>
          </a:xfrm>
          <a:prstGeom prst="rect">
            <a:avLst/>
          </a:prstGeom>
          <a:noFill/>
        </p:spPr>
        <p:txBody>
          <a:bodyPr wrap="square">
            <a:spAutoFit/>
          </a:bodyPr>
          <a:lstStyle/>
          <a:p>
            <a:pPr algn="l"/>
            <a:r>
              <a:rPr sz="1400" b="1">
                <a:solidFill>
                  <a:srgbClr val="191F2E"/>
                </a:solidFill>
                <a:latin typeface="Noto Sans CJK JP"/>
              </a:rPr>
              <a:t>Dev Modeの位置づけ</a:t>
            </a:r>
          </a:p>
        </p:txBody>
      </p:sp>
      <p:sp>
        <p:nvSpPr>
          <p:cNvPr id="33" name="TextBox 32"/>
          <p:cNvSpPr txBox="1"/>
          <p:nvPr/>
        </p:nvSpPr>
        <p:spPr>
          <a:xfrm>
            <a:off x="3063240" y="4233672"/>
            <a:ext cx="7680960" cy="685800"/>
          </a:xfrm>
          <a:prstGeom prst="rect">
            <a:avLst/>
          </a:prstGeom>
          <a:noFill/>
        </p:spPr>
        <p:txBody>
          <a:bodyPr wrap="square">
            <a:spAutoFit/>
          </a:bodyPr>
          <a:lstStyle/>
          <a:p>
            <a:pPr algn="l"/>
            <a:r>
              <a:rPr sz="1100" b="0">
                <a:solidFill>
                  <a:srgbClr val="5B6577"/>
                </a:solidFill>
                <a:latin typeface="Noto Sans CJK JP"/>
              </a:rPr>
              <a:t>デザインの状態・注釈・変更・コードとのリンクなど、開発者向けの情報確認を支援する機能。
ただし利用可否は契約プラン・Seat・組織設定に依存するため、本社環境で確認する。</a:t>
            </a:r>
          </a:p>
        </p:txBody>
      </p:sp>
      <p:sp>
        <p:nvSpPr>
          <p:cNvPr id="34" name="TextBox 33"/>
          <p:cNvSpPr txBox="1"/>
          <p:nvPr/>
        </p:nvSpPr>
        <p:spPr>
          <a:xfrm>
            <a:off x="548640" y="6510528"/>
            <a:ext cx="9601200" cy="201168"/>
          </a:xfrm>
          <a:prstGeom prst="rect">
            <a:avLst/>
          </a:prstGeom>
          <a:noFill/>
        </p:spPr>
        <p:txBody>
          <a:bodyPr wrap="square">
            <a:spAutoFit/>
          </a:bodyPr>
          <a:lstStyle/>
          <a:p>
            <a:pPr algn="l"/>
            <a:r>
              <a:rPr sz="800" b="0">
                <a:solidFill>
                  <a:srgbClr val="5B6577"/>
                </a:solidFill>
                <a:latin typeface="Noto Sans CJK JP"/>
              </a:rPr>
              <a:t>Figma勉強会｜Web開発者向け｜画面設計・プロトタイプ・AI活用</a:t>
            </a:r>
          </a:p>
        </p:txBody>
      </p:sp>
      <p:sp>
        <p:nvSpPr>
          <p:cNvPr id="35" name="TextBox 34"/>
          <p:cNvSpPr txBox="1"/>
          <p:nvPr/>
        </p:nvSpPr>
        <p:spPr>
          <a:xfrm>
            <a:off x="11155680" y="6492240"/>
            <a:ext cx="457200" cy="201168"/>
          </a:xfrm>
          <a:prstGeom prst="rect">
            <a:avLst/>
          </a:prstGeom>
          <a:noFill/>
        </p:spPr>
        <p:txBody>
          <a:bodyPr wrap="square">
            <a:spAutoFit/>
          </a:bodyPr>
          <a:lstStyle/>
          <a:p>
            <a:pPr algn="r"/>
            <a:r>
              <a:rPr sz="800" b="0">
                <a:solidFill>
                  <a:srgbClr val="5B6577"/>
                </a:solidFill>
                <a:latin typeface="Noto Sans CJK JP"/>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3200400" cy="274320"/>
          </a:xfrm>
          <a:prstGeom prst="rect">
            <a:avLst/>
          </a:prstGeom>
          <a:noFill/>
        </p:spPr>
        <p:txBody>
          <a:bodyPr wrap="square">
            <a:spAutoFit/>
          </a:bodyPr>
          <a:lstStyle/>
          <a:p>
            <a:pPr algn="l"/>
            <a:r>
              <a:rPr sz="900" b="1">
                <a:solidFill>
                  <a:srgbClr val="704CFF"/>
                </a:solidFill>
                <a:latin typeface="Noto Sans CJK JP"/>
              </a:rPr>
              <a:t>ECOSYSTEM</a:t>
            </a:r>
          </a:p>
        </p:txBody>
      </p:sp>
      <p:sp>
        <p:nvSpPr>
          <p:cNvPr id="4" name="TextBox 3"/>
          <p:cNvSpPr txBox="1"/>
          <p:nvPr/>
        </p:nvSpPr>
        <p:spPr>
          <a:xfrm>
            <a:off x="548640" y="548640"/>
            <a:ext cx="10972800" cy="548640"/>
          </a:xfrm>
          <a:prstGeom prst="rect">
            <a:avLst/>
          </a:prstGeom>
          <a:noFill/>
        </p:spPr>
        <p:txBody>
          <a:bodyPr wrap="square">
            <a:spAutoFit/>
          </a:bodyPr>
          <a:lstStyle/>
          <a:p>
            <a:pPr algn="l"/>
            <a:r>
              <a:rPr sz="2600" b="1">
                <a:solidFill>
                  <a:srgbClr val="191F2E"/>
                </a:solidFill>
                <a:latin typeface="Noto Sans CJK JP"/>
              </a:rPr>
              <a:t>Figmaは「Designだけ」ではない</a:t>
            </a:r>
          </a:p>
        </p:txBody>
      </p:sp>
      <p:sp>
        <p:nvSpPr>
          <p:cNvPr id="5" name="TextBox 4"/>
          <p:cNvSpPr txBox="1"/>
          <p:nvPr/>
        </p:nvSpPr>
        <p:spPr>
          <a:xfrm>
            <a:off x="566928" y="1097280"/>
            <a:ext cx="10972800" cy="457200"/>
          </a:xfrm>
          <a:prstGeom prst="rect">
            <a:avLst/>
          </a:prstGeom>
          <a:noFill/>
        </p:spPr>
        <p:txBody>
          <a:bodyPr wrap="square">
            <a:spAutoFit/>
          </a:bodyPr>
          <a:lstStyle/>
          <a:p>
            <a:pPr algn="l"/>
            <a:r>
              <a:rPr sz="1200" b="0">
                <a:solidFill>
                  <a:srgbClr val="5B6577"/>
                </a:solidFill>
                <a:latin typeface="Noto Sans CJK JP"/>
              </a:rPr>
              <a:t>勉強会では全体像を知り、今後のWeb開発で使えそうな機能を選ぶ</a:t>
            </a:r>
          </a:p>
        </p:txBody>
      </p:sp>
      <p:sp>
        <p:nvSpPr>
          <p:cNvPr id="6" name="Rectangle 5"/>
          <p:cNvSpPr/>
          <p:nvPr/>
        </p:nvSpPr>
        <p:spPr>
          <a:xfrm>
            <a:off x="548640" y="1572768"/>
            <a:ext cx="1051560" cy="54864"/>
          </a:xfrm>
          <a:prstGeom prst="rect">
            <a:avLst/>
          </a:prstGeom>
          <a:solidFill>
            <a:srgbClr val="704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874519"/>
            <a:ext cx="3337560" cy="1463040"/>
          </a:xfrm>
          <a:prstGeom prst="roundRect">
            <a:avLst/>
          </a:prstGeom>
          <a:solidFill>
            <a:srgbClr val="FFFFFF"/>
          </a:solidFill>
          <a:ln>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96112" y="2075688"/>
            <a:ext cx="109728" cy="1005840"/>
          </a:xfrm>
          <a:prstGeom prst="roundRect">
            <a:avLst/>
          </a:prstGeom>
          <a:solidFill>
            <a:srgbClr val="704CFF"/>
          </a:solidFill>
          <a:ln>
            <a:solidFill>
              <a:srgbClr val="704C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88720" y="2130552"/>
            <a:ext cx="2651760" cy="320040"/>
          </a:xfrm>
          <a:prstGeom prst="rect">
            <a:avLst/>
          </a:prstGeom>
          <a:noFill/>
        </p:spPr>
        <p:txBody>
          <a:bodyPr wrap="square">
            <a:spAutoFit/>
          </a:bodyPr>
          <a:lstStyle/>
          <a:p>
            <a:pPr algn="l"/>
            <a:r>
              <a:rPr sz="1500" b="1">
                <a:solidFill>
                  <a:srgbClr val="191F2E"/>
                </a:solidFill>
                <a:latin typeface="Noto Sans CJK JP"/>
              </a:rPr>
              <a:t>Figma Design</a:t>
            </a:r>
          </a:p>
        </p:txBody>
      </p:sp>
      <p:sp>
        <p:nvSpPr>
          <p:cNvPr id="10" name="TextBox 9"/>
          <p:cNvSpPr txBox="1"/>
          <p:nvPr/>
        </p:nvSpPr>
        <p:spPr>
          <a:xfrm>
            <a:off x="1188720" y="2587752"/>
            <a:ext cx="2651760" cy="502920"/>
          </a:xfrm>
          <a:prstGeom prst="rect">
            <a:avLst/>
          </a:prstGeom>
          <a:noFill/>
        </p:spPr>
        <p:txBody>
          <a:bodyPr wrap="square">
            <a:spAutoFit/>
          </a:bodyPr>
          <a:lstStyle/>
          <a:p>
            <a:pPr algn="l"/>
            <a:r>
              <a:rPr sz="1000" b="0">
                <a:solidFill>
                  <a:srgbClr val="5B6577"/>
                </a:solidFill>
                <a:latin typeface="Noto Sans CJK JP"/>
              </a:rPr>
              <a:t>画面設計・UI・Prototype</a:t>
            </a:r>
          </a:p>
        </p:txBody>
      </p:sp>
      <p:sp>
        <p:nvSpPr>
          <p:cNvPr id="11" name="Rounded Rectangle 10"/>
          <p:cNvSpPr/>
          <p:nvPr/>
        </p:nvSpPr>
        <p:spPr>
          <a:xfrm>
            <a:off x="4526280" y="1874519"/>
            <a:ext cx="3337560" cy="1463040"/>
          </a:xfrm>
          <a:prstGeom prst="roundRect">
            <a:avLst/>
          </a:prstGeom>
          <a:solidFill>
            <a:srgbClr val="FFFFFF"/>
          </a:solidFill>
          <a:ln>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690872" y="2075688"/>
            <a:ext cx="109728" cy="1005840"/>
          </a:xfrm>
          <a:prstGeom prst="roundRect">
            <a:avLst/>
          </a:prstGeom>
          <a:solidFill>
            <a:srgbClr val="1FAB7D"/>
          </a:solidFill>
          <a:ln>
            <a:solidFill>
              <a:srgbClr val="1FAB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83480" y="2130552"/>
            <a:ext cx="2651760" cy="320040"/>
          </a:xfrm>
          <a:prstGeom prst="rect">
            <a:avLst/>
          </a:prstGeom>
          <a:noFill/>
        </p:spPr>
        <p:txBody>
          <a:bodyPr wrap="square">
            <a:spAutoFit/>
          </a:bodyPr>
          <a:lstStyle/>
          <a:p>
            <a:pPr algn="l"/>
            <a:r>
              <a:rPr sz="1500" b="1">
                <a:solidFill>
                  <a:srgbClr val="191F2E"/>
                </a:solidFill>
                <a:latin typeface="Noto Sans CJK JP"/>
              </a:rPr>
              <a:t>Figma Make</a:t>
            </a:r>
          </a:p>
        </p:txBody>
      </p:sp>
      <p:sp>
        <p:nvSpPr>
          <p:cNvPr id="14" name="TextBox 13"/>
          <p:cNvSpPr txBox="1"/>
          <p:nvPr/>
        </p:nvSpPr>
        <p:spPr>
          <a:xfrm>
            <a:off x="4983480" y="2587752"/>
            <a:ext cx="2651760" cy="502920"/>
          </a:xfrm>
          <a:prstGeom prst="rect">
            <a:avLst/>
          </a:prstGeom>
          <a:noFill/>
        </p:spPr>
        <p:txBody>
          <a:bodyPr wrap="square">
            <a:spAutoFit/>
          </a:bodyPr>
          <a:lstStyle/>
          <a:p>
            <a:pPr algn="l"/>
            <a:r>
              <a:rPr sz="1000" b="0">
                <a:solidFill>
                  <a:srgbClr val="5B6577"/>
                </a:solidFill>
                <a:latin typeface="Noto Sans CJK JP"/>
              </a:rPr>
              <a:t>AIでアプリ/試作を生成・反復</a:t>
            </a:r>
          </a:p>
        </p:txBody>
      </p:sp>
      <p:sp>
        <p:nvSpPr>
          <p:cNvPr id="15" name="Rounded Rectangle 14"/>
          <p:cNvSpPr/>
          <p:nvPr/>
        </p:nvSpPr>
        <p:spPr>
          <a:xfrm>
            <a:off x="8321040" y="1874519"/>
            <a:ext cx="3337560" cy="1463040"/>
          </a:xfrm>
          <a:prstGeom prst="roundRect">
            <a:avLst/>
          </a:prstGeom>
          <a:solidFill>
            <a:srgbClr val="FFFFFF"/>
          </a:solidFill>
          <a:ln>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485632" y="2075688"/>
            <a:ext cx="109728" cy="1005840"/>
          </a:xfrm>
          <a:prstGeom prst="roundRect">
            <a:avLst/>
          </a:prstGeom>
          <a:solidFill>
            <a:srgbClr val="2AAEFF"/>
          </a:solidFill>
          <a:ln>
            <a:solidFill>
              <a:srgbClr val="2AA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778240" y="2130552"/>
            <a:ext cx="2651760" cy="320040"/>
          </a:xfrm>
          <a:prstGeom prst="rect">
            <a:avLst/>
          </a:prstGeom>
          <a:noFill/>
        </p:spPr>
        <p:txBody>
          <a:bodyPr wrap="square">
            <a:spAutoFit/>
          </a:bodyPr>
          <a:lstStyle/>
          <a:p>
            <a:pPr algn="l"/>
            <a:r>
              <a:rPr sz="1500" b="1">
                <a:solidFill>
                  <a:srgbClr val="191F2E"/>
                </a:solidFill>
                <a:latin typeface="Noto Sans CJK JP"/>
              </a:rPr>
              <a:t>Dev Mode</a:t>
            </a:r>
          </a:p>
        </p:txBody>
      </p:sp>
      <p:sp>
        <p:nvSpPr>
          <p:cNvPr id="18" name="TextBox 17"/>
          <p:cNvSpPr txBox="1"/>
          <p:nvPr/>
        </p:nvSpPr>
        <p:spPr>
          <a:xfrm>
            <a:off x="8778240" y="2587752"/>
            <a:ext cx="2651760" cy="502920"/>
          </a:xfrm>
          <a:prstGeom prst="rect">
            <a:avLst/>
          </a:prstGeom>
          <a:noFill/>
        </p:spPr>
        <p:txBody>
          <a:bodyPr wrap="square">
            <a:spAutoFit/>
          </a:bodyPr>
          <a:lstStyle/>
          <a:p>
            <a:pPr algn="l"/>
            <a:r>
              <a:rPr sz="1000" b="0">
                <a:solidFill>
                  <a:srgbClr val="5B6577"/>
                </a:solidFill>
                <a:latin typeface="Noto Sans CJK JP"/>
              </a:rPr>
              <a:t>開発者向け確認・ハンドオフ</a:t>
            </a:r>
          </a:p>
        </p:txBody>
      </p:sp>
      <p:sp>
        <p:nvSpPr>
          <p:cNvPr id="19" name="Rounded Rectangle 18"/>
          <p:cNvSpPr/>
          <p:nvPr/>
        </p:nvSpPr>
        <p:spPr>
          <a:xfrm>
            <a:off x="731520" y="3794760"/>
            <a:ext cx="3337560" cy="1463040"/>
          </a:xfrm>
          <a:prstGeom prst="roundRect">
            <a:avLst/>
          </a:prstGeom>
          <a:solidFill>
            <a:srgbClr val="FFFFFF"/>
          </a:solidFill>
          <a:ln>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96112" y="3995928"/>
            <a:ext cx="109728" cy="1005840"/>
          </a:xfrm>
          <a:prstGeom prst="roundRect">
            <a:avLst/>
          </a:prstGeom>
          <a:solidFill>
            <a:srgbClr val="F58B1F"/>
          </a:solidFill>
          <a:ln>
            <a:solidFill>
              <a:srgbClr val="F58B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88720" y="4050792"/>
            <a:ext cx="2651760" cy="320040"/>
          </a:xfrm>
          <a:prstGeom prst="rect">
            <a:avLst/>
          </a:prstGeom>
          <a:noFill/>
        </p:spPr>
        <p:txBody>
          <a:bodyPr wrap="square">
            <a:spAutoFit/>
          </a:bodyPr>
          <a:lstStyle/>
          <a:p>
            <a:pPr algn="l"/>
            <a:r>
              <a:rPr sz="1500" b="1">
                <a:solidFill>
                  <a:srgbClr val="191F2E"/>
                </a:solidFill>
                <a:latin typeface="Noto Sans CJK JP"/>
              </a:rPr>
              <a:t>FigJam</a:t>
            </a:r>
          </a:p>
        </p:txBody>
      </p:sp>
      <p:sp>
        <p:nvSpPr>
          <p:cNvPr id="22" name="TextBox 21"/>
          <p:cNvSpPr txBox="1"/>
          <p:nvPr/>
        </p:nvSpPr>
        <p:spPr>
          <a:xfrm>
            <a:off x="1188720" y="4507992"/>
            <a:ext cx="2651760" cy="502920"/>
          </a:xfrm>
          <a:prstGeom prst="rect">
            <a:avLst/>
          </a:prstGeom>
          <a:noFill/>
        </p:spPr>
        <p:txBody>
          <a:bodyPr wrap="square">
            <a:spAutoFit/>
          </a:bodyPr>
          <a:lstStyle/>
          <a:p>
            <a:pPr algn="l"/>
            <a:r>
              <a:rPr sz="1000" b="0">
                <a:solidFill>
                  <a:srgbClr val="5B6577"/>
                </a:solidFill>
                <a:latin typeface="Noto Sans CJK JP"/>
              </a:rPr>
              <a:t>アイデア・フロー・ワークショップ</a:t>
            </a:r>
          </a:p>
        </p:txBody>
      </p:sp>
      <p:sp>
        <p:nvSpPr>
          <p:cNvPr id="23" name="Rounded Rectangle 22"/>
          <p:cNvSpPr/>
          <p:nvPr/>
        </p:nvSpPr>
        <p:spPr>
          <a:xfrm>
            <a:off x="4526280" y="3794760"/>
            <a:ext cx="3337560" cy="1463040"/>
          </a:xfrm>
          <a:prstGeom prst="roundRect">
            <a:avLst/>
          </a:prstGeom>
          <a:solidFill>
            <a:srgbClr val="FFFFFF"/>
          </a:solidFill>
          <a:ln>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4690872" y="3995928"/>
            <a:ext cx="109728" cy="1005840"/>
          </a:xfrm>
          <a:prstGeom prst="roundRect">
            <a:avLst/>
          </a:prstGeom>
          <a:solidFill>
            <a:srgbClr val="704CFF"/>
          </a:solidFill>
          <a:ln>
            <a:solidFill>
              <a:srgbClr val="704C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983480" y="4050792"/>
            <a:ext cx="2651760" cy="320040"/>
          </a:xfrm>
          <a:prstGeom prst="rect">
            <a:avLst/>
          </a:prstGeom>
          <a:noFill/>
        </p:spPr>
        <p:txBody>
          <a:bodyPr wrap="square">
            <a:spAutoFit/>
          </a:bodyPr>
          <a:lstStyle/>
          <a:p>
            <a:pPr algn="l"/>
            <a:r>
              <a:rPr sz="1500" b="1">
                <a:solidFill>
                  <a:srgbClr val="191F2E"/>
                </a:solidFill>
                <a:latin typeface="Noto Sans CJK JP"/>
              </a:rPr>
              <a:t>Figma Slides</a:t>
            </a:r>
          </a:p>
        </p:txBody>
      </p:sp>
      <p:sp>
        <p:nvSpPr>
          <p:cNvPr id="26" name="TextBox 25"/>
          <p:cNvSpPr txBox="1"/>
          <p:nvPr/>
        </p:nvSpPr>
        <p:spPr>
          <a:xfrm>
            <a:off x="4983480" y="4507992"/>
            <a:ext cx="2651760" cy="502920"/>
          </a:xfrm>
          <a:prstGeom prst="rect">
            <a:avLst/>
          </a:prstGeom>
          <a:noFill/>
        </p:spPr>
        <p:txBody>
          <a:bodyPr wrap="square">
            <a:spAutoFit/>
          </a:bodyPr>
          <a:lstStyle/>
          <a:p>
            <a:pPr algn="l"/>
            <a:r>
              <a:rPr sz="1000" b="0">
                <a:solidFill>
                  <a:srgbClr val="5B6577"/>
                </a:solidFill>
                <a:latin typeface="Noto Sans CJK JP"/>
              </a:rPr>
              <a:t>共同でプレゼン資料を作成</a:t>
            </a:r>
          </a:p>
        </p:txBody>
      </p:sp>
      <p:sp>
        <p:nvSpPr>
          <p:cNvPr id="27" name="Rounded Rectangle 26"/>
          <p:cNvSpPr/>
          <p:nvPr/>
        </p:nvSpPr>
        <p:spPr>
          <a:xfrm>
            <a:off x="8321040" y="3794760"/>
            <a:ext cx="3337560" cy="1463040"/>
          </a:xfrm>
          <a:prstGeom prst="roundRect">
            <a:avLst/>
          </a:prstGeom>
          <a:solidFill>
            <a:srgbClr val="FFFFFF"/>
          </a:solidFill>
          <a:ln>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8485632" y="3995928"/>
            <a:ext cx="109728" cy="1005840"/>
          </a:xfrm>
          <a:prstGeom prst="roundRect">
            <a:avLst/>
          </a:prstGeom>
          <a:solidFill>
            <a:srgbClr val="5B6577"/>
          </a:solidFill>
          <a:ln>
            <a:solidFill>
              <a:srgbClr val="5B65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778240" y="4050792"/>
            <a:ext cx="2651760" cy="320040"/>
          </a:xfrm>
          <a:prstGeom prst="rect">
            <a:avLst/>
          </a:prstGeom>
          <a:noFill/>
        </p:spPr>
        <p:txBody>
          <a:bodyPr wrap="square">
            <a:spAutoFit/>
          </a:bodyPr>
          <a:lstStyle/>
          <a:p>
            <a:pPr algn="l"/>
            <a:r>
              <a:rPr sz="1500" b="1">
                <a:solidFill>
                  <a:srgbClr val="191F2E"/>
                </a:solidFill>
                <a:latin typeface="Noto Sans CJK JP"/>
              </a:rPr>
              <a:t>Sites / Buzz 等</a:t>
            </a:r>
          </a:p>
        </p:txBody>
      </p:sp>
      <p:sp>
        <p:nvSpPr>
          <p:cNvPr id="30" name="TextBox 29"/>
          <p:cNvSpPr txBox="1"/>
          <p:nvPr/>
        </p:nvSpPr>
        <p:spPr>
          <a:xfrm>
            <a:off x="8778240" y="4507992"/>
            <a:ext cx="2651760" cy="502920"/>
          </a:xfrm>
          <a:prstGeom prst="rect">
            <a:avLst/>
          </a:prstGeom>
          <a:noFill/>
        </p:spPr>
        <p:txBody>
          <a:bodyPr wrap="square">
            <a:spAutoFit/>
          </a:bodyPr>
          <a:lstStyle/>
          <a:p>
            <a:pPr algn="l"/>
            <a:r>
              <a:rPr sz="1000" b="0">
                <a:solidFill>
                  <a:srgbClr val="5B6577"/>
                </a:solidFill>
                <a:latin typeface="Noto Sans CJK JP"/>
              </a:rPr>
              <a:t>用途に応じた周辺プロダクト</a:t>
            </a:r>
          </a:p>
        </p:txBody>
      </p:sp>
      <p:sp>
        <p:nvSpPr>
          <p:cNvPr id="31" name="TextBox 30"/>
          <p:cNvSpPr txBox="1"/>
          <p:nvPr/>
        </p:nvSpPr>
        <p:spPr>
          <a:xfrm>
            <a:off x="822960" y="5943600"/>
            <a:ext cx="10515600" cy="274320"/>
          </a:xfrm>
          <a:prstGeom prst="rect">
            <a:avLst/>
          </a:prstGeom>
          <a:noFill/>
        </p:spPr>
        <p:txBody>
          <a:bodyPr wrap="square">
            <a:spAutoFit/>
          </a:bodyPr>
          <a:lstStyle/>
          <a:p>
            <a:pPr algn="ctr"/>
            <a:r>
              <a:rPr sz="1300" b="1">
                <a:solidFill>
                  <a:srgbClr val="704CFF"/>
                </a:solidFill>
                <a:latin typeface="Noto Sans CJK JP"/>
              </a:rPr>
              <a:t>本日の重点：Design → Prototype → Make → Development という流れ</a:t>
            </a:r>
          </a:p>
        </p:txBody>
      </p:sp>
      <p:sp>
        <p:nvSpPr>
          <p:cNvPr id="32" name="TextBox 31"/>
          <p:cNvSpPr txBox="1"/>
          <p:nvPr/>
        </p:nvSpPr>
        <p:spPr>
          <a:xfrm>
            <a:off x="548640" y="6510528"/>
            <a:ext cx="9601200" cy="201168"/>
          </a:xfrm>
          <a:prstGeom prst="rect">
            <a:avLst/>
          </a:prstGeom>
          <a:noFill/>
        </p:spPr>
        <p:txBody>
          <a:bodyPr wrap="square">
            <a:spAutoFit/>
          </a:bodyPr>
          <a:lstStyle/>
          <a:p>
            <a:pPr algn="l"/>
            <a:r>
              <a:rPr sz="800" b="0">
                <a:solidFill>
                  <a:srgbClr val="5B6577"/>
                </a:solidFill>
                <a:latin typeface="Noto Sans CJK JP"/>
              </a:rPr>
              <a:t>Figma勉強会｜Web開発者向け｜画面設計・プロトタイプ・AI活用</a:t>
            </a:r>
          </a:p>
        </p:txBody>
      </p:sp>
      <p:sp>
        <p:nvSpPr>
          <p:cNvPr id="33" name="TextBox 32"/>
          <p:cNvSpPr txBox="1"/>
          <p:nvPr/>
        </p:nvSpPr>
        <p:spPr>
          <a:xfrm>
            <a:off x="11155680" y="6492240"/>
            <a:ext cx="457200" cy="201168"/>
          </a:xfrm>
          <a:prstGeom prst="rect">
            <a:avLst/>
          </a:prstGeom>
          <a:noFill/>
        </p:spPr>
        <p:txBody>
          <a:bodyPr wrap="square">
            <a:spAutoFit/>
          </a:bodyPr>
          <a:lstStyle/>
          <a:p>
            <a:pPr algn="r"/>
            <a:r>
              <a:rPr sz="800" b="0">
                <a:solidFill>
                  <a:srgbClr val="5B6577"/>
                </a:solidFill>
                <a:latin typeface="Noto Sans CJK JP"/>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3200400" cy="274320"/>
          </a:xfrm>
          <a:prstGeom prst="rect">
            <a:avLst/>
          </a:prstGeom>
          <a:noFill/>
        </p:spPr>
        <p:txBody>
          <a:bodyPr wrap="square">
            <a:spAutoFit/>
          </a:bodyPr>
          <a:lstStyle/>
          <a:p>
            <a:pPr algn="l"/>
            <a:r>
              <a:rPr sz="900" b="1">
                <a:solidFill>
                  <a:srgbClr val="704CFF"/>
                </a:solidFill>
                <a:latin typeface="Noto Sans CJK JP"/>
              </a:rPr>
              <a:t>FIGMA MAKE</a:t>
            </a:r>
          </a:p>
        </p:txBody>
      </p:sp>
      <p:sp>
        <p:nvSpPr>
          <p:cNvPr id="4" name="TextBox 3"/>
          <p:cNvSpPr txBox="1"/>
          <p:nvPr/>
        </p:nvSpPr>
        <p:spPr>
          <a:xfrm>
            <a:off x="548640" y="548640"/>
            <a:ext cx="10972800" cy="548640"/>
          </a:xfrm>
          <a:prstGeom prst="rect">
            <a:avLst/>
          </a:prstGeom>
          <a:noFill/>
        </p:spPr>
        <p:txBody>
          <a:bodyPr wrap="square">
            <a:spAutoFit/>
          </a:bodyPr>
          <a:lstStyle/>
          <a:p>
            <a:pPr algn="l"/>
            <a:r>
              <a:rPr sz="2600" b="1">
                <a:solidFill>
                  <a:srgbClr val="191F2E"/>
                </a:solidFill>
                <a:latin typeface="Noto Sans CJK JP"/>
              </a:rPr>
              <a:t>Figma Make：アイデアをAIで動く試作へ</a:t>
            </a:r>
          </a:p>
        </p:txBody>
      </p:sp>
      <p:sp>
        <p:nvSpPr>
          <p:cNvPr id="5" name="TextBox 4"/>
          <p:cNvSpPr txBox="1"/>
          <p:nvPr/>
        </p:nvSpPr>
        <p:spPr>
          <a:xfrm>
            <a:off x="566928" y="1097280"/>
            <a:ext cx="10972800" cy="457200"/>
          </a:xfrm>
          <a:prstGeom prst="rect">
            <a:avLst/>
          </a:prstGeom>
          <a:noFill/>
        </p:spPr>
        <p:txBody>
          <a:bodyPr wrap="square">
            <a:spAutoFit/>
          </a:bodyPr>
          <a:lstStyle/>
          <a:p>
            <a:pPr algn="l"/>
            <a:r>
              <a:rPr sz="1200" b="0">
                <a:solidFill>
                  <a:srgbClr val="5B6577"/>
                </a:solidFill>
                <a:latin typeface="Noto Sans CJK JP"/>
              </a:rPr>
              <a:t>自然言語のプロンプトや既存デザインを起点に、画面・ロジック・インタラクションを素早く試す</a:t>
            </a:r>
          </a:p>
        </p:txBody>
      </p:sp>
      <p:sp>
        <p:nvSpPr>
          <p:cNvPr id="6" name="Rectangle 5"/>
          <p:cNvSpPr/>
          <p:nvPr/>
        </p:nvSpPr>
        <p:spPr>
          <a:xfrm>
            <a:off x="548640" y="1572768"/>
            <a:ext cx="1051560" cy="54864"/>
          </a:xfrm>
          <a:prstGeom prst="rect">
            <a:avLst/>
          </a:prstGeom>
          <a:solidFill>
            <a:srgbClr val="704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874519"/>
            <a:ext cx="2514600" cy="1600200"/>
          </a:xfrm>
          <a:prstGeom prst="roundRect">
            <a:avLst/>
          </a:prstGeom>
          <a:solidFill>
            <a:srgbClr val="FFFFFF"/>
          </a:solidFill>
          <a:ln>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2121408"/>
            <a:ext cx="2148840" cy="320040"/>
          </a:xfrm>
          <a:prstGeom prst="rect">
            <a:avLst/>
          </a:prstGeom>
          <a:noFill/>
        </p:spPr>
        <p:txBody>
          <a:bodyPr wrap="square">
            <a:spAutoFit/>
          </a:bodyPr>
          <a:lstStyle/>
          <a:p>
            <a:pPr algn="ctr"/>
            <a:r>
              <a:rPr sz="1500" b="1">
                <a:solidFill>
                  <a:srgbClr val="704CFF"/>
                </a:solidFill>
                <a:latin typeface="Noto Sans CJK JP"/>
              </a:rPr>
              <a:t>1. Start</a:t>
            </a:r>
          </a:p>
        </p:txBody>
      </p:sp>
      <p:sp>
        <p:nvSpPr>
          <p:cNvPr id="9" name="TextBox 8"/>
          <p:cNvSpPr txBox="1"/>
          <p:nvPr/>
        </p:nvSpPr>
        <p:spPr>
          <a:xfrm>
            <a:off x="868680" y="2606040"/>
            <a:ext cx="2057400" cy="594360"/>
          </a:xfrm>
          <a:prstGeom prst="rect">
            <a:avLst/>
          </a:prstGeom>
          <a:noFill/>
        </p:spPr>
        <p:txBody>
          <a:bodyPr wrap="square">
            <a:spAutoFit/>
          </a:bodyPr>
          <a:lstStyle/>
          <a:p>
            <a:pPr algn="ctr"/>
            <a:r>
              <a:rPr sz="1000" b="0">
                <a:solidFill>
                  <a:srgbClr val="5B6577"/>
                </a:solidFill>
                <a:latin typeface="Noto Sans CJK JP"/>
              </a:rPr>
              <a:t>プロンプトまたは既存Frameから開始</a:t>
            </a:r>
          </a:p>
        </p:txBody>
      </p:sp>
      <p:sp>
        <p:nvSpPr>
          <p:cNvPr id="10" name="TextBox 9"/>
          <p:cNvSpPr txBox="1"/>
          <p:nvPr/>
        </p:nvSpPr>
        <p:spPr>
          <a:xfrm>
            <a:off x="3182111" y="2487168"/>
            <a:ext cx="256032" cy="274320"/>
          </a:xfrm>
          <a:prstGeom prst="rect">
            <a:avLst/>
          </a:prstGeom>
          <a:noFill/>
        </p:spPr>
        <p:txBody>
          <a:bodyPr wrap="square">
            <a:spAutoFit/>
          </a:bodyPr>
          <a:lstStyle/>
          <a:p>
            <a:pPr algn="ctr"/>
            <a:r>
              <a:rPr sz="1800" b="1">
                <a:solidFill>
                  <a:srgbClr val="704CFF"/>
                </a:solidFill>
                <a:latin typeface="Noto Sans CJK JP"/>
              </a:rPr>
              <a:t>→</a:t>
            </a:r>
          </a:p>
        </p:txBody>
      </p:sp>
      <p:sp>
        <p:nvSpPr>
          <p:cNvPr id="11" name="Rounded Rectangle 10"/>
          <p:cNvSpPr/>
          <p:nvPr/>
        </p:nvSpPr>
        <p:spPr>
          <a:xfrm>
            <a:off x="3520439" y="1874519"/>
            <a:ext cx="2514600" cy="1600200"/>
          </a:xfrm>
          <a:prstGeom prst="roundRect">
            <a:avLst/>
          </a:prstGeom>
          <a:solidFill>
            <a:srgbClr val="FFFFFF"/>
          </a:solidFill>
          <a:ln>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03320" y="2121408"/>
            <a:ext cx="2148840" cy="320040"/>
          </a:xfrm>
          <a:prstGeom prst="rect">
            <a:avLst/>
          </a:prstGeom>
          <a:noFill/>
        </p:spPr>
        <p:txBody>
          <a:bodyPr wrap="square">
            <a:spAutoFit/>
          </a:bodyPr>
          <a:lstStyle/>
          <a:p>
            <a:pPr algn="ctr"/>
            <a:r>
              <a:rPr sz="1500" b="1">
                <a:solidFill>
                  <a:srgbClr val="704CFF"/>
                </a:solidFill>
                <a:latin typeface="Noto Sans CJK JP"/>
              </a:rPr>
              <a:t>2. Describe</a:t>
            </a:r>
          </a:p>
        </p:txBody>
      </p:sp>
      <p:sp>
        <p:nvSpPr>
          <p:cNvPr id="13" name="TextBox 12"/>
          <p:cNvSpPr txBox="1"/>
          <p:nvPr/>
        </p:nvSpPr>
        <p:spPr>
          <a:xfrm>
            <a:off x="3749039" y="2606040"/>
            <a:ext cx="2057400" cy="594360"/>
          </a:xfrm>
          <a:prstGeom prst="rect">
            <a:avLst/>
          </a:prstGeom>
          <a:noFill/>
        </p:spPr>
        <p:txBody>
          <a:bodyPr wrap="square">
            <a:spAutoFit/>
          </a:bodyPr>
          <a:lstStyle/>
          <a:p>
            <a:pPr algn="ctr"/>
            <a:r>
              <a:rPr sz="1000" b="0">
                <a:solidFill>
                  <a:srgbClr val="5B6577"/>
                </a:solidFill>
                <a:latin typeface="Noto Sans CJK JP"/>
              </a:rPr>
              <a:t>画面・業務フロー・操作を自然言語で説明</a:t>
            </a:r>
          </a:p>
        </p:txBody>
      </p:sp>
      <p:sp>
        <p:nvSpPr>
          <p:cNvPr id="14" name="TextBox 13"/>
          <p:cNvSpPr txBox="1"/>
          <p:nvPr/>
        </p:nvSpPr>
        <p:spPr>
          <a:xfrm>
            <a:off x="6062471" y="2487168"/>
            <a:ext cx="256032" cy="274320"/>
          </a:xfrm>
          <a:prstGeom prst="rect">
            <a:avLst/>
          </a:prstGeom>
          <a:noFill/>
        </p:spPr>
        <p:txBody>
          <a:bodyPr wrap="square">
            <a:spAutoFit/>
          </a:bodyPr>
          <a:lstStyle/>
          <a:p>
            <a:pPr algn="ctr"/>
            <a:r>
              <a:rPr sz="1800" b="1">
                <a:solidFill>
                  <a:srgbClr val="704CFF"/>
                </a:solidFill>
                <a:latin typeface="Noto Sans CJK JP"/>
              </a:rPr>
              <a:t>→</a:t>
            </a:r>
          </a:p>
        </p:txBody>
      </p:sp>
      <p:sp>
        <p:nvSpPr>
          <p:cNvPr id="15" name="Rounded Rectangle 14"/>
          <p:cNvSpPr/>
          <p:nvPr/>
        </p:nvSpPr>
        <p:spPr>
          <a:xfrm>
            <a:off x="6400800" y="1874519"/>
            <a:ext cx="2514600" cy="1600200"/>
          </a:xfrm>
          <a:prstGeom prst="roundRect">
            <a:avLst/>
          </a:prstGeom>
          <a:solidFill>
            <a:srgbClr val="FFFFFF"/>
          </a:solidFill>
          <a:ln>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0" y="2121408"/>
            <a:ext cx="2148840" cy="320040"/>
          </a:xfrm>
          <a:prstGeom prst="rect">
            <a:avLst/>
          </a:prstGeom>
          <a:noFill/>
        </p:spPr>
        <p:txBody>
          <a:bodyPr wrap="square">
            <a:spAutoFit/>
          </a:bodyPr>
          <a:lstStyle/>
          <a:p>
            <a:pPr algn="ctr"/>
            <a:r>
              <a:rPr sz="1500" b="1">
                <a:solidFill>
                  <a:srgbClr val="704CFF"/>
                </a:solidFill>
                <a:latin typeface="Noto Sans CJK JP"/>
              </a:rPr>
              <a:t>3. Generate</a:t>
            </a:r>
          </a:p>
        </p:txBody>
      </p:sp>
      <p:sp>
        <p:nvSpPr>
          <p:cNvPr id="17" name="TextBox 16"/>
          <p:cNvSpPr txBox="1"/>
          <p:nvPr/>
        </p:nvSpPr>
        <p:spPr>
          <a:xfrm>
            <a:off x="6629400" y="2606040"/>
            <a:ext cx="2057400" cy="594360"/>
          </a:xfrm>
          <a:prstGeom prst="rect">
            <a:avLst/>
          </a:prstGeom>
          <a:noFill/>
        </p:spPr>
        <p:txBody>
          <a:bodyPr wrap="square">
            <a:spAutoFit/>
          </a:bodyPr>
          <a:lstStyle/>
          <a:p>
            <a:pPr algn="ctr"/>
            <a:r>
              <a:rPr sz="1000" b="0">
                <a:solidFill>
                  <a:srgbClr val="5B6577"/>
                </a:solidFill>
                <a:latin typeface="Noto Sans CJK JP"/>
              </a:rPr>
              <a:t>AIがコードに基づくインタラクティブな試作を生成</a:t>
            </a:r>
          </a:p>
        </p:txBody>
      </p:sp>
      <p:sp>
        <p:nvSpPr>
          <p:cNvPr id="18" name="TextBox 17"/>
          <p:cNvSpPr txBox="1"/>
          <p:nvPr/>
        </p:nvSpPr>
        <p:spPr>
          <a:xfrm>
            <a:off x="8942832" y="2487168"/>
            <a:ext cx="256032" cy="274320"/>
          </a:xfrm>
          <a:prstGeom prst="rect">
            <a:avLst/>
          </a:prstGeom>
          <a:noFill/>
        </p:spPr>
        <p:txBody>
          <a:bodyPr wrap="square">
            <a:spAutoFit/>
          </a:bodyPr>
          <a:lstStyle/>
          <a:p>
            <a:pPr algn="ctr"/>
            <a:r>
              <a:rPr sz="1800" b="1">
                <a:solidFill>
                  <a:srgbClr val="704CFF"/>
                </a:solidFill>
                <a:latin typeface="Noto Sans CJK JP"/>
              </a:rPr>
              <a:t>→</a:t>
            </a:r>
          </a:p>
        </p:txBody>
      </p:sp>
      <p:sp>
        <p:nvSpPr>
          <p:cNvPr id="19" name="Rounded Rectangle 18"/>
          <p:cNvSpPr/>
          <p:nvPr/>
        </p:nvSpPr>
        <p:spPr>
          <a:xfrm>
            <a:off x="9281159" y="1874519"/>
            <a:ext cx="2514600" cy="1600200"/>
          </a:xfrm>
          <a:prstGeom prst="roundRect">
            <a:avLst/>
          </a:prstGeom>
          <a:solidFill>
            <a:srgbClr val="FFFFFF"/>
          </a:solidFill>
          <a:ln>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464039" y="2121408"/>
            <a:ext cx="2148840" cy="320040"/>
          </a:xfrm>
          <a:prstGeom prst="rect">
            <a:avLst/>
          </a:prstGeom>
          <a:noFill/>
        </p:spPr>
        <p:txBody>
          <a:bodyPr wrap="square">
            <a:spAutoFit/>
          </a:bodyPr>
          <a:lstStyle/>
          <a:p>
            <a:pPr algn="ctr"/>
            <a:r>
              <a:rPr sz="1500" b="1">
                <a:solidFill>
                  <a:srgbClr val="704CFF"/>
                </a:solidFill>
                <a:latin typeface="Noto Sans CJK JP"/>
              </a:rPr>
              <a:t>4. Refine</a:t>
            </a:r>
          </a:p>
        </p:txBody>
      </p:sp>
      <p:sp>
        <p:nvSpPr>
          <p:cNvPr id="21" name="TextBox 20"/>
          <p:cNvSpPr txBox="1"/>
          <p:nvPr/>
        </p:nvSpPr>
        <p:spPr>
          <a:xfrm>
            <a:off x="9509759" y="2606040"/>
            <a:ext cx="2057400" cy="594360"/>
          </a:xfrm>
          <a:prstGeom prst="rect">
            <a:avLst/>
          </a:prstGeom>
          <a:noFill/>
        </p:spPr>
        <p:txBody>
          <a:bodyPr wrap="square">
            <a:spAutoFit/>
          </a:bodyPr>
          <a:lstStyle/>
          <a:p>
            <a:pPr algn="ctr"/>
            <a:r>
              <a:rPr sz="1000" b="0">
                <a:solidFill>
                  <a:srgbClr val="5B6577"/>
                </a:solidFill>
                <a:latin typeface="Noto Sans CJK JP"/>
              </a:rPr>
              <a:t>プロンプト・ビジュアル編集・コードで改善</a:t>
            </a:r>
          </a:p>
        </p:txBody>
      </p:sp>
      <p:sp>
        <p:nvSpPr>
          <p:cNvPr id="22" name="Rounded Rectangle 21"/>
          <p:cNvSpPr/>
          <p:nvPr/>
        </p:nvSpPr>
        <p:spPr>
          <a:xfrm>
            <a:off x="868680" y="3977639"/>
            <a:ext cx="10469880" cy="1371600"/>
          </a:xfrm>
          <a:prstGeom prst="roundRect">
            <a:avLst/>
          </a:prstGeom>
          <a:solidFill>
            <a:srgbClr val="EFECFF"/>
          </a:solidFill>
          <a:ln>
            <a:solidFill>
              <a:srgbClr val="EFEC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88720" y="4251960"/>
            <a:ext cx="9829800" cy="274320"/>
          </a:xfrm>
          <a:prstGeom prst="rect">
            <a:avLst/>
          </a:prstGeom>
          <a:noFill/>
        </p:spPr>
        <p:txBody>
          <a:bodyPr wrap="square">
            <a:spAutoFit/>
          </a:bodyPr>
          <a:lstStyle/>
          <a:p>
            <a:pPr algn="l"/>
            <a:r>
              <a:rPr sz="1500" b="1">
                <a:solidFill>
                  <a:srgbClr val="191F2E"/>
                </a:solidFill>
                <a:latin typeface="Noto Sans CJK JP"/>
              </a:rPr>
              <a:t>開発者向けの理解</a:t>
            </a:r>
          </a:p>
        </p:txBody>
      </p:sp>
      <p:sp>
        <p:nvSpPr>
          <p:cNvPr id="24" name="TextBox 23"/>
          <p:cNvSpPr txBox="1"/>
          <p:nvPr/>
        </p:nvSpPr>
        <p:spPr>
          <a:xfrm>
            <a:off x="1188720" y="4617720"/>
            <a:ext cx="9784080" cy="457200"/>
          </a:xfrm>
          <a:prstGeom prst="rect">
            <a:avLst/>
          </a:prstGeom>
          <a:noFill/>
        </p:spPr>
        <p:txBody>
          <a:bodyPr wrap="square">
            <a:spAutoFit/>
          </a:bodyPr>
          <a:lstStyle/>
          <a:p>
            <a:pPr algn="l"/>
            <a:r>
              <a:rPr sz="1100" b="0">
                <a:solidFill>
                  <a:srgbClr val="5B6577"/>
                </a:solidFill>
                <a:latin typeface="Noto Sans CJK JP"/>
              </a:rPr>
              <a:t>「デザインを描くだけ」ではなく、要件の仮説を早く動く形にしてレビューするための選択肢。
Angular実装の代替ではなく、実装前の検証・アイデア共有を高速化する用途から始めるのがおすすめ。</a:t>
            </a:r>
          </a:p>
        </p:txBody>
      </p:sp>
      <p:sp>
        <p:nvSpPr>
          <p:cNvPr id="25" name="TextBox 24"/>
          <p:cNvSpPr txBox="1"/>
          <p:nvPr/>
        </p:nvSpPr>
        <p:spPr>
          <a:xfrm>
            <a:off x="548640" y="6510528"/>
            <a:ext cx="9601200" cy="201168"/>
          </a:xfrm>
          <a:prstGeom prst="rect">
            <a:avLst/>
          </a:prstGeom>
          <a:noFill/>
        </p:spPr>
        <p:txBody>
          <a:bodyPr wrap="square">
            <a:spAutoFit/>
          </a:bodyPr>
          <a:lstStyle/>
          <a:p>
            <a:pPr algn="l"/>
            <a:r>
              <a:rPr sz="800" b="0">
                <a:solidFill>
                  <a:srgbClr val="5B6577"/>
                </a:solidFill>
                <a:latin typeface="Noto Sans CJK JP"/>
              </a:rPr>
              <a:t>Figma勉強会｜Web開発者向け｜画面設計・プロトタイプ・AI活用</a:t>
            </a:r>
          </a:p>
        </p:txBody>
      </p:sp>
      <p:sp>
        <p:nvSpPr>
          <p:cNvPr id="26" name="TextBox 25"/>
          <p:cNvSpPr txBox="1"/>
          <p:nvPr/>
        </p:nvSpPr>
        <p:spPr>
          <a:xfrm>
            <a:off x="11155680" y="6492240"/>
            <a:ext cx="457200" cy="201168"/>
          </a:xfrm>
          <a:prstGeom prst="rect">
            <a:avLst/>
          </a:prstGeom>
          <a:noFill/>
        </p:spPr>
        <p:txBody>
          <a:bodyPr wrap="square">
            <a:spAutoFit/>
          </a:bodyPr>
          <a:lstStyle/>
          <a:p>
            <a:pPr algn="r"/>
            <a:r>
              <a:rPr sz="800" b="0">
                <a:solidFill>
                  <a:srgbClr val="5B6577"/>
                </a:solidFill>
                <a:latin typeface="Noto Sans CJK JP"/>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3200400" cy="274320"/>
          </a:xfrm>
          <a:prstGeom prst="rect">
            <a:avLst/>
          </a:prstGeom>
          <a:noFill/>
        </p:spPr>
        <p:txBody>
          <a:bodyPr wrap="square">
            <a:spAutoFit/>
          </a:bodyPr>
          <a:lstStyle/>
          <a:p>
            <a:pPr algn="l"/>
            <a:r>
              <a:rPr sz="900" b="1">
                <a:solidFill>
                  <a:srgbClr val="704CFF"/>
                </a:solidFill>
                <a:latin typeface="Noto Sans CJK JP"/>
              </a:rPr>
              <a:t>PROMPT EXAMPLES</a:t>
            </a:r>
          </a:p>
        </p:txBody>
      </p:sp>
      <p:sp>
        <p:nvSpPr>
          <p:cNvPr id="4" name="TextBox 3"/>
          <p:cNvSpPr txBox="1"/>
          <p:nvPr/>
        </p:nvSpPr>
        <p:spPr>
          <a:xfrm>
            <a:off x="548640" y="548640"/>
            <a:ext cx="10972800" cy="548640"/>
          </a:xfrm>
          <a:prstGeom prst="rect">
            <a:avLst/>
          </a:prstGeom>
          <a:noFill/>
        </p:spPr>
        <p:txBody>
          <a:bodyPr wrap="square">
            <a:spAutoFit/>
          </a:bodyPr>
          <a:lstStyle/>
          <a:p>
            <a:pPr algn="l"/>
            <a:r>
              <a:rPr sz="2600" b="1">
                <a:solidFill>
                  <a:srgbClr val="191F2E"/>
                </a:solidFill>
                <a:latin typeface="Noto Sans CJK JP"/>
              </a:rPr>
              <a:t>Figma Makeで試せるプロンプト例</a:t>
            </a:r>
          </a:p>
        </p:txBody>
      </p:sp>
      <p:sp>
        <p:nvSpPr>
          <p:cNvPr id="5" name="TextBox 4"/>
          <p:cNvSpPr txBox="1"/>
          <p:nvPr/>
        </p:nvSpPr>
        <p:spPr>
          <a:xfrm>
            <a:off x="566928" y="1097280"/>
            <a:ext cx="10972800" cy="457200"/>
          </a:xfrm>
          <a:prstGeom prst="rect">
            <a:avLst/>
          </a:prstGeom>
          <a:noFill/>
        </p:spPr>
        <p:txBody>
          <a:bodyPr wrap="square">
            <a:spAutoFit/>
          </a:bodyPr>
          <a:lstStyle/>
          <a:p>
            <a:pPr algn="l"/>
            <a:r>
              <a:rPr sz="1200" b="0">
                <a:solidFill>
                  <a:srgbClr val="5B6577"/>
                </a:solidFill>
                <a:latin typeface="Noto Sans CJK JP"/>
              </a:rPr>
              <a:t>皆さんの業務Web開発に近いテーマで紹介すると理解しやすい</a:t>
            </a:r>
          </a:p>
        </p:txBody>
      </p:sp>
      <p:sp>
        <p:nvSpPr>
          <p:cNvPr id="6" name="Rectangle 5"/>
          <p:cNvSpPr/>
          <p:nvPr/>
        </p:nvSpPr>
        <p:spPr>
          <a:xfrm>
            <a:off x="548640" y="1572768"/>
            <a:ext cx="1051560" cy="54864"/>
          </a:xfrm>
          <a:prstGeom prst="rect">
            <a:avLst/>
          </a:prstGeom>
          <a:solidFill>
            <a:srgbClr val="704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68680" y="1828800"/>
            <a:ext cx="10469880" cy="868680"/>
          </a:xfrm>
          <a:prstGeom prst="roundRect">
            <a:avLst/>
          </a:prstGeom>
          <a:solidFill>
            <a:srgbClr val="FFFFFF"/>
          </a:solidFill>
          <a:ln>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43000" y="1993392"/>
            <a:ext cx="457200" cy="228600"/>
          </a:xfrm>
          <a:prstGeom prst="rect">
            <a:avLst/>
          </a:prstGeom>
          <a:noFill/>
        </p:spPr>
        <p:txBody>
          <a:bodyPr wrap="square">
            <a:spAutoFit/>
          </a:bodyPr>
          <a:lstStyle/>
          <a:p>
            <a:pPr algn="l"/>
            <a:r>
              <a:rPr sz="1400" b="1">
                <a:solidFill>
                  <a:srgbClr val="704CFF"/>
                </a:solidFill>
                <a:latin typeface="Noto Sans CJK JP"/>
              </a:rPr>
              <a:t>1</a:t>
            </a:r>
          </a:p>
        </p:txBody>
      </p:sp>
      <p:sp>
        <p:nvSpPr>
          <p:cNvPr id="9" name="TextBox 8"/>
          <p:cNvSpPr txBox="1"/>
          <p:nvPr/>
        </p:nvSpPr>
        <p:spPr>
          <a:xfrm>
            <a:off x="1600200" y="1975104"/>
            <a:ext cx="9326880" cy="502920"/>
          </a:xfrm>
          <a:prstGeom prst="rect">
            <a:avLst/>
          </a:prstGeom>
          <a:noFill/>
        </p:spPr>
        <p:txBody>
          <a:bodyPr wrap="square">
            <a:spAutoFit/>
          </a:bodyPr>
          <a:lstStyle/>
          <a:p>
            <a:pPr algn="l"/>
            <a:r>
              <a:rPr sz="1100" b="0">
                <a:solidFill>
                  <a:srgbClr val="191F2E"/>
                </a:solidFill>
                <a:latin typeface="Noto Sans CJK JP"/>
              </a:rPr>
              <a:t>社内ユーザー管理Webアプリを作成してください。ユーザー一覧、検索、詳細、登録画面を含めてください。</a:t>
            </a:r>
          </a:p>
        </p:txBody>
      </p:sp>
      <p:sp>
        <p:nvSpPr>
          <p:cNvPr id="10" name="Rounded Rectangle 9"/>
          <p:cNvSpPr/>
          <p:nvPr/>
        </p:nvSpPr>
        <p:spPr>
          <a:xfrm>
            <a:off x="868680" y="3017520"/>
            <a:ext cx="10469880" cy="868680"/>
          </a:xfrm>
          <a:prstGeom prst="roundRect">
            <a:avLst/>
          </a:prstGeom>
          <a:solidFill>
            <a:srgbClr val="FFFFFF"/>
          </a:solidFill>
          <a:ln>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3182112"/>
            <a:ext cx="457200" cy="228600"/>
          </a:xfrm>
          <a:prstGeom prst="rect">
            <a:avLst/>
          </a:prstGeom>
          <a:noFill/>
        </p:spPr>
        <p:txBody>
          <a:bodyPr wrap="square">
            <a:spAutoFit/>
          </a:bodyPr>
          <a:lstStyle/>
          <a:p>
            <a:pPr algn="l"/>
            <a:r>
              <a:rPr sz="1400" b="1">
                <a:solidFill>
                  <a:srgbClr val="704CFF"/>
                </a:solidFill>
                <a:latin typeface="Noto Sans CJK JP"/>
              </a:rPr>
              <a:t>2</a:t>
            </a:r>
          </a:p>
        </p:txBody>
      </p:sp>
      <p:sp>
        <p:nvSpPr>
          <p:cNvPr id="12" name="TextBox 11"/>
          <p:cNvSpPr txBox="1"/>
          <p:nvPr/>
        </p:nvSpPr>
        <p:spPr>
          <a:xfrm>
            <a:off x="1600200" y="3163824"/>
            <a:ext cx="9326880" cy="502920"/>
          </a:xfrm>
          <a:prstGeom prst="rect">
            <a:avLst/>
          </a:prstGeom>
          <a:noFill/>
        </p:spPr>
        <p:txBody>
          <a:bodyPr wrap="square">
            <a:spAutoFit/>
          </a:bodyPr>
          <a:lstStyle/>
          <a:p>
            <a:pPr algn="l"/>
            <a:r>
              <a:rPr sz="1100" b="0">
                <a:solidFill>
                  <a:srgbClr val="191F2E"/>
                </a:solidFill>
                <a:latin typeface="Noto Sans CJK JP"/>
              </a:rPr>
              <a:t>Angularの管理画面を想定して、左サイドメニューとヘッダーを持つレスポンシブなダッシュボードを作成してください。</a:t>
            </a:r>
          </a:p>
        </p:txBody>
      </p:sp>
      <p:sp>
        <p:nvSpPr>
          <p:cNvPr id="13" name="Rounded Rectangle 12"/>
          <p:cNvSpPr/>
          <p:nvPr/>
        </p:nvSpPr>
        <p:spPr>
          <a:xfrm>
            <a:off x="868680" y="4206240"/>
            <a:ext cx="10469880" cy="868680"/>
          </a:xfrm>
          <a:prstGeom prst="roundRect">
            <a:avLst/>
          </a:prstGeom>
          <a:solidFill>
            <a:srgbClr val="FFFFFF"/>
          </a:solidFill>
          <a:ln>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43000" y="4370831"/>
            <a:ext cx="457200" cy="228600"/>
          </a:xfrm>
          <a:prstGeom prst="rect">
            <a:avLst/>
          </a:prstGeom>
          <a:noFill/>
        </p:spPr>
        <p:txBody>
          <a:bodyPr wrap="square">
            <a:spAutoFit/>
          </a:bodyPr>
          <a:lstStyle/>
          <a:p>
            <a:pPr algn="l"/>
            <a:r>
              <a:rPr sz="1400" b="1">
                <a:solidFill>
                  <a:srgbClr val="704CFF"/>
                </a:solidFill>
                <a:latin typeface="Noto Sans CJK JP"/>
              </a:rPr>
              <a:t>3</a:t>
            </a:r>
          </a:p>
        </p:txBody>
      </p:sp>
      <p:sp>
        <p:nvSpPr>
          <p:cNvPr id="15" name="TextBox 14"/>
          <p:cNvSpPr txBox="1"/>
          <p:nvPr/>
        </p:nvSpPr>
        <p:spPr>
          <a:xfrm>
            <a:off x="1600200" y="4352544"/>
            <a:ext cx="9326880" cy="502920"/>
          </a:xfrm>
          <a:prstGeom prst="rect">
            <a:avLst/>
          </a:prstGeom>
          <a:noFill/>
        </p:spPr>
        <p:txBody>
          <a:bodyPr wrap="square">
            <a:spAutoFit/>
          </a:bodyPr>
          <a:lstStyle/>
          <a:p>
            <a:pPr algn="l"/>
            <a:r>
              <a:rPr sz="1100" b="0">
                <a:solidFill>
                  <a:srgbClr val="191F2E"/>
                </a:solidFill>
                <a:latin typeface="Noto Sans CJK JP"/>
              </a:rPr>
              <a:t>ログイン → ユーザー一覧 → 詳細 → 編集 の画面フローを作成し、ボタン操作で画面遷移できるようにしてください。</a:t>
            </a:r>
          </a:p>
        </p:txBody>
      </p:sp>
      <p:sp>
        <p:nvSpPr>
          <p:cNvPr id="16" name="TextBox 15"/>
          <p:cNvSpPr txBox="1"/>
          <p:nvPr/>
        </p:nvSpPr>
        <p:spPr>
          <a:xfrm>
            <a:off x="914400" y="5669280"/>
            <a:ext cx="10332720" cy="457200"/>
          </a:xfrm>
          <a:prstGeom prst="rect">
            <a:avLst/>
          </a:prstGeom>
          <a:noFill/>
        </p:spPr>
        <p:txBody>
          <a:bodyPr wrap="square">
            <a:spAutoFit/>
          </a:bodyPr>
          <a:lstStyle/>
          <a:p>
            <a:pPr algn="ctr"/>
            <a:r>
              <a:rPr sz="1200" b="1">
                <a:solidFill>
                  <a:srgbClr val="704CFF"/>
                </a:solidFill>
                <a:latin typeface="Noto Sans CJK JP"/>
              </a:rPr>
              <a:t>勉強会では「実際に生成する」必要はありません。プロンプト → 生成結果のスクリーンショットを並べて紹介するだけでも十分です。</a:t>
            </a:r>
          </a:p>
        </p:txBody>
      </p:sp>
      <p:sp>
        <p:nvSpPr>
          <p:cNvPr id="17" name="TextBox 16"/>
          <p:cNvSpPr txBox="1"/>
          <p:nvPr/>
        </p:nvSpPr>
        <p:spPr>
          <a:xfrm>
            <a:off x="548640" y="6510528"/>
            <a:ext cx="9601200" cy="201168"/>
          </a:xfrm>
          <a:prstGeom prst="rect">
            <a:avLst/>
          </a:prstGeom>
          <a:noFill/>
        </p:spPr>
        <p:txBody>
          <a:bodyPr wrap="square">
            <a:spAutoFit/>
          </a:bodyPr>
          <a:lstStyle/>
          <a:p>
            <a:pPr algn="l"/>
            <a:r>
              <a:rPr sz="800" b="0">
                <a:solidFill>
                  <a:srgbClr val="5B6577"/>
                </a:solidFill>
                <a:latin typeface="Noto Sans CJK JP"/>
              </a:rPr>
              <a:t>Figma勉強会｜Web開発者向け｜画面設計・プロトタイプ・AI活用</a:t>
            </a:r>
          </a:p>
        </p:txBody>
      </p:sp>
      <p:sp>
        <p:nvSpPr>
          <p:cNvPr id="18" name="TextBox 17"/>
          <p:cNvSpPr txBox="1"/>
          <p:nvPr/>
        </p:nvSpPr>
        <p:spPr>
          <a:xfrm>
            <a:off x="11155680" y="6492240"/>
            <a:ext cx="457200" cy="201168"/>
          </a:xfrm>
          <a:prstGeom prst="rect">
            <a:avLst/>
          </a:prstGeom>
          <a:noFill/>
        </p:spPr>
        <p:txBody>
          <a:bodyPr wrap="square">
            <a:spAutoFit/>
          </a:bodyPr>
          <a:lstStyle/>
          <a:p>
            <a:pPr algn="r"/>
            <a:r>
              <a:rPr sz="800" b="0">
                <a:solidFill>
                  <a:srgbClr val="5B6577"/>
                </a:solidFill>
                <a:latin typeface="Noto Sans CJK JP"/>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3200400" cy="274320"/>
          </a:xfrm>
          <a:prstGeom prst="rect">
            <a:avLst/>
          </a:prstGeom>
          <a:noFill/>
        </p:spPr>
        <p:txBody>
          <a:bodyPr wrap="square">
            <a:spAutoFit/>
          </a:bodyPr>
          <a:lstStyle/>
          <a:p>
            <a:pPr algn="l"/>
            <a:r>
              <a:rPr sz="900" b="1">
                <a:solidFill>
                  <a:srgbClr val="704CFF"/>
                </a:solidFill>
                <a:latin typeface="Noto Sans CJK JP"/>
              </a:rPr>
              <a:t>PRACTICE</a:t>
            </a:r>
          </a:p>
        </p:txBody>
      </p:sp>
      <p:sp>
        <p:nvSpPr>
          <p:cNvPr id="4" name="TextBox 3"/>
          <p:cNvSpPr txBox="1"/>
          <p:nvPr/>
        </p:nvSpPr>
        <p:spPr>
          <a:xfrm>
            <a:off x="548640" y="548640"/>
            <a:ext cx="10972800" cy="548640"/>
          </a:xfrm>
          <a:prstGeom prst="rect">
            <a:avLst/>
          </a:prstGeom>
          <a:noFill/>
        </p:spPr>
        <p:txBody>
          <a:bodyPr wrap="square">
            <a:spAutoFit/>
          </a:bodyPr>
          <a:lstStyle/>
          <a:p>
            <a:pPr algn="l"/>
            <a:r>
              <a:rPr sz="2600" b="1">
                <a:solidFill>
                  <a:srgbClr val="191F2E"/>
                </a:solidFill>
                <a:latin typeface="Noto Sans CJK JP"/>
              </a:rPr>
              <a:t>最初の案件での導入方法</a:t>
            </a:r>
          </a:p>
        </p:txBody>
      </p:sp>
      <p:sp>
        <p:nvSpPr>
          <p:cNvPr id="5" name="TextBox 4"/>
          <p:cNvSpPr txBox="1"/>
          <p:nvPr/>
        </p:nvSpPr>
        <p:spPr>
          <a:xfrm>
            <a:off x="566928" y="1097280"/>
            <a:ext cx="10972800" cy="457200"/>
          </a:xfrm>
          <a:prstGeom prst="rect">
            <a:avLst/>
          </a:prstGeom>
          <a:noFill/>
        </p:spPr>
        <p:txBody>
          <a:bodyPr wrap="square">
            <a:spAutoFit/>
          </a:bodyPr>
          <a:lstStyle/>
          <a:p>
            <a:pPr algn="l"/>
            <a:r>
              <a:rPr sz="1200" b="0">
                <a:solidFill>
                  <a:srgbClr val="5B6577"/>
                </a:solidFill>
                <a:latin typeface="Noto Sans CJK JP"/>
              </a:rPr>
              <a:t>いきなり全プロセスを変更せず、小さな画面から試す</a:t>
            </a:r>
          </a:p>
        </p:txBody>
      </p:sp>
      <p:sp>
        <p:nvSpPr>
          <p:cNvPr id="6" name="Rectangle 5"/>
          <p:cNvSpPr/>
          <p:nvPr/>
        </p:nvSpPr>
        <p:spPr>
          <a:xfrm>
            <a:off x="548640" y="1572768"/>
            <a:ext cx="1051560" cy="54864"/>
          </a:xfrm>
          <a:prstGeom prst="rect">
            <a:avLst/>
          </a:prstGeom>
          <a:solidFill>
            <a:srgbClr val="704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965960"/>
            <a:ext cx="2514600" cy="1965960"/>
          </a:xfrm>
          <a:prstGeom prst="roundRect">
            <a:avLst/>
          </a:prstGeom>
          <a:solidFill>
            <a:srgbClr val="FFFFFF"/>
          </a:solidFill>
          <a:ln>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2212848"/>
            <a:ext cx="2148840" cy="228600"/>
          </a:xfrm>
          <a:prstGeom prst="rect">
            <a:avLst/>
          </a:prstGeom>
          <a:noFill/>
        </p:spPr>
        <p:txBody>
          <a:bodyPr wrap="square">
            <a:spAutoFit/>
          </a:bodyPr>
          <a:lstStyle/>
          <a:p>
            <a:pPr algn="ctr"/>
            <a:r>
              <a:rPr sz="1000" b="1">
                <a:solidFill>
                  <a:srgbClr val="704CFF"/>
                </a:solidFill>
                <a:latin typeface="Noto Sans CJK JP"/>
              </a:rPr>
              <a:t>Phase 1</a:t>
            </a:r>
          </a:p>
        </p:txBody>
      </p:sp>
      <p:sp>
        <p:nvSpPr>
          <p:cNvPr id="9" name="TextBox 8"/>
          <p:cNvSpPr txBox="1"/>
          <p:nvPr/>
        </p:nvSpPr>
        <p:spPr>
          <a:xfrm>
            <a:off x="822959" y="2606040"/>
            <a:ext cx="2148840" cy="320040"/>
          </a:xfrm>
          <a:prstGeom prst="rect">
            <a:avLst/>
          </a:prstGeom>
          <a:noFill/>
        </p:spPr>
        <p:txBody>
          <a:bodyPr wrap="square">
            <a:spAutoFit/>
          </a:bodyPr>
          <a:lstStyle/>
          <a:p>
            <a:pPr algn="ctr"/>
            <a:r>
              <a:rPr sz="1300" b="1">
                <a:solidFill>
                  <a:srgbClr val="191F2E"/>
                </a:solidFill>
                <a:latin typeface="Noto Sans CJK JP"/>
              </a:rPr>
              <a:t>1画面をFigma化</a:t>
            </a:r>
          </a:p>
        </p:txBody>
      </p:sp>
      <p:sp>
        <p:nvSpPr>
          <p:cNvPr id="10" name="TextBox 9"/>
          <p:cNvSpPr txBox="1"/>
          <p:nvPr/>
        </p:nvSpPr>
        <p:spPr>
          <a:xfrm>
            <a:off x="868680" y="3063240"/>
            <a:ext cx="2057400" cy="502920"/>
          </a:xfrm>
          <a:prstGeom prst="rect">
            <a:avLst/>
          </a:prstGeom>
          <a:noFill/>
        </p:spPr>
        <p:txBody>
          <a:bodyPr wrap="square">
            <a:spAutoFit/>
          </a:bodyPr>
          <a:lstStyle/>
          <a:p>
            <a:pPr algn="ctr"/>
            <a:r>
              <a:rPr sz="1000" b="0">
                <a:solidFill>
                  <a:srgbClr val="5B6577"/>
                </a:solidFill>
                <a:latin typeface="Noto Sans CJK JP"/>
              </a:rPr>
              <a:t>既存Excelの画面をFigmaへ移す</a:t>
            </a:r>
          </a:p>
        </p:txBody>
      </p:sp>
      <p:sp>
        <p:nvSpPr>
          <p:cNvPr id="11" name="Rounded Rectangle 10"/>
          <p:cNvSpPr/>
          <p:nvPr/>
        </p:nvSpPr>
        <p:spPr>
          <a:xfrm>
            <a:off x="3520439" y="1965960"/>
            <a:ext cx="2514600" cy="1965960"/>
          </a:xfrm>
          <a:prstGeom prst="roundRect">
            <a:avLst/>
          </a:prstGeom>
          <a:solidFill>
            <a:srgbClr val="FFFFFF"/>
          </a:solidFill>
          <a:ln>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03320" y="2212848"/>
            <a:ext cx="2148840" cy="228600"/>
          </a:xfrm>
          <a:prstGeom prst="rect">
            <a:avLst/>
          </a:prstGeom>
          <a:noFill/>
        </p:spPr>
        <p:txBody>
          <a:bodyPr wrap="square">
            <a:spAutoFit/>
          </a:bodyPr>
          <a:lstStyle/>
          <a:p>
            <a:pPr algn="ctr"/>
            <a:r>
              <a:rPr sz="1000" b="1">
                <a:solidFill>
                  <a:srgbClr val="704CFF"/>
                </a:solidFill>
                <a:latin typeface="Noto Sans CJK JP"/>
              </a:rPr>
              <a:t>Phase 2</a:t>
            </a:r>
          </a:p>
        </p:txBody>
      </p:sp>
      <p:sp>
        <p:nvSpPr>
          <p:cNvPr id="13" name="TextBox 12"/>
          <p:cNvSpPr txBox="1"/>
          <p:nvPr/>
        </p:nvSpPr>
        <p:spPr>
          <a:xfrm>
            <a:off x="3703320" y="2606040"/>
            <a:ext cx="2148840" cy="320040"/>
          </a:xfrm>
          <a:prstGeom prst="rect">
            <a:avLst/>
          </a:prstGeom>
          <a:noFill/>
        </p:spPr>
        <p:txBody>
          <a:bodyPr wrap="square">
            <a:spAutoFit/>
          </a:bodyPr>
          <a:lstStyle/>
          <a:p>
            <a:pPr algn="ctr"/>
            <a:r>
              <a:rPr sz="1300" b="1">
                <a:solidFill>
                  <a:srgbClr val="191F2E"/>
                </a:solidFill>
                <a:latin typeface="Noto Sans CJK JP"/>
              </a:rPr>
              <a:t>3〜5画面のフロー</a:t>
            </a:r>
          </a:p>
        </p:txBody>
      </p:sp>
      <p:sp>
        <p:nvSpPr>
          <p:cNvPr id="14" name="TextBox 13"/>
          <p:cNvSpPr txBox="1"/>
          <p:nvPr/>
        </p:nvSpPr>
        <p:spPr>
          <a:xfrm>
            <a:off x="3749039" y="3063240"/>
            <a:ext cx="2057400" cy="502920"/>
          </a:xfrm>
          <a:prstGeom prst="rect">
            <a:avLst/>
          </a:prstGeom>
          <a:noFill/>
        </p:spPr>
        <p:txBody>
          <a:bodyPr wrap="square">
            <a:spAutoFit/>
          </a:bodyPr>
          <a:lstStyle/>
          <a:p>
            <a:pPr algn="ctr"/>
            <a:r>
              <a:rPr sz="1000" b="0">
                <a:solidFill>
                  <a:srgbClr val="5B6577"/>
                </a:solidFill>
                <a:latin typeface="Noto Sans CJK JP"/>
              </a:rPr>
              <a:t>Prototypeで画面遷移を確認</a:t>
            </a:r>
          </a:p>
        </p:txBody>
      </p:sp>
      <p:sp>
        <p:nvSpPr>
          <p:cNvPr id="15" name="Rounded Rectangle 14"/>
          <p:cNvSpPr/>
          <p:nvPr/>
        </p:nvSpPr>
        <p:spPr>
          <a:xfrm>
            <a:off x="6400800" y="1965960"/>
            <a:ext cx="2514600" cy="1965960"/>
          </a:xfrm>
          <a:prstGeom prst="roundRect">
            <a:avLst/>
          </a:prstGeom>
          <a:solidFill>
            <a:srgbClr val="FFFFFF"/>
          </a:solidFill>
          <a:ln>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0" y="2212848"/>
            <a:ext cx="2148840" cy="228600"/>
          </a:xfrm>
          <a:prstGeom prst="rect">
            <a:avLst/>
          </a:prstGeom>
          <a:noFill/>
        </p:spPr>
        <p:txBody>
          <a:bodyPr wrap="square">
            <a:spAutoFit/>
          </a:bodyPr>
          <a:lstStyle/>
          <a:p>
            <a:pPr algn="ctr"/>
            <a:r>
              <a:rPr sz="1000" b="1">
                <a:solidFill>
                  <a:srgbClr val="704CFF"/>
                </a:solidFill>
                <a:latin typeface="Noto Sans CJK JP"/>
              </a:rPr>
              <a:t>Phase 3</a:t>
            </a:r>
          </a:p>
        </p:txBody>
      </p:sp>
      <p:sp>
        <p:nvSpPr>
          <p:cNvPr id="17" name="TextBox 16"/>
          <p:cNvSpPr txBox="1"/>
          <p:nvPr/>
        </p:nvSpPr>
        <p:spPr>
          <a:xfrm>
            <a:off x="6583680" y="2606040"/>
            <a:ext cx="2148840" cy="320040"/>
          </a:xfrm>
          <a:prstGeom prst="rect">
            <a:avLst/>
          </a:prstGeom>
          <a:noFill/>
        </p:spPr>
        <p:txBody>
          <a:bodyPr wrap="square">
            <a:spAutoFit/>
          </a:bodyPr>
          <a:lstStyle/>
          <a:p>
            <a:pPr algn="ctr"/>
            <a:r>
              <a:rPr sz="1300" b="1">
                <a:solidFill>
                  <a:srgbClr val="191F2E"/>
                </a:solidFill>
                <a:latin typeface="Noto Sans CJK JP"/>
              </a:rPr>
              <a:t>レビューに利用</a:t>
            </a:r>
          </a:p>
        </p:txBody>
      </p:sp>
      <p:sp>
        <p:nvSpPr>
          <p:cNvPr id="18" name="TextBox 17"/>
          <p:cNvSpPr txBox="1"/>
          <p:nvPr/>
        </p:nvSpPr>
        <p:spPr>
          <a:xfrm>
            <a:off x="6629400" y="3063240"/>
            <a:ext cx="2057400" cy="502920"/>
          </a:xfrm>
          <a:prstGeom prst="rect">
            <a:avLst/>
          </a:prstGeom>
          <a:noFill/>
        </p:spPr>
        <p:txBody>
          <a:bodyPr wrap="square">
            <a:spAutoFit/>
          </a:bodyPr>
          <a:lstStyle/>
          <a:p>
            <a:pPr algn="ctr"/>
            <a:r>
              <a:rPr sz="1000" b="0">
                <a:solidFill>
                  <a:srgbClr val="5B6577"/>
                </a:solidFill>
                <a:latin typeface="Noto Sans CJK JP"/>
              </a:rPr>
              <a:t>実装前レビューの共通資料にする</a:t>
            </a:r>
          </a:p>
        </p:txBody>
      </p:sp>
      <p:sp>
        <p:nvSpPr>
          <p:cNvPr id="19" name="Rounded Rectangle 18"/>
          <p:cNvSpPr/>
          <p:nvPr/>
        </p:nvSpPr>
        <p:spPr>
          <a:xfrm>
            <a:off x="9281159" y="1965960"/>
            <a:ext cx="2514600" cy="1965960"/>
          </a:xfrm>
          <a:prstGeom prst="roundRect">
            <a:avLst/>
          </a:prstGeom>
          <a:solidFill>
            <a:srgbClr val="FFFFFF"/>
          </a:solidFill>
          <a:ln>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464039" y="2212848"/>
            <a:ext cx="2148840" cy="228600"/>
          </a:xfrm>
          <a:prstGeom prst="rect">
            <a:avLst/>
          </a:prstGeom>
          <a:noFill/>
        </p:spPr>
        <p:txBody>
          <a:bodyPr wrap="square">
            <a:spAutoFit/>
          </a:bodyPr>
          <a:lstStyle/>
          <a:p>
            <a:pPr algn="ctr"/>
            <a:r>
              <a:rPr sz="1000" b="1">
                <a:solidFill>
                  <a:srgbClr val="704CFF"/>
                </a:solidFill>
                <a:latin typeface="Noto Sans CJK JP"/>
              </a:rPr>
              <a:t>Phase 4</a:t>
            </a:r>
          </a:p>
        </p:txBody>
      </p:sp>
      <p:sp>
        <p:nvSpPr>
          <p:cNvPr id="21" name="TextBox 20"/>
          <p:cNvSpPr txBox="1"/>
          <p:nvPr/>
        </p:nvSpPr>
        <p:spPr>
          <a:xfrm>
            <a:off x="9464039" y="2606040"/>
            <a:ext cx="2148840" cy="320040"/>
          </a:xfrm>
          <a:prstGeom prst="rect">
            <a:avLst/>
          </a:prstGeom>
          <a:noFill/>
        </p:spPr>
        <p:txBody>
          <a:bodyPr wrap="square">
            <a:spAutoFit/>
          </a:bodyPr>
          <a:lstStyle/>
          <a:p>
            <a:pPr algn="ctr"/>
            <a:r>
              <a:rPr sz="1300" b="1">
                <a:solidFill>
                  <a:srgbClr val="191F2E"/>
                </a:solidFill>
                <a:latin typeface="Noto Sans CJK JP"/>
              </a:rPr>
              <a:t>AI / Dev機能</a:t>
            </a:r>
          </a:p>
        </p:txBody>
      </p:sp>
      <p:sp>
        <p:nvSpPr>
          <p:cNvPr id="22" name="TextBox 21"/>
          <p:cNvSpPr txBox="1"/>
          <p:nvPr/>
        </p:nvSpPr>
        <p:spPr>
          <a:xfrm>
            <a:off x="9509759" y="3063240"/>
            <a:ext cx="2057400" cy="502920"/>
          </a:xfrm>
          <a:prstGeom prst="rect">
            <a:avLst/>
          </a:prstGeom>
          <a:noFill/>
        </p:spPr>
        <p:txBody>
          <a:bodyPr wrap="square">
            <a:spAutoFit/>
          </a:bodyPr>
          <a:lstStyle/>
          <a:p>
            <a:pPr algn="ctr"/>
            <a:r>
              <a:rPr sz="1000" b="0">
                <a:solidFill>
                  <a:srgbClr val="5B6577"/>
                </a:solidFill>
                <a:latin typeface="Noto Sans CJK JP"/>
              </a:rPr>
              <a:t>Make・Dev Modeなどを必要に応じて試す</a:t>
            </a:r>
          </a:p>
        </p:txBody>
      </p:sp>
      <p:sp>
        <p:nvSpPr>
          <p:cNvPr id="23" name="Rounded Rectangle 22"/>
          <p:cNvSpPr/>
          <p:nvPr/>
        </p:nvSpPr>
        <p:spPr>
          <a:xfrm>
            <a:off x="914400" y="4709160"/>
            <a:ext cx="10332720" cy="822960"/>
          </a:xfrm>
          <a:prstGeom prst="roundRect">
            <a:avLst/>
          </a:prstGeom>
          <a:solidFill>
            <a:srgbClr val="EBF8F2"/>
          </a:solidFill>
          <a:ln>
            <a:solidFill>
              <a:srgbClr val="EBF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43000" y="4937760"/>
            <a:ext cx="9875520" cy="320040"/>
          </a:xfrm>
          <a:prstGeom prst="rect">
            <a:avLst/>
          </a:prstGeom>
          <a:noFill/>
        </p:spPr>
        <p:txBody>
          <a:bodyPr wrap="square">
            <a:spAutoFit/>
          </a:bodyPr>
          <a:lstStyle/>
          <a:p>
            <a:pPr algn="ctr"/>
            <a:r>
              <a:rPr sz="1400" b="1">
                <a:solidFill>
                  <a:srgbClr val="1FAB7D"/>
                </a:solidFill>
                <a:latin typeface="Noto Sans CJK JP"/>
              </a:rPr>
              <a:t>最初の成功条件：デザイン品質ではなく「開発前に画面の認識差を1つでも減らせたか」で評価する</a:t>
            </a:r>
          </a:p>
        </p:txBody>
      </p:sp>
      <p:sp>
        <p:nvSpPr>
          <p:cNvPr id="25" name="TextBox 24"/>
          <p:cNvSpPr txBox="1"/>
          <p:nvPr/>
        </p:nvSpPr>
        <p:spPr>
          <a:xfrm>
            <a:off x="548640" y="6510528"/>
            <a:ext cx="9601200" cy="201168"/>
          </a:xfrm>
          <a:prstGeom prst="rect">
            <a:avLst/>
          </a:prstGeom>
          <a:noFill/>
        </p:spPr>
        <p:txBody>
          <a:bodyPr wrap="square">
            <a:spAutoFit/>
          </a:bodyPr>
          <a:lstStyle/>
          <a:p>
            <a:pPr algn="l"/>
            <a:r>
              <a:rPr sz="800" b="0">
                <a:solidFill>
                  <a:srgbClr val="5B6577"/>
                </a:solidFill>
                <a:latin typeface="Noto Sans CJK JP"/>
              </a:rPr>
              <a:t>Figma勉強会｜Web開発者向け｜画面設計・プロトタイプ・AI活用</a:t>
            </a:r>
          </a:p>
        </p:txBody>
      </p:sp>
      <p:sp>
        <p:nvSpPr>
          <p:cNvPr id="26" name="TextBox 25"/>
          <p:cNvSpPr txBox="1"/>
          <p:nvPr/>
        </p:nvSpPr>
        <p:spPr>
          <a:xfrm>
            <a:off x="11155680" y="6492240"/>
            <a:ext cx="457200" cy="201168"/>
          </a:xfrm>
          <a:prstGeom prst="rect">
            <a:avLst/>
          </a:prstGeom>
          <a:noFill/>
        </p:spPr>
        <p:txBody>
          <a:bodyPr wrap="square">
            <a:spAutoFit/>
          </a:bodyPr>
          <a:lstStyle/>
          <a:p>
            <a:pPr algn="r"/>
            <a:r>
              <a:rPr sz="800" b="0">
                <a:solidFill>
                  <a:srgbClr val="5B6577"/>
                </a:solidFill>
                <a:latin typeface="Noto Sans CJK JP"/>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3200400" cy="274320"/>
          </a:xfrm>
          <a:prstGeom prst="rect">
            <a:avLst/>
          </a:prstGeom>
          <a:noFill/>
        </p:spPr>
        <p:txBody>
          <a:bodyPr wrap="square">
            <a:spAutoFit/>
          </a:bodyPr>
          <a:lstStyle/>
          <a:p>
            <a:pPr algn="l"/>
            <a:r>
              <a:rPr sz="900" b="1">
                <a:solidFill>
                  <a:srgbClr val="704CFF"/>
                </a:solidFill>
                <a:latin typeface="Noto Sans CJK JP"/>
              </a:rPr>
              <a:t>PLAN CHECK</a:t>
            </a:r>
          </a:p>
        </p:txBody>
      </p:sp>
      <p:sp>
        <p:nvSpPr>
          <p:cNvPr id="4" name="TextBox 3"/>
          <p:cNvSpPr txBox="1"/>
          <p:nvPr/>
        </p:nvSpPr>
        <p:spPr>
          <a:xfrm>
            <a:off x="548640" y="548640"/>
            <a:ext cx="10972800" cy="548640"/>
          </a:xfrm>
          <a:prstGeom prst="rect">
            <a:avLst/>
          </a:prstGeom>
          <a:noFill/>
        </p:spPr>
        <p:txBody>
          <a:bodyPr wrap="square">
            <a:spAutoFit/>
          </a:bodyPr>
          <a:lstStyle/>
          <a:p>
            <a:pPr algn="l"/>
            <a:r>
              <a:rPr sz="2600" b="1">
                <a:solidFill>
                  <a:srgbClr val="191F2E"/>
                </a:solidFill>
                <a:latin typeface="Noto Sans CJK JP"/>
              </a:rPr>
              <a:t>本社の無料利用環境で確認すること</a:t>
            </a:r>
          </a:p>
        </p:txBody>
      </p:sp>
      <p:sp>
        <p:nvSpPr>
          <p:cNvPr id="5" name="TextBox 4"/>
          <p:cNvSpPr txBox="1"/>
          <p:nvPr/>
        </p:nvSpPr>
        <p:spPr>
          <a:xfrm>
            <a:off x="566928" y="1097280"/>
            <a:ext cx="10972800" cy="457200"/>
          </a:xfrm>
          <a:prstGeom prst="rect">
            <a:avLst/>
          </a:prstGeom>
          <a:noFill/>
        </p:spPr>
        <p:txBody>
          <a:bodyPr wrap="square">
            <a:spAutoFit/>
          </a:bodyPr>
          <a:lstStyle/>
          <a:p>
            <a:pPr algn="l"/>
            <a:r>
              <a:rPr sz="1200" b="0">
                <a:solidFill>
                  <a:srgbClr val="5B6577"/>
                </a:solidFill>
                <a:latin typeface="Noto Sans CJK JP"/>
              </a:rPr>
              <a:t>機能はプラン・Seat・組織設定によって利用可否が異なる</a:t>
            </a:r>
          </a:p>
        </p:txBody>
      </p:sp>
      <p:sp>
        <p:nvSpPr>
          <p:cNvPr id="6" name="Rectangle 5"/>
          <p:cNvSpPr/>
          <p:nvPr/>
        </p:nvSpPr>
        <p:spPr>
          <a:xfrm>
            <a:off x="548640" y="1572768"/>
            <a:ext cx="1051560" cy="54864"/>
          </a:xfrm>
          <a:prstGeom prst="rect">
            <a:avLst/>
          </a:prstGeom>
          <a:solidFill>
            <a:srgbClr val="704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1856231"/>
            <a:ext cx="201168" cy="201168"/>
          </a:xfrm>
          <a:prstGeom prst="ellipse">
            <a:avLst/>
          </a:prstGeom>
          <a:solidFill>
            <a:srgbClr val="704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34440" y="1828800"/>
            <a:ext cx="9921240" cy="274320"/>
          </a:xfrm>
          <a:prstGeom prst="rect">
            <a:avLst/>
          </a:prstGeom>
          <a:noFill/>
        </p:spPr>
        <p:txBody>
          <a:bodyPr wrap="square">
            <a:spAutoFit/>
          </a:bodyPr>
          <a:lstStyle/>
          <a:p>
            <a:pPr algn="l"/>
            <a:r>
              <a:rPr sz="1400" b="1">
                <a:solidFill>
                  <a:srgbClr val="191F2E"/>
                </a:solidFill>
                <a:latin typeface="Noto Sans CJK JP"/>
              </a:rPr>
              <a:t>Figma Design：画面作成・Prototype・共有の基本利用範囲</a:t>
            </a:r>
          </a:p>
        </p:txBody>
      </p:sp>
      <p:sp>
        <p:nvSpPr>
          <p:cNvPr id="9" name="TextBox 8"/>
          <p:cNvSpPr txBox="1"/>
          <p:nvPr/>
        </p:nvSpPr>
        <p:spPr>
          <a:xfrm>
            <a:off x="1234440" y="2130552"/>
            <a:ext cx="9921240" cy="201168"/>
          </a:xfrm>
          <a:prstGeom prst="rect">
            <a:avLst/>
          </a:prstGeom>
          <a:noFill/>
        </p:spPr>
        <p:txBody>
          <a:bodyPr wrap="square">
            <a:spAutoFit/>
          </a:bodyPr>
          <a:lstStyle/>
          <a:p>
            <a:pPr algn="l"/>
            <a:r>
              <a:rPr sz="1100" b="0">
                <a:solidFill>
                  <a:srgbClr val="5B6577"/>
                </a:solidFill>
                <a:latin typeface="Noto Sans CJK JP"/>
              </a:rPr>
              <a:t/>
            </a:r>
          </a:p>
        </p:txBody>
      </p:sp>
      <p:sp>
        <p:nvSpPr>
          <p:cNvPr id="10" name="Oval 9"/>
          <p:cNvSpPr/>
          <p:nvPr/>
        </p:nvSpPr>
        <p:spPr>
          <a:xfrm>
            <a:off x="914400" y="2542032"/>
            <a:ext cx="201168" cy="201168"/>
          </a:xfrm>
          <a:prstGeom prst="ellipse">
            <a:avLst/>
          </a:prstGeom>
          <a:solidFill>
            <a:srgbClr val="704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34440" y="2514600"/>
            <a:ext cx="9921240" cy="274320"/>
          </a:xfrm>
          <a:prstGeom prst="rect">
            <a:avLst/>
          </a:prstGeom>
          <a:noFill/>
        </p:spPr>
        <p:txBody>
          <a:bodyPr wrap="square">
            <a:spAutoFit/>
          </a:bodyPr>
          <a:lstStyle/>
          <a:p>
            <a:pPr algn="l"/>
            <a:r>
              <a:rPr sz="1400" b="1">
                <a:solidFill>
                  <a:srgbClr val="191F2E"/>
                </a:solidFill>
                <a:latin typeface="Noto Sans CJK JP"/>
              </a:rPr>
              <a:t>Figma Make：本社アカウントで利用できるか、AI機能のポリシー</a:t>
            </a:r>
          </a:p>
        </p:txBody>
      </p:sp>
      <p:sp>
        <p:nvSpPr>
          <p:cNvPr id="12" name="TextBox 11"/>
          <p:cNvSpPr txBox="1"/>
          <p:nvPr/>
        </p:nvSpPr>
        <p:spPr>
          <a:xfrm>
            <a:off x="1234440" y="2816352"/>
            <a:ext cx="9921240" cy="201168"/>
          </a:xfrm>
          <a:prstGeom prst="rect">
            <a:avLst/>
          </a:prstGeom>
          <a:noFill/>
        </p:spPr>
        <p:txBody>
          <a:bodyPr wrap="square">
            <a:spAutoFit/>
          </a:bodyPr>
          <a:lstStyle/>
          <a:p>
            <a:pPr algn="l"/>
            <a:r>
              <a:rPr sz="1100" b="0">
                <a:solidFill>
                  <a:srgbClr val="5B6577"/>
                </a:solidFill>
                <a:latin typeface="Noto Sans CJK JP"/>
              </a:rPr>
              <a:t/>
            </a:r>
          </a:p>
        </p:txBody>
      </p:sp>
      <p:sp>
        <p:nvSpPr>
          <p:cNvPr id="13" name="Oval 12"/>
          <p:cNvSpPr/>
          <p:nvPr/>
        </p:nvSpPr>
        <p:spPr>
          <a:xfrm>
            <a:off x="914400" y="3227832"/>
            <a:ext cx="201168" cy="201168"/>
          </a:xfrm>
          <a:prstGeom prst="ellipse">
            <a:avLst/>
          </a:prstGeom>
          <a:solidFill>
            <a:srgbClr val="704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34440" y="3200400"/>
            <a:ext cx="9921240" cy="274320"/>
          </a:xfrm>
          <a:prstGeom prst="rect">
            <a:avLst/>
          </a:prstGeom>
          <a:noFill/>
        </p:spPr>
        <p:txBody>
          <a:bodyPr wrap="square">
            <a:spAutoFit/>
          </a:bodyPr>
          <a:lstStyle/>
          <a:p>
            <a:pPr algn="l"/>
            <a:r>
              <a:rPr sz="1400" b="1">
                <a:solidFill>
                  <a:srgbClr val="191F2E"/>
                </a:solidFill>
                <a:latin typeface="Noto Sans CJK JP"/>
              </a:rPr>
              <a:t>Dev Mode：Starter / 無料環境では利用可否に制約があるため確認</a:t>
            </a:r>
          </a:p>
        </p:txBody>
      </p:sp>
      <p:sp>
        <p:nvSpPr>
          <p:cNvPr id="15" name="TextBox 14"/>
          <p:cNvSpPr txBox="1"/>
          <p:nvPr/>
        </p:nvSpPr>
        <p:spPr>
          <a:xfrm>
            <a:off x="1234440" y="3502152"/>
            <a:ext cx="9921240" cy="201168"/>
          </a:xfrm>
          <a:prstGeom prst="rect">
            <a:avLst/>
          </a:prstGeom>
          <a:noFill/>
        </p:spPr>
        <p:txBody>
          <a:bodyPr wrap="square">
            <a:spAutoFit/>
          </a:bodyPr>
          <a:lstStyle/>
          <a:p>
            <a:pPr algn="l"/>
            <a:r>
              <a:rPr sz="1100" b="0">
                <a:solidFill>
                  <a:srgbClr val="5B6577"/>
                </a:solidFill>
                <a:latin typeface="Noto Sans CJK JP"/>
              </a:rPr>
              <a:t/>
            </a:r>
          </a:p>
        </p:txBody>
      </p:sp>
      <p:sp>
        <p:nvSpPr>
          <p:cNvPr id="16" name="Oval 15"/>
          <p:cNvSpPr/>
          <p:nvPr/>
        </p:nvSpPr>
        <p:spPr>
          <a:xfrm>
            <a:off x="914400" y="3913632"/>
            <a:ext cx="201168" cy="201168"/>
          </a:xfrm>
          <a:prstGeom prst="ellipse">
            <a:avLst/>
          </a:prstGeom>
          <a:solidFill>
            <a:srgbClr val="F58B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34440" y="3886200"/>
            <a:ext cx="9921240" cy="274320"/>
          </a:xfrm>
          <a:prstGeom prst="rect">
            <a:avLst/>
          </a:prstGeom>
          <a:noFill/>
        </p:spPr>
        <p:txBody>
          <a:bodyPr wrap="square">
            <a:spAutoFit/>
          </a:bodyPr>
          <a:lstStyle/>
          <a:p>
            <a:pPr algn="l"/>
            <a:r>
              <a:rPr sz="1400" b="1">
                <a:solidFill>
                  <a:srgbClr val="191F2E"/>
                </a:solidFill>
                <a:latin typeface="Noto Sans CJK JP"/>
              </a:rPr>
              <a:t>AI入力：業務情報・個人情報・機密情報を入力してよいか社内ルールを確認</a:t>
            </a:r>
          </a:p>
        </p:txBody>
      </p:sp>
      <p:sp>
        <p:nvSpPr>
          <p:cNvPr id="18" name="TextBox 17"/>
          <p:cNvSpPr txBox="1"/>
          <p:nvPr/>
        </p:nvSpPr>
        <p:spPr>
          <a:xfrm>
            <a:off x="1234440" y="4187952"/>
            <a:ext cx="9921240" cy="201168"/>
          </a:xfrm>
          <a:prstGeom prst="rect">
            <a:avLst/>
          </a:prstGeom>
          <a:noFill/>
        </p:spPr>
        <p:txBody>
          <a:bodyPr wrap="square">
            <a:spAutoFit/>
          </a:bodyPr>
          <a:lstStyle/>
          <a:p>
            <a:pPr algn="l"/>
            <a:r>
              <a:rPr sz="1100" b="0">
                <a:solidFill>
                  <a:srgbClr val="5B6577"/>
                </a:solidFill>
                <a:latin typeface="Noto Sans CJK JP"/>
              </a:rPr>
              <a:t/>
            </a:r>
          </a:p>
        </p:txBody>
      </p:sp>
      <p:sp>
        <p:nvSpPr>
          <p:cNvPr id="19" name="Oval 18"/>
          <p:cNvSpPr/>
          <p:nvPr/>
        </p:nvSpPr>
        <p:spPr>
          <a:xfrm>
            <a:off x="914400" y="4599432"/>
            <a:ext cx="201168" cy="201168"/>
          </a:xfrm>
          <a:prstGeom prst="ellipse">
            <a:avLst/>
          </a:prstGeom>
          <a:solidFill>
            <a:srgbClr val="F58B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234440" y="4572000"/>
            <a:ext cx="9921240" cy="274320"/>
          </a:xfrm>
          <a:prstGeom prst="rect">
            <a:avLst/>
          </a:prstGeom>
          <a:noFill/>
        </p:spPr>
        <p:txBody>
          <a:bodyPr wrap="square">
            <a:spAutoFit/>
          </a:bodyPr>
          <a:lstStyle/>
          <a:p>
            <a:pPr algn="l"/>
            <a:r>
              <a:rPr sz="1400" b="1">
                <a:solidFill>
                  <a:srgbClr val="191F2E"/>
                </a:solidFill>
                <a:latin typeface="Noto Sans CJK JP"/>
              </a:rPr>
              <a:t>共有：社外共有・権限設定・プロジェクト管理のルールを確認</a:t>
            </a:r>
          </a:p>
        </p:txBody>
      </p:sp>
      <p:sp>
        <p:nvSpPr>
          <p:cNvPr id="21" name="TextBox 20"/>
          <p:cNvSpPr txBox="1"/>
          <p:nvPr/>
        </p:nvSpPr>
        <p:spPr>
          <a:xfrm>
            <a:off x="1234440" y="4873752"/>
            <a:ext cx="9921240" cy="201168"/>
          </a:xfrm>
          <a:prstGeom prst="rect">
            <a:avLst/>
          </a:prstGeom>
          <a:noFill/>
        </p:spPr>
        <p:txBody>
          <a:bodyPr wrap="square">
            <a:spAutoFit/>
          </a:bodyPr>
          <a:lstStyle/>
          <a:p>
            <a:pPr algn="l"/>
            <a:r>
              <a:rPr sz="1100" b="0">
                <a:solidFill>
                  <a:srgbClr val="5B6577"/>
                </a:solidFill>
                <a:latin typeface="Noto Sans CJK JP"/>
              </a:rPr>
              <a:t/>
            </a:r>
          </a:p>
        </p:txBody>
      </p:sp>
      <p:sp>
        <p:nvSpPr>
          <p:cNvPr id="22" name="TextBox 21"/>
          <p:cNvSpPr txBox="1"/>
          <p:nvPr/>
        </p:nvSpPr>
        <p:spPr>
          <a:xfrm>
            <a:off x="914400" y="5715000"/>
            <a:ext cx="10332720" cy="320040"/>
          </a:xfrm>
          <a:prstGeom prst="rect">
            <a:avLst/>
          </a:prstGeom>
          <a:noFill/>
        </p:spPr>
        <p:txBody>
          <a:bodyPr wrap="square">
            <a:spAutoFit/>
          </a:bodyPr>
          <a:lstStyle/>
          <a:p>
            <a:pPr algn="ctr"/>
            <a:r>
              <a:rPr sz="1100" b="1">
                <a:solidFill>
                  <a:srgbClr val="5B6577"/>
                </a:solidFill>
                <a:latin typeface="Noto Sans CJK JP"/>
              </a:rPr>
              <a:t>勉強会の前に、実際の本社Figma環境のメニューを1枚スクリーンショットしておくと、紹介できる機能が明確になります。</a:t>
            </a:r>
          </a:p>
        </p:txBody>
      </p:sp>
      <p:sp>
        <p:nvSpPr>
          <p:cNvPr id="23" name="TextBox 22"/>
          <p:cNvSpPr txBox="1"/>
          <p:nvPr/>
        </p:nvSpPr>
        <p:spPr>
          <a:xfrm>
            <a:off x="548640" y="6510528"/>
            <a:ext cx="9601200" cy="201168"/>
          </a:xfrm>
          <a:prstGeom prst="rect">
            <a:avLst/>
          </a:prstGeom>
          <a:noFill/>
        </p:spPr>
        <p:txBody>
          <a:bodyPr wrap="square">
            <a:spAutoFit/>
          </a:bodyPr>
          <a:lstStyle/>
          <a:p>
            <a:pPr algn="l"/>
            <a:r>
              <a:rPr sz="800" b="0">
                <a:solidFill>
                  <a:srgbClr val="5B6577"/>
                </a:solidFill>
                <a:latin typeface="Noto Sans CJK JP"/>
              </a:rPr>
              <a:t>Figma勉強会｜Web開発者向け｜画面設計・プロトタイプ・AI活用</a:t>
            </a:r>
          </a:p>
        </p:txBody>
      </p:sp>
      <p:sp>
        <p:nvSpPr>
          <p:cNvPr id="24" name="TextBox 23"/>
          <p:cNvSpPr txBox="1"/>
          <p:nvPr/>
        </p:nvSpPr>
        <p:spPr>
          <a:xfrm>
            <a:off x="11155680" y="6492240"/>
            <a:ext cx="457200" cy="201168"/>
          </a:xfrm>
          <a:prstGeom prst="rect">
            <a:avLst/>
          </a:prstGeom>
          <a:noFill/>
        </p:spPr>
        <p:txBody>
          <a:bodyPr wrap="square">
            <a:spAutoFit/>
          </a:bodyPr>
          <a:lstStyle/>
          <a:p>
            <a:pPr algn="r"/>
            <a:r>
              <a:rPr sz="800" b="0">
                <a:solidFill>
                  <a:srgbClr val="5B6577"/>
                </a:solidFill>
                <a:latin typeface="Noto Sans CJK JP"/>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3200400" cy="274320"/>
          </a:xfrm>
          <a:prstGeom prst="rect">
            <a:avLst/>
          </a:prstGeom>
          <a:noFill/>
        </p:spPr>
        <p:txBody>
          <a:bodyPr wrap="square">
            <a:spAutoFit/>
          </a:bodyPr>
          <a:lstStyle/>
          <a:p>
            <a:pPr algn="l"/>
            <a:r>
              <a:rPr sz="900" b="1">
                <a:solidFill>
                  <a:srgbClr val="704CFF"/>
                </a:solidFill>
                <a:latin typeface="Noto Sans CJK JP"/>
              </a:rPr>
              <a:t>SUMMARY</a:t>
            </a:r>
          </a:p>
        </p:txBody>
      </p:sp>
      <p:sp>
        <p:nvSpPr>
          <p:cNvPr id="4" name="TextBox 3"/>
          <p:cNvSpPr txBox="1"/>
          <p:nvPr/>
        </p:nvSpPr>
        <p:spPr>
          <a:xfrm>
            <a:off x="548640" y="548640"/>
            <a:ext cx="10972800" cy="548640"/>
          </a:xfrm>
          <a:prstGeom prst="rect">
            <a:avLst/>
          </a:prstGeom>
          <a:noFill/>
        </p:spPr>
        <p:txBody>
          <a:bodyPr wrap="square">
            <a:spAutoFit/>
          </a:bodyPr>
          <a:lstStyle/>
          <a:p>
            <a:pPr algn="l"/>
            <a:r>
              <a:rPr sz="2600" b="1">
                <a:solidFill>
                  <a:srgbClr val="191F2E"/>
                </a:solidFill>
                <a:latin typeface="Noto Sans CJK JP"/>
              </a:rPr>
              <a:t>まとめ：今回持ち帰ること</a:t>
            </a:r>
          </a:p>
        </p:txBody>
      </p:sp>
      <p:sp>
        <p:nvSpPr>
          <p:cNvPr id="5" name="TextBox 4"/>
          <p:cNvSpPr txBox="1"/>
          <p:nvPr/>
        </p:nvSpPr>
        <p:spPr>
          <a:xfrm>
            <a:off x="566928" y="1097280"/>
            <a:ext cx="10972800" cy="457200"/>
          </a:xfrm>
          <a:prstGeom prst="rect">
            <a:avLst/>
          </a:prstGeom>
          <a:noFill/>
        </p:spPr>
        <p:txBody>
          <a:bodyPr wrap="square">
            <a:spAutoFit/>
          </a:bodyPr>
          <a:lstStyle/>
          <a:p>
            <a:pPr algn="l"/>
            <a:r>
              <a:rPr sz="1200" b="0">
                <a:solidFill>
                  <a:srgbClr val="5B6577"/>
                </a:solidFill>
                <a:latin typeface="Noto Sans CJK JP"/>
              </a:rPr>
              <a:t>Figmaを「デザインツール」ではなく「Web開発の可視化ツール」として始める</a:t>
            </a:r>
          </a:p>
        </p:txBody>
      </p:sp>
      <p:sp>
        <p:nvSpPr>
          <p:cNvPr id="6" name="Rectangle 5"/>
          <p:cNvSpPr/>
          <p:nvPr/>
        </p:nvSpPr>
        <p:spPr>
          <a:xfrm>
            <a:off x="548640" y="1572768"/>
            <a:ext cx="1051560" cy="54864"/>
          </a:xfrm>
          <a:prstGeom prst="rect">
            <a:avLst/>
          </a:prstGeom>
          <a:solidFill>
            <a:srgbClr val="704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783080"/>
            <a:ext cx="10149840" cy="320040"/>
          </a:xfrm>
          <a:prstGeom prst="rect">
            <a:avLst/>
          </a:prstGeom>
          <a:noFill/>
        </p:spPr>
        <p:txBody>
          <a:bodyPr wrap="square">
            <a:spAutoFit/>
          </a:bodyPr>
          <a:lstStyle/>
          <a:p>
            <a:pPr algn="l"/>
            <a:r>
              <a:rPr sz="1400" b="1">
                <a:solidFill>
                  <a:srgbClr val="191F2E"/>
                </a:solidFill>
                <a:latin typeface="Noto Sans CJK JP"/>
              </a:rPr>
              <a:t>① ExcelからFigmaへ：画面の見た目と操作を共有しやすくする</a:t>
            </a:r>
          </a:p>
        </p:txBody>
      </p:sp>
      <p:sp>
        <p:nvSpPr>
          <p:cNvPr id="8" name="TextBox 7"/>
          <p:cNvSpPr txBox="1"/>
          <p:nvPr/>
        </p:nvSpPr>
        <p:spPr>
          <a:xfrm>
            <a:off x="960120" y="2350008"/>
            <a:ext cx="10149840" cy="320040"/>
          </a:xfrm>
          <a:prstGeom prst="rect">
            <a:avLst/>
          </a:prstGeom>
          <a:noFill/>
        </p:spPr>
        <p:txBody>
          <a:bodyPr wrap="square">
            <a:spAutoFit/>
          </a:bodyPr>
          <a:lstStyle/>
          <a:p>
            <a:pPr algn="l"/>
            <a:r>
              <a:rPr sz="1400" b="0">
                <a:solidFill>
                  <a:srgbClr val="191F2E"/>
                </a:solidFill>
                <a:latin typeface="Noto Sans CJK JP"/>
              </a:rPr>
              <a:t>② Layers / Frame：画面構造を見える形にする</a:t>
            </a:r>
          </a:p>
        </p:txBody>
      </p:sp>
      <p:sp>
        <p:nvSpPr>
          <p:cNvPr id="9" name="TextBox 8"/>
          <p:cNvSpPr txBox="1"/>
          <p:nvPr/>
        </p:nvSpPr>
        <p:spPr>
          <a:xfrm>
            <a:off x="960120" y="2916936"/>
            <a:ext cx="10149840" cy="320040"/>
          </a:xfrm>
          <a:prstGeom prst="rect">
            <a:avLst/>
          </a:prstGeom>
          <a:noFill/>
        </p:spPr>
        <p:txBody>
          <a:bodyPr wrap="square">
            <a:spAutoFit/>
          </a:bodyPr>
          <a:lstStyle/>
          <a:p>
            <a:pPr algn="l"/>
            <a:r>
              <a:rPr sz="1400" b="0">
                <a:solidFill>
                  <a:srgbClr val="191F2E"/>
                </a:solidFill>
                <a:latin typeface="Noto Sans CJK JP"/>
              </a:rPr>
              <a:t>③ Auto Layout / Component：UIを再利用しやすくする</a:t>
            </a:r>
          </a:p>
        </p:txBody>
      </p:sp>
      <p:sp>
        <p:nvSpPr>
          <p:cNvPr id="10" name="TextBox 9"/>
          <p:cNvSpPr txBox="1"/>
          <p:nvPr/>
        </p:nvSpPr>
        <p:spPr>
          <a:xfrm>
            <a:off x="960120" y="3483863"/>
            <a:ext cx="10149840" cy="320040"/>
          </a:xfrm>
          <a:prstGeom prst="rect">
            <a:avLst/>
          </a:prstGeom>
          <a:noFill/>
        </p:spPr>
        <p:txBody>
          <a:bodyPr wrap="square">
            <a:spAutoFit/>
          </a:bodyPr>
          <a:lstStyle/>
          <a:p>
            <a:pPr algn="l"/>
            <a:r>
              <a:rPr sz="1400" b="0">
                <a:solidFill>
                  <a:srgbClr val="191F2E"/>
                </a:solidFill>
                <a:latin typeface="Noto Sans CJK JP"/>
              </a:rPr>
              <a:t>④ Prototype：画面遷移を実装前に確認する</a:t>
            </a:r>
          </a:p>
        </p:txBody>
      </p:sp>
      <p:sp>
        <p:nvSpPr>
          <p:cNvPr id="11" name="TextBox 10"/>
          <p:cNvSpPr txBox="1"/>
          <p:nvPr/>
        </p:nvSpPr>
        <p:spPr>
          <a:xfrm>
            <a:off x="960120" y="4050791"/>
            <a:ext cx="10149840" cy="320040"/>
          </a:xfrm>
          <a:prstGeom prst="rect">
            <a:avLst/>
          </a:prstGeom>
          <a:noFill/>
        </p:spPr>
        <p:txBody>
          <a:bodyPr wrap="square">
            <a:spAutoFit/>
          </a:bodyPr>
          <a:lstStyle/>
          <a:p>
            <a:pPr algn="l"/>
            <a:r>
              <a:rPr sz="1400" b="1">
                <a:solidFill>
                  <a:srgbClr val="191F2E"/>
                </a:solidFill>
                <a:latin typeface="Noto Sans CJK JP"/>
              </a:rPr>
              <a:t>⑤ Figma Make：AIでアイデアを動く試作にする選択肢を知る</a:t>
            </a:r>
          </a:p>
        </p:txBody>
      </p:sp>
      <p:sp>
        <p:nvSpPr>
          <p:cNvPr id="12" name="TextBox 11"/>
          <p:cNvSpPr txBox="1"/>
          <p:nvPr/>
        </p:nvSpPr>
        <p:spPr>
          <a:xfrm>
            <a:off x="960120" y="4617720"/>
            <a:ext cx="10149840" cy="320040"/>
          </a:xfrm>
          <a:prstGeom prst="rect">
            <a:avLst/>
          </a:prstGeom>
          <a:noFill/>
        </p:spPr>
        <p:txBody>
          <a:bodyPr wrap="square">
            <a:spAutoFit/>
          </a:bodyPr>
          <a:lstStyle/>
          <a:p>
            <a:pPr algn="l"/>
            <a:r>
              <a:rPr sz="1400" b="1">
                <a:solidFill>
                  <a:srgbClr val="191F2E"/>
                </a:solidFill>
                <a:latin typeface="Noto Sans CJK JP"/>
              </a:rPr>
              <a:t>⑥ まずは1画面から実案件に適用する</a:t>
            </a:r>
          </a:p>
        </p:txBody>
      </p:sp>
      <p:sp>
        <p:nvSpPr>
          <p:cNvPr id="13" name="Rounded Rectangle 12"/>
          <p:cNvSpPr/>
          <p:nvPr/>
        </p:nvSpPr>
        <p:spPr>
          <a:xfrm>
            <a:off x="868680" y="5349240"/>
            <a:ext cx="10469880" cy="822960"/>
          </a:xfrm>
          <a:prstGeom prst="roundRect">
            <a:avLst/>
          </a:prstGeom>
          <a:solidFill>
            <a:srgbClr val="FFFFFF"/>
          </a:solidFill>
          <a:ln>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43000" y="5504688"/>
            <a:ext cx="9966960" cy="438912"/>
          </a:xfrm>
          <a:prstGeom prst="rect">
            <a:avLst/>
          </a:prstGeom>
          <a:noFill/>
        </p:spPr>
        <p:txBody>
          <a:bodyPr wrap="square">
            <a:spAutoFit/>
          </a:bodyPr>
          <a:lstStyle/>
          <a:p>
            <a:pPr algn="ctr"/>
            <a:r>
              <a:rPr sz="1000" b="0">
                <a:solidFill>
                  <a:srgbClr val="5B6577"/>
                </a:solidFill>
                <a:latin typeface="Noto Sans CJK JP"/>
              </a:rPr>
              <a:t>参考（勉強会資料作成時点の公式情報）：Figma Make / AI App Builder / Plans &amp; Features / Dev Mode</a:t>
            </a:r>
          </a:p>
        </p:txBody>
      </p:sp>
      <p:sp>
        <p:nvSpPr>
          <p:cNvPr id="15" name="TextBox 14"/>
          <p:cNvSpPr txBox="1"/>
          <p:nvPr/>
        </p:nvSpPr>
        <p:spPr>
          <a:xfrm>
            <a:off x="1143000" y="5870448"/>
            <a:ext cx="9966960" cy="201168"/>
          </a:xfrm>
          <a:prstGeom prst="rect">
            <a:avLst/>
          </a:prstGeom>
          <a:noFill/>
        </p:spPr>
        <p:txBody>
          <a:bodyPr wrap="square">
            <a:spAutoFit/>
          </a:bodyPr>
          <a:lstStyle/>
          <a:p>
            <a:pPr algn="ctr"/>
            <a:r>
              <a:rPr sz="800" b="0">
                <a:solidFill>
                  <a:srgbClr val="5B6577"/>
                </a:solidFill>
                <a:latin typeface="Noto Sans CJK JP"/>
              </a:rPr>
              <a:t>figma.com/make ｜ figma.com/solutions/ai-app-builder ｜ help.figma.com</a:t>
            </a:r>
          </a:p>
        </p:txBody>
      </p:sp>
      <p:sp>
        <p:nvSpPr>
          <p:cNvPr id="16" name="TextBox 15"/>
          <p:cNvSpPr txBox="1"/>
          <p:nvPr/>
        </p:nvSpPr>
        <p:spPr>
          <a:xfrm>
            <a:off x="548640" y="6510528"/>
            <a:ext cx="9601200" cy="201168"/>
          </a:xfrm>
          <a:prstGeom prst="rect">
            <a:avLst/>
          </a:prstGeom>
          <a:noFill/>
        </p:spPr>
        <p:txBody>
          <a:bodyPr wrap="square">
            <a:spAutoFit/>
          </a:bodyPr>
          <a:lstStyle/>
          <a:p>
            <a:pPr algn="l"/>
            <a:r>
              <a:rPr sz="800" b="0">
                <a:solidFill>
                  <a:srgbClr val="5B6577"/>
                </a:solidFill>
                <a:latin typeface="Noto Sans CJK JP"/>
              </a:rPr>
              <a:t>Figma勉強会｜Web開発者向け｜画面設計・プロトタイプ・AI活用</a:t>
            </a:r>
          </a:p>
        </p:txBody>
      </p:sp>
      <p:sp>
        <p:nvSpPr>
          <p:cNvPr id="17" name="TextBox 16"/>
          <p:cNvSpPr txBox="1"/>
          <p:nvPr/>
        </p:nvSpPr>
        <p:spPr>
          <a:xfrm>
            <a:off x="11155680" y="6492240"/>
            <a:ext cx="457200" cy="201168"/>
          </a:xfrm>
          <a:prstGeom prst="rect">
            <a:avLst/>
          </a:prstGeom>
          <a:noFill/>
        </p:spPr>
        <p:txBody>
          <a:bodyPr wrap="square">
            <a:spAutoFit/>
          </a:bodyPr>
          <a:lstStyle/>
          <a:p>
            <a:pPr algn="r"/>
            <a:r>
              <a:rPr sz="800" b="0">
                <a:solidFill>
                  <a:srgbClr val="5B6577"/>
                </a:solidFill>
                <a:latin typeface="Noto Sans CJK JP"/>
              </a:rPr>
              <a:t>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