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088f22be-5590-7b48-46b0-1609b56135fc}">
          <p14:sldIdLst>
            <p14:sldId id="256"/>
            <p14:sldId id="257"/>
            <p14:sldId id="258"/>
            <p14:sldId id="259"/>
          </p14:sldIdLst>
        </p14:section>
        <p14:section name="Agent Builder概要" id="{93092512-9cb4-5559-c5de-8674efbdd94f}">
          <p14:sldIdLst>
            <p14:sldId id="260"/>
            <p14:sldId id="261"/>
            <p14:sldId id="262"/>
          </p14:sldIdLst>
        </p14:section>
        <p14:section name="ライブデモ" id="{6d436550-fe98-bd76-c23f-f6f486d09e2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共有・管理・分析" id="{5c585f0f-4783-b74f-0e49-3a86e312fddd}">
          <p14:sldIdLst>
            <p14:sldId id="272"/>
            <p14:sldId id="273"/>
            <p14:sldId id="274"/>
          </p14:sldIdLst>
        </p14:section>
        <p14:section name="まとめ" id="{7d9c931e-90d4-154b-69d0-7454ae513fb4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本日のテーマは「Agent Builderで、自分専用のCopilotエージェントを作る」です。
後半のライブデモでは、2つのPDFを比較して差分と影響を整理する『PDF比較アナリスト』を実際に作ります。
【所要】約1分
【資料】参考動画2本（David Fortin／Mike Tholfsen）の内容と、Microsoft公式ドキュメントをもとに構成。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・ゴールは『作り方の流れを理解して、自分の業務で試せる状態』になること。
・時間配分：デモに25分を使います。説明を見ながら一緒に操作を追ってください。
【進行メモ】時間が押した場合は、アイコン設定→見積書デモ→IT管理者の説明の順に省略。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通常のチャットは毎回プロンプトを書きます。エージェントは『役割・ルール・参照資料・よく使う質問』をあらかじめ設定した専用Copilotです。
効果は3つ：品質のばらつきを減らす／属人化したプロンプトを共有できる／毎回の指示入力が不要。
目安は『同じ指示を毎回コピペしている業務』。要約、比較、チェック、問い合わせ対応などが典型です。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エージェントには、Microsoftが用意した既製のものと、自分で作るカスタムの2種類があります。
まず既製エージェントを試し、足りない部分を自作で補うのが現実的です。
【参考】David Fortin氏の動画（34分）は、エージェントとは何か／既製エージェント／最初のエージェント作成／カスタムスキルの追加、という流れ。さらに深く知りたい人向けに紹介します。
（動画のURLは最終スライドに記載）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Agent Builderは、Microsoft 365 Copilotアプリ内で、チャットしながら、または設定画面から、エージェントを作れる機能です。
Copilot Studioの簡易版という位置づけで、個人〜小規模チーム向け。
もっと高度な機能が必要になったら、Copilot Studioへエージェントをコピーして発展させられます。
【出典】Microsoft Learn（Build agents with Microsoft 365 Copilot）、大学の公開ナレッジ記事。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作成は5ステップです。
1. 左メニューの『エージェントを作成』
2. やりたいことを自然な言葉で伝える（Describeタブ）
3. 参照させたい情報（ナレッジ）を追加
4. Configureタブで調整し、テスト画面で確認
5. 右上の『作成』で完成。共有もここから。
【出典】Microsoft Adoption『Agent Builder クイックスタート』の5ステップ。
※ボタン名は『Create agent / New agent』など表記が環境で異なる場合があります。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・ナレッジ：デバイスからアップロードできるファイルは20個まで（SharePointのファイル・フォルダ・サイトは100ファイル、公開WebのURLは4件）。
・テスト画面は、名前・説明・指示を入力すると有効になります。
・変更は自動保存されます。
・Describeタブ（会話で作る）は、Microsoft 365の言語設定が対応言語のときのみ表示されます。
【出典】Microsoft Learn（Build agents with Microsoft 365 Copilot）。仕様は更新されるため、発表前に最新を確認してください。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ここからライブデモです。作るのは『PDF比較アナリスト』。2つのPDF（旧版/新版）を渡すと、差分・数値の違い・影響・要確認事項を表で返すエージェントです。
比較の観点と出力形式を指示文に固定するので、誰が使っても同じ品質で返ってきます。
【準備物】demo_contract_v1_old.pdf / v2_new.pdf（契約書）、demo_quote_A.pdf / B.pdf（見積書）
【注意】この設計は動画の再現ではなく、発表用に作った例です。画面・ボタン名は実機で確認。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【デモ操作】（約7分）
1. Microsoft 365 Copilotを開き、左メニューから『エージェントを作成』をクリック。
2. Describeタブ（会話）に、配布ファイル02-Aの発話を貼り付けて送信。
3. 名前・説明・指示が自動生成される様子を見せる。
【話すこと】
・Describeタブは『会話で作る』入口。名前・説明・指示を自動で作ってくれる。
・最初から完璧を目指さず、叩き台として使い、次のConfigureタブで整えます。
【トラブル時】Describeタブが表示されない → Configureタブから直接設定（次のスライド）。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【デモ操作】（約6分）
Configureタブを開き、『指示』欄を配布ファイル01の指示文に置き換える。名前と説明も確認・修正。
【話すこと】
指示文は4ブロックで書きます。
・役割：何者として動くか
・手順：どの順番で何をするか
・出力形式：表の列名まで具体的に
・ルール：やらないこと（推測しない、記載がなければ『記載なし』）
※スライドは要点のみ。全文は配布ファイルからコピーして貼り付けます。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精度を上げる4つのコツ。
1. 役割→手順→出力形式→ルールの順に書く。
2. 出力を表など具体的な形で指定する。
3. 『やらないこと』を書く。特に『推測しない』『根拠を示す』はハルシネーション対策になる。
4. 最初から完璧を目指さず、テスト→修正を回す。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【デモ操作】（約3分）
Configureタブの『Knowledge』→『Upload』で、K1〜K3（契約審査ガイドライン／比較観点チェックリスト／社内用語集）をアップロード。手順は配布ファイル04のA。
【話すこと】
・固定で持たせる資料（比較観点・用語集・規程）と、毎回渡す資料（今回比較するPDF）を分けて考える。
・SharePointなどを指定する場合、参照は使う人の権限の範囲。アップロードしたファイルは、アクセスできる人がその内容も見られる点に注意。
・『Only use specified sources』をオンにすると、指定ナレッジを優先して答える（一般知識の完全な遮断はできない）。
【見せ場】ガイドラインを入れると、「差分」だけでなく「基準外」まで指摘できる（正解は配布ファイル03）。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【デモ操作】（約2分）
Configureタブの『Skills』→『Add』で、skills フォルダの pdf-diff-report.zip をアップロード。名前と説明が表示されたことを確認。手順は配布ファイル04のB。
【話すこと】
・スキル＝依頼がスキルの説明（description）に合うときだけ読み込まれる専門手順。指示は常に読み込まれる共通ルール。
・指示文を短く保ちつつ、比較レポートの詳細な手順・出力形式はスキルに分けられる。
・作り方：SKILL.md（先頭にYAMLフロントマター name / description）をUTF-8で作り、ZIPの直下に置いてアップロード。SKILL.md単体は不可。
・テストは『呼ばれる例』と『呼ばれない例』の両方で確認（配布ファイル04）。
【注意】スキルはプレビュー提供（Microsoft Frontier Program）で、最大8個・50MB。表示されない環境では、このスライドの説明のみにして、デモは指示文だけで進める。
【出典】Microsoft Copilot Camp（Skills in Agent Builder）。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【デモ操作】（約2分）
Configureタブのスターター プロンプト欄に5本を登録（配布ファイル02-B）。アイコンも設定（時間がなければ省略）。
【話すこと】
スターター プロンプトは、エージェントを開いたときに表示される『よく使う質問ボタン』。初めての人が何を聞けばいいか迷わなくなります。
※スターター プロンプトの追加は、エージェントを作成（Create）した後に使える機能がある場合があります。画面で確認してください。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【デモ操作】（約5分）
テスト画面に demo_contract_v1_old.pdf（旧）と demo_contract_v2_new.pdf（新）を添付し、『添付した2つのPDFを比較してください。1つ目が旧版、2つ目が新版です。』と送信。
出力を、発表者用の正解表（配布ファイル03）と照合する。
【話すこと】
・根拠が付いているか／変更なしを変更と言っていないか／条番号が新旧でずれている点（第10条=競業避止の削除、第11条=反社条項の新設）を正しく扱えているか。
・スライドの表は『期待される出力の例』で、実際の回答は少し違ってもOK。
【ナレッジ追加後】『ナレッジの契約審査ガイドラインに照らして、新版で基準から外れる点を表で示してください』も実行。期待は基準外5件（検収期間・再委託・損害賠償・競業避止・解約予告）。
【追加デモ】時間があれば、見積書A案/B案（合計差額 +693,000円）でも実行。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【デモ操作】（約1分＋余裕があれば）
指示文から『根拠（条番号・ページ）を示す』の行を一度消してテスト→根拠が出なくなる→戻して再テスト、で指示文の効果を見せる。
【話すこと】
出た症状ごとに、指示文のどこを直すかが決まっています。この『テスト→改善』の繰り返しが精度を上げるコツです。
最後に右上の『作成』をクリックして完成。作成後は自分専用（非公開）になります。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【デモ操作】（約3分）
『作成』をクリック→作成後の確認画面（自分専用）。『共有』から相手を指定してリンクを発行。
【話すこと】
・共有された人は、リンクからMicrosoft 365のアプリストアで内容を確認してから追加。以後はCopilotの右側のレールから呼び出せる。@メンションでも呼び出せる。
・共有された側は利用のみで、編集はできない。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参考動画（Mike Tholfsen）では、共有・公開に続いて『IT管理者』の視点と、エージェントの利用状況のモニタリング（分析）が紹介されています。
・管理者視点：誰が作れるか、どこまで共有できるかは組織の設定次第。情報システム部門と調整。
・利用状況：使われているかを見て、改善や展開の判断材料にする。
【注意】Analytics画面が自分の環境に表示されるかは事前確認。表示されなければ、説明のみにとどめる。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共有時の注意は4つ。
1. ナレッジ元の権限は別。エージェントを共有しても、参照元ファイルを見る権限は付与されない。
2. M365データ（SharePoint等）をナレッジにしたエージェントは、Copilotライセンスのない人は使えない。
3. 配布グループ宛ての共有は失敗する場合がある。
4. 共有された人は利用のみ。編集はできない。
【出典】Microsoft Learn（Copilot Studio agent builder publish）、大学の公開ナレッジ記事。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・AIの比較結果は必ず人が最終確認する。
・機密／個人情報を含むPDFは社内ルールに従う。
・ライセンス：動画の説明では、エージェント作成自体は幅広いM365ライセンスで可能だが、WorkIQやSharePointとの完全な連携にはM365 Copilot Premiumが必要とされている。自社の構成を確認。
・Agent Builderのエージェントはチャネル展開（Teams等への配信）に対応しない。高度な機能が必要になったらCopilot Studioへコピー。
【注意】画面や機能名・ライセンスは更新が早い。発表前に最新情報で確認。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【話すこと】
持ち帰りポイントは5つ。
1. エージェントは専用Copilot。
2. 作成は5ステップ。
3. 精度の鍵は指示文とテスト→改善。
4. 共有はリンクで簡単だが、権限とライセンスに注意。
5. まずは『毎回同じプロンプトを書く業務』を1つ選んで試す。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【進行】質疑応答。
よくある質問の想定：
・ライセンスがなくても使えるか → 作成は可能だが、M365データをナレッジにした場合の利用にはCopilotライセンスが必要。
・Teamsに配信できるか → Agent Builderは対応しない。Copilot Studioへコピーして検討。
・PDFの精度が心配 → 根拠ページを出させる運用と、人の最終確認。
【次のアクション】毎回同じプロンプトを書く業務を1つ選び、まずは叩き台のエージェントを作ってみる。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M365 Copilot 有効活用 勉強会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58368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勉強会デモ用資料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344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M365 Copilot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有効活用 勉強会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718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Agent Builderで作る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「PDF比較アナリスト」エージェント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45分 ／ 解説＋ライブデモ</a:t>
            </a:r>
            <a:endParaRPr lang="en-US" sz="1800" dirty="0"/>
          </a:p>
        </p:txBody>
      </p:sp>
      <p:sp>
        <p:nvSpPr>
          <p:cNvPr id="4" name="title-circle"/>
          <p:cNvSpPr/>
          <p:nvPr/>
        </p:nvSpPr>
        <p:spPr>
          <a:xfrm>
            <a:off x="6720840" y="1417320"/>
            <a:ext cx="1920240" cy="1920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itle-icon" descr="ロボットのアイコ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6596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本日のゴールと進め方</a:t>
            </a:r>
            <a:endParaRPr lang="en-US" sz="28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374904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"/>
          <p:cNvSpPr txBox="1"/>
          <p:nvPr/>
        </p:nvSpPr>
        <p:spPr>
          <a:xfrm>
            <a:off x="68580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ゴール</a:t>
            </a:r>
            <a:endParaRPr lang="en-US" sz="1400" dirty="0"/>
          </a:p>
        </p:txBody>
      </p:sp>
      <p:sp>
        <p:nvSpPr>
          <p:cNvPr id="5" name="text-3"/>
          <p:cNvSpPr txBox="1"/>
          <p:nvPr/>
        </p:nvSpPr>
        <p:spPr>
          <a:xfrm>
            <a:off x="685800" y="17830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コードなしで「自分の業務用エージェント」を作り、チームに共有するまでの流れを理解する</a:t>
            </a:r>
            <a:endParaRPr lang="en-US" sz="1800" dirty="0"/>
          </a:p>
        </p:txBody>
      </p:sp>
      <p:sp>
        <p:nvSpPr>
          <p:cNvPr id="6" name="text-4"/>
          <p:cNvSpPr txBox="1"/>
          <p:nvPr/>
        </p:nvSpPr>
        <p:spPr>
          <a:xfrm>
            <a:off x="685800" y="32004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作り方の5ステップ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指示文の書き方とテスト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共有時の注意点</a:t>
            </a:r>
            <a:endParaRPr lang="en-US" sz="1400" dirty="0"/>
          </a:p>
        </p:txBody>
      </p:sp>
      <p:sp>
        <p:nvSpPr>
          <p:cNvPr id="7" name="card-5"/>
          <p:cNvSpPr/>
          <p:nvPr/>
        </p:nvSpPr>
        <p:spPr>
          <a:xfrm>
            <a:off x="4526280" y="12344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hip-6"/>
          <p:cNvSpPr txBox="1"/>
          <p:nvPr/>
        </p:nvSpPr>
        <p:spPr>
          <a:xfrm>
            <a:off x="4663440" y="13441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0:00–0:05</a:t>
            </a:r>
            <a:endParaRPr lang="en-US" sz="1200" dirty="0"/>
          </a:p>
        </p:txBody>
      </p:sp>
      <p:sp>
        <p:nvSpPr>
          <p:cNvPr id="9" name="text-7"/>
          <p:cNvSpPr txBox="1"/>
          <p:nvPr/>
        </p:nvSpPr>
        <p:spPr>
          <a:xfrm>
            <a:off x="6035040" y="12344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イントロ</a:t>
            </a:r>
            <a:endParaRPr lang="en-US" sz="1400" dirty="0"/>
          </a:p>
        </p:txBody>
      </p:sp>
      <p:sp>
        <p:nvSpPr>
          <p:cNvPr id="10" name="card-8"/>
          <p:cNvSpPr/>
          <p:nvPr/>
        </p:nvSpPr>
        <p:spPr>
          <a:xfrm>
            <a:off x="4526280" y="19202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hip-9"/>
          <p:cNvSpPr txBox="1"/>
          <p:nvPr/>
        </p:nvSpPr>
        <p:spPr>
          <a:xfrm>
            <a:off x="4663440" y="20299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0:05–0:10</a:t>
            </a:r>
            <a:endParaRPr lang="en-US" sz="1200" dirty="0"/>
          </a:p>
        </p:txBody>
      </p:sp>
      <p:sp>
        <p:nvSpPr>
          <p:cNvPr id="12" name="text-10"/>
          <p:cNvSpPr txBox="1"/>
          <p:nvPr/>
        </p:nvSpPr>
        <p:spPr>
          <a:xfrm>
            <a:off x="6035040" y="19202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Builder概要</a:t>
            </a:r>
            <a:endParaRPr lang="en-US" sz="1400" dirty="0"/>
          </a:p>
        </p:txBody>
      </p:sp>
      <p:sp>
        <p:nvSpPr>
          <p:cNvPr id="13" name="card-11"/>
          <p:cNvSpPr/>
          <p:nvPr/>
        </p:nvSpPr>
        <p:spPr>
          <a:xfrm>
            <a:off x="4526280" y="26060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chip-12"/>
          <p:cNvSpPr txBox="1"/>
          <p:nvPr/>
        </p:nvSpPr>
        <p:spPr>
          <a:xfrm>
            <a:off x="4663440" y="27157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0:10–0:35</a:t>
            </a:r>
            <a:endParaRPr lang="en-US" sz="1200" dirty="0"/>
          </a:p>
        </p:txBody>
      </p:sp>
      <p:sp>
        <p:nvSpPr>
          <p:cNvPr id="15" name="text-13"/>
          <p:cNvSpPr txBox="1"/>
          <p:nvPr/>
        </p:nvSpPr>
        <p:spPr>
          <a:xfrm>
            <a:off x="6035040" y="26060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ライブデモ（25分）</a:t>
            </a:r>
            <a:endParaRPr lang="en-US" sz="1400" dirty="0"/>
          </a:p>
        </p:txBody>
      </p:sp>
      <p:sp>
        <p:nvSpPr>
          <p:cNvPr id="16" name="card-14"/>
          <p:cNvSpPr/>
          <p:nvPr/>
        </p:nvSpPr>
        <p:spPr>
          <a:xfrm>
            <a:off x="4526280" y="32918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hip-15"/>
          <p:cNvSpPr txBox="1"/>
          <p:nvPr/>
        </p:nvSpPr>
        <p:spPr>
          <a:xfrm>
            <a:off x="4663440" y="34015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0:35–0:40</a:t>
            </a:r>
            <a:endParaRPr lang="en-US" sz="1200" dirty="0"/>
          </a:p>
        </p:txBody>
      </p:sp>
      <p:sp>
        <p:nvSpPr>
          <p:cNvPr id="18" name="text-16"/>
          <p:cNvSpPr txBox="1"/>
          <p:nvPr/>
        </p:nvSpPr>
        <p:spPr>
          <a:xfrm>
            <a:off x="6035040" y="32918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共有・管理・分析</a:t>
            </a:r>
            <a:endParaRPr lang="en-US" sz="1400" dirty="0"/>
          </a:p>
        </p:txBody>
      </p:sp>
      <p:sp>
        <p:nvSpPr>
          <p:cNvPr id="19" name="card-17"/>
          <p:cNvSpPr/>
          <p:nvPr/>
        </p:nvSpPr>
        <p:spPr>
          <a:xfrm>
            <a:off x="4526280" y="3977640"/>
            <a:ext cx="416052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hip-18"/>
          <p:cNvSpPr txBox="1"/>
          <p:nvPr/>
        </p:nvSpPr>
        <p:spPr>
          <a:xfrm>
            <a:off x="4663440" y="4087368"/>
            <a:ext cx="118872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0:40–0:45</a:t>
            </a:r>
            <a:endParaRPr lang="en-US" sz="1200" dirty="0"/>
          </a:p>
        </p:txBody>
      </p:sp>
      <p:sp>
        <p:nvSpPr>
          <p:cNvPr id="21" name="text-19"/>
          <p:cNvSpPr txBox="1"/>
          <p:nvPr/>
        </p:nvSpPr>
        <p:spPr>
          <a:xfrm>
            <a:off x="6035040" y="3977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注意点・まとめ・Q&amp;A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Copilotエージェントとは</a:t>
            </a:r>
            <a:endParaRPr lang="en-US" sz="2800" dirty="0"/>
          </a:p>
        </p:txBody>
      </p:sp>
      <p:sp>
        <p:nvSpPr>
          <p:cNvPr id="3" name="card-20"/>
          <p:cNvSpPr/>
          <p:nvPr/>
        </p:nvSpPr>
        <p:spPr>
          <a:xfrm>
            <a:off x="457200" y="12344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1"/>
          <p:cNvSpPr txBox="1"/>
          <p:nvPr/>
        </p:nvSpPr>
        <p:spPr>
          <a:xfrm>
            <a:off x="6858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通常のCopilotチャット</a:t>
            </a:r>
            <a:endParaRPr lang="en-US" sz="1800" dirty="0"/>
          </a:p>
        </p:txBody>
      </p:sp>
      <p:sp>
        <p:nvSpPr>
          <p:cNvPr id="5" name="text-22"/>
          <p:cNvSpPr txBox="1"/>
          <p:nvPr/>
        </p:nvSpPr>
        <p:spPr>
          <a:xfrm>
            <a:off x="685800" y="1920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毎回プロンプトを書く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指示が人によってバラバラ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品質にばらつきが出る</a:t>
            </a:r>
            <a:endParaRPr lang="en-US" sz="1600" dirty="0"/>
          </a:p>
        </p:txBody>
      </p:sp>
      <p:sp>
        <p:nvSpPr>
          <p:cNvPr id="6" name="card-23"/>
          <p:cNvSpPr/>
          <p:nvPr/>
        </p:nvSpPr>
        <p:spPr>
          <a:xfrm>
            <a:off x="4754880" y="1234440"/>
            <a:ext cx="393192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-24"/>
          <p:cNvSpPr txBox="1"/>
          <p:nvPr/>
        </p:nvSpPr>
        <p:spPr>
          <a:xfrm>
            <a:off x="498348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エージェント</a:t>
            </a:r>
            <a:endParaRPr lang="en-US" sz="1800" dirty="0"/>
          </a:p>
        </p:txBody>
      </p:sp>
      <p:sp>
        <p:nvSpPr>
          <p:cNvPr id="8" name="text-25"/>
          <p:cNvSpPr txBox="1"/>
          <p:nvPr/>
        </p:nvSpPr>
        <p:spPr>
          <a:xfrm>
            <a:off x="4983480" y="19202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役割・ルール・資料・よく使う質問を固定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同じ品質で再現できる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リンクで共有できる</a:t>
            </a:r>
            <a:endParaRPr lang="en-US" sz="1600" dirty="0"/>
          </a:p>
        </p:txBody>
      </p:sp>
      <p:sp>
        <p:nvSpPr>
          <p:cNvPr id="9" name="iconbg-26"/>
          <p:cNvSpPr/>
          <p:nvPr/>
        </p:nvSpPr>
        <p:spPr>
          <a:xfrm>
            <a:off x="795528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7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508760"/>
            <a:ext cx="274320" cy="274320"/>
          </a:xfrm>
          <a:prstGeom prst="rect">
            <a:avLst/>
          </a:prstGeom>
        </p:spPr>
      </p:pic>
      <p:sp>
        <p:nvSpPr>
          <p:cNvPr id="11" name="card-28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9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目安：同じ指示を毎回コピペしている業務は、エージェント化の候補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エージェントは2種類ある</a:t>
            </a:r>
            <a:endParaRPr lang="en-US" sz="2800" dirty="0"/>
          </a:p>
        </p:txBody>
      </p:sp>
      <p:sp>
        <p:nvSpPr>
          <p:cNvPr id="3" name="card-30"/>
          <p:cNvSpPr/>
          <p:nvPr/>
        </p:nvSpPr>
        <p:spPr>
          <a:xfrm>
            <a:off x="457200" y="123444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31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-32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-33"/>
          <p:cNvSpPr txBox="1"/>
          <p:nvPr/>
        </p:nvSpPr>
        <p:spPr>
          <a:xfrm>
            <a:off x="150876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Microsoft提供の既製</a:t>
            </a:r>
            <a:endParaRPr lang="en-US" sz="1800" dirty="0"/>
          </a:p>
        </p:txBody>
      </p:sp>
      <p:sp>
        <p:nvSpPr>
          <p:cNvPr id="7" name="text-34"/>
          <p:cNvSpPr txBox="1"/>
          <p:nvPr/>
        </p:nvSpPr>
        <p:spPr>
          <a:xfrm>
            <a:off x="68580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すぐ使える。左メニューのエージェント一覧から選んで利用</a:t>
            </a:r>
            <a:endParaRPr lang="en-US" sz="1400" dirty="0"/>
          </a:p>
        </p:txBody>
      </p:sp>
      <p:sp>
        <p:nvSpPr>
          <p:cNvPr id="8" name="card-35"/>
          <p:cNvSpPr/>
          <p:nvPr/>
        </p:nvSpPr>
        <p:spPr>
          <a:xfrm>
            <a:off x="4754880" y="1234440"/>
            <a:ext cx="393192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36"/>
          <p:cNvSpPr/>
          <p:nvPr/>
        </p:nvSpPr>
        <p:spPr>
          <a:xfrm>
            <a:off x="4983480" y="1417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37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577340"/>
            <a:ext cx="320040" cy="320040"/>
          </a:xfrm>
          <a:prstGeom prst="rect">
            <a:avLst/>
          </a:prstGeom>
        </p:spPr>
      </p:pic>
      <p:sp>
        <p:nvSpPr>
          <p:cNvPr id="11" name="text-38"/>
          <p:cNvSpPr txBox="1"/>
          <p:nvPr/>
        </p:nvSpPr>
        <p:spPr>
          <a:xfrm>
            <a:off x="5806440" y="1417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自分で作るカスタム</a:t>
            </a:r>
            <a:endParaRPr lang="en-US" sz="1800" dirty="0"/>
          </a:p>
        </p:txBody>
      </p:sp>
      <p:sp>
        <p:nvSpPr>
          <p:cNvPr id="12" name="text-39"/>
          <p:cNvSpPr txBox="1"/>
          <p:nvPr/>
        </p:nvSpPr>
        <p:spPr>
          <a:xfrm>
            <a:off x="4983480" y="22402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Agent Builderで作成。今日のテーマ</a:t>
            </a:r>
            <a:endParaRPr lang="en-US" sz="1400" dirty="0"/>
          </a:p>
        </p:txBody>
      </p:sp>
      <p:sp>
        <p:nvSpPr>
          <p:cNvPr id="13" name="card-40"/>
          <p:cNvSpPr/>
          <p:nvPr/>
        </p:nvSpPr>
        <p:spPr>
          <a:xfrm>
            <a:off x="457200" y="3611880"/>
            <a:ext cx="82296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41"/>
          <p:cNvSpPr txBox="1"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参考動画（紹介）</a:t>
            </a:r>
            <a:endParaRPr lang="en-US" sz="1200" dirty="0"/>
          </a:p>
        </p:txBody>
      </p:sp>
      <p:sp>
        <p:nvSpPr>
          <p:cNvPr id="15" name="text-42"/>
          <p:cNvSpPr txBox="1"/>
          <p:nvPr/>
        </p:nvSpPr>
        <p:spPr>
          <a:xfrm>
            <a:off x="685800" y="39776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David Fortin「Master Copilot Agents in 34 Minutes」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エージェントとは → 既製エージェント → 最初の作成 → カスタムスキル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Agent Builderとは</a:t>
            </a:r>
            <a:endParaRPr lang="en-US" sz="2800" dirty="0"/>
          </a:p>
        </p:txBody>
      </p:sp>
      <p:sp>
        <p:nvSpPr>
          <p:cNvPr id="3" name="text-43"/>
          <p:cNvSpPr txBox="1"/>
          <p:nvPr/>
        </p:nvSpPr>
        <p:spPr>
          <a:xfrm>
            <a:off x="457200" y="1234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Microsoft 365 Copilotアプリの中で、自然言語または設定画面から、手軽にエージェントを作れる機能</a:t>
            </a:r>
            <a:endParaRPr lang="en-US" sz="1600" dirty="0"/>
          </a:p>
        </p:txBody>
      </p:sp>
      <p:sp>
        <p:nvSpPr>
          <p:cNvPr id="4" name="iconbg-44"/>
          <p:cNvSpPr/>
          <p:nvPr/>
        </p:nvSpPr>
        <p:spPr>
          <a:xfrm>
            <a:off x="45720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45" descr="FaCo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2640330"/>
            <a:ext cx="251460" cy="251460"/>
          </a:xfrm>
          <a:prstGeom prst="rect">
            <a:avLst/>
          </a:prstGeom>
        </p:spPr>
      </p:pic>
      <p:sp>
        <p:nvSpPr>
          <p:cNvPr id="6" name="text-46"/>
          <p:cNvSpPr txBox="1"/>
          <p:nvPr/>
        </p:nvSpPr>
        <p:spPr>
          <a:xfrm>
            <a:off x="1143000" y="25146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コード不要のローコード</a:t>
            </a:r>
            <a:endParaRPr lang="en-US" sz="1400" dirty="0"/>
          </a:p>
        </p:txBody>
      </p:sp>
      <p:sp>
        <p:nvSpPr>
          <p:cNvPr id="7" name="iconbg-47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-48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" y="3326130"/>
            <a:ext cx="251460" cy="251460"/>
          </a:xfrm>
          <a:prstGeom prst="rect">
            <a:avLst/>
          </a:prstGeom>
        </p:spPr>
      </p:pic>
      <p:sp>
        <p:nvSpPr>
          <p:cNvPr id="9" name="text-49"/>
          <p:cNvSpPr txBox="1"/>
          <p:nvPr/>
        </p:nvSpPr>
        <p:spPr>
          <a:xfrm>
            <a:off x="1143000" y="3200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個人〜小規模チーム向け</a:t>
            </a:r>
            <a:endParaRPr lang="en-US" sz="1400" dirty="0"/>
          </a:p>
        </p:txBody>
      </p:sp>
      <p:sp>
        <p:nvSpPr>
          <p:cNvPr id="10" name="iconbg-50"/>
          <p:cNvSpPr/>
          <p:nvPr/>
        </p:nvSpPr>
        <p:spPr>
          <a:xfrm>
            <a:off x="45720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-51" descr="FaSync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4011930"/>
            <a:ext cx="251460" cy="251460"/>
          </a:xfrm>
          <a:prstGeom prst="rect">
            <a:avLst/>
          </a:prstGeom>
        </p:spPr>
      </p:pic>
      <p:sp>
        <p:nvSpPr>
          <p:cNvPr id="12" name="text-52"/>
          <p:cNvSpPr txBox="1"/>
          <p:nvPr/>
        </p:nvSpPr>
        <p:spPr>
          <a:xfrm>
            <a:off x="1143000" y="3886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高度化はCopilot Studioへコピー</a:t>
            </a:r>
            <a:endParaRPr lang="en-US" sz="1400" dirty="0"/>
          </a:p>
        </p:txBody>
      </p:sp>
      <p:sp>
        <p:nvSpPr>
          <p:cNvPr id="13" name="card-53"/>
          <p:cNvSpPr/>
          <p:nvPr/>
        </p:nvSpPr>
        <p:spPr>
          <a:xfrm>
            <a:off x="4754880" y="123444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54"/>
          <p:cNvSpPr txBox="1"/>
          <p:nvPr/>
        </p:nvSpPr>
        <p:spPr>
          <a:xfrm>
            <a:off x="49834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Agent Builder</a:t>
            </a:r>
            <a:endParaRPr lang="en-US" sz="1600" dirty="0"/>
          </a:p>
        </p:txBody>
      </p:sp>
      <p:sp>
        <p:nvSpPr>
          <p:cNvPr id="15" name="text-55"/>
          <p:cNvSpPr txBox="1"/>
          <p:nvPr/>
        </p:nvSpPr>
        <p:spPr>
          <a:xfrm>
            <a:off x="498348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Copilotアプリ内の簡易版（Copilot Studio “lite”）。自分や小さなチーム向け</a:t>
            </a:r>
            <a:endParaRPr lang="en-US" sz="1400" dirty="0"/>
          </a:p>
        </p:txBody>
      </p:sp>
      <p:sp>
        <p:nvSpPr>
          <p:cNvPr id="16" name="card-56"/>
          <p:cNvSpPr/>
          <p:nvPr/>
        </p:nvSpPr>
        <p:spPr>
          <a:xfrm>
            <a:off x="4754880" y="301752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57"/>
          <p:cNvSpPr txBox="1"/>
          <p:nvPr/>
        </p:nvSpPr>
        <p:spPr>
          <a:xfrm>
            <a:off x="4983480" y="3154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Copilot Studio（フル版）</a:t>
            </a:r>
            <a:endParaRPr lang="en-US" sz="1600" dirty="0"/>
          </a:p>
        </p:txBody>
      </p:sp>
      <p:sp>
        <p:nvSpPr>
          <p:cNvPr id="18" name="text-58"/>
          <p:cNvSpPr txBox="1"/>
          <p:nvPr/>
        </p:nvSpPr>
        <p:spPr>
          <a:xfrm>
            <a:off x="4983480" y="35204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共同編集やチャネル展開など高度な機能。必要になったらコピーして発展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作成の5ステップ</a:t>
            </a:r>
            <a:endParaRPr lang="en-US" sz="2800" dirty="0"/>
          </a:p>
        </p:txBody>
      </p:sp>
      <p:sp>
        <p:nvSpPr>
          <p:cNvPr id="3" name="card-59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60"/>
          <p:cNvSpPr txBox="1"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-61"/>
          <p:cNvSpPr txBox="1"/>
          <p:nvPr/>
        </p:nvSpPr>
        <p:spPr>
          <a:xfrm>
            <a:off x="1280160" y="118872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作成を開始</a:t>
            </a:r>
            <a:endParaRPr lang="en-US" sz="1600" dirty="0"/>
          </a:p>
        </p:txBody>
      </p:sp>
      <p:sp>
        <p:nvSpPr>
          <p:cNvPr id="6" name="text-62"/>
          <p:cNvSpPr txBox="1"/>
          <p:nvPr/>
        </p:nvSpPr>
        <p:spPr>
          <a:xfrm>
            <a:off x="3337560" y="1188720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左メニューの「エージェントを作成」を選ぶ</a:t>
            </a:r>
            <a:endParaRPr lang="en-US" sz="1400" dirty="0"/>
          </a:p>
        </p:txBody>
      </p:sp>
      <p:sp>
        <p:nvSpPr>
          <p:cNvPr id="7" name="card-63"/>
          <p:cNvSpPr/>
          <p:nvPr/>
        </p:nvSpPr>
        <p:spPr>
          <a:xfrm>
            <a:off x="457200" y="189280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ircle-64"/>
          <p:cNvSpPr txBox="1"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-65"/>
          <p:cNvSpPr txBox="1"/>
          <p:nvPr/>
        </p:nvSpPr>
        <p:spPr>
          <a:xfrm>
            <a:off x="1280160" y="189280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目的を伝える</a:t>
            </a:r>
            <a:endParaRPr lang="en-US" sz="1600" dirty="0"/>
          </a:p>
        </p:txBody>
      </p:sp>
      <p:sp>
        <p:nvSpPr>
          <p:cNvPr id="10" name="text-66"/>
          <p:cNvSpPr txBox="1"/>
          <p:nvPr/>
        </p:nvSpPr>
        <p:spPr>
          <a:xfrm>
            <a:off x="3337560" y="1892808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やりたいことを自分の言葉で。名前・説明・指示が自動生成</a:t>
            </a:r>
            <a:endParaRPr lang="en-US" sz="1400" dirty="0"/>
          </a:p>
        </p:txBody>
      </p:sp>
      <p:sp>
        <p:nvSpPr>
          <p:cNvPr id="11" name="card-67"/>
          <p:cNvSpPr/>
          <p:nvPr/>
        </p:nvSpPr>
        <p:spPr>
          <a:xfrm>
            <a:off x="457200" y="259689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ircle-68"/>
          <p:cNvSpPr txBox="1"/>
          <p:nvPr/>
        </p:nvSpPr>
        <p:spPr>
          <a:xfrm>
            <a:off x="594360" y="2670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-69"/>
          <p:cNvSpPr txBox="1"/>
          <p:nvPr/>
        </p:nvSpPr>
        <p:spPr>
          <a:xfrm>
            <a:off x="1280160" y="25968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ナレッジを追加</a:t>
            </a:r>
            <a:endParaRPr lang="en-US" sz="1600" dirty="0"/>
          </a:p>
        </p:txBody>
      </p:sp>
      <p:sp>
        <p:nvSpPr>
          <p:cNvPr id="14" name="text-70"/>
          <p:cNvSpPr txBox="1"/>
          <p:nvPr/>
        </p:nvSpPr>
        <p:spPr>
          <a:xfrm>
            <a:off x="3337560" y="2596896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SharePoint・ファイル・Teams・メール・コネクタなど</a:t>
            </a:r>
            <a:endParaRPr lang="en-US" sz="1400" dirty="0"/>
          </a:p>
        </p:txBody>
      </p:sp>
      <p:sp>
        <p:nvSpPr>
          <p:cNvPr id="15" name="card-71"/>
          <p:cNvSpPr/>
          <p:nvPr/>
        </p:nvSpPr>
        <p:spPr>
          <a:xfrm>
            <a:off x="457200" y="33009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ircle-72"/>
          <p:cNvSpPr txBox="1"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-73"/>
          <p:cNvSpPr txBox="1"/>
          <p:nvPr/>
        </p:nvSpPr>
        <p:spPr>
          <a:xfrm>
            <a:off x="1280160" y="3300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構成・テスト</a:t>
            </a:r>
            <a:endParaRPr lang="en-US" sz="1600" dirty="0"/>
          </a:p>
        </p:txBody>
      </p:sp>
      <p:sp>
        <p:nvSpPr>
          <p:cNvPr id="18" name="text-74"/>
          <p:cNvSpPr txBox="1"/>
          <p:nvPr/>
        </p:nvSpPr>
        <p:spPr>
          <a:xfrm>
            <a:off x="3337560" y="3300984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Configureタブで調整し、テスト画面で動作確認</a:t>
            </a:r>
            <a:endParaRPr lang="en-US" sz="1400" dirty="0"/>
          </a:p>
        </p:txBody>
      </p:sp>
      <p:sp>
        <p:nvSpPr>
          <p:cNvPr id="19" name="card-75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le-76"/>
          <p:cNvSpPr txBox="1"/>
          <p:nvPr/>
        </p:nvSpPr>
        <p:spPr>
          <a:xfrm>
            <a:off x="594360" y="407822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-77"/>
          <p:cNvSpPr txBox="1"/>
          <p:nvPr/>
        </p:nvSpPr>
        <p:spPr>
          <a:xfrm>
            <a:off x="1280160" y="400507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作成・共有</a:t>
            </a:r>
            <a:endParaRPr lang="en-US" sz="1600" dirty="0"/>
          </a:p>
        </p:txBody>
      </p:sp>
      <p:sp>
        <p:nvSpPr>
          <p:cNvPr id="22" name="text-78"/>
          <p:cNvSpPr txBox="1"/>
          <p:nvPr/>
        </p:nvSpPr>
        <p:spPr>
          <a:xfrm>
            <a:off x="3337560" y="4005072"/>
            <a:ext cx="5212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右上の「作成」で完成。リンクで共有、または自分だけで利用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押さえておく仕様</a:t>
            </a:r>
            <a:endParaRPr lang="en-US" sz="2800" dirty="0"/>
          </a:p>
        </p:txBody>
      </p:sp>
      <p:sp>
        <p:nvSpPr>
          <p:cNvPr id="3" name="card-79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80"/>
          <p:cNvSpPr txBox="1"/>
          <p:nvPr/>
        </p:nvSpPr>
        <p:spPr>
          <a:xfrm>
            <a:off x="64008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</a:t>
            </a:r>
            <a:endParaRPr lang="en-US" sz="5400" dirty="0"/>
          </a:p>
        </p:txBody>
      </p:sp>
      <p:sp>
        <p:nvSpPr>
          <p:cNvPr id="5" name="text-81"/>
          <p:cNvSpPr txBox="1"/>
          <p:nvPr/>
        </p:nvSpPr>
        <p:spPr>
          <a:xfrm>
            <a:off x="64008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アップロードできるファイル数</a:t>
            </a:r>
            <a:endParaRPr lang="en-US" sz="1400" dirty="0"/>
          </a:p>
        </p:txBody>
      </p:sp>
      <p:sp>
        <p:nvSpPr>
          <p:cNvPr id="6" name="text-82"/>
          <p:cNvSpPr txBox="1"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SharePointは100ファイル、公開Webは4URLまで</a:t>
            </a:r>
            <a:endParaRPr lang="en-US" sz="1200" dirty="0"/>
          </a:p>
        </p:txBody>
      </p:sp>
      <p:sp>
        <p:nvSpPr>
          <p:cNvPr id="7" name="card-83"/>
          <p:cNvSpPr/>
          <p:nvPr/>
        </p:nvSpPr>
        <p:spPr>
          <a:xfrm>
            <a:off x="324612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84"/>
          <p:cNvSpPr txBox="1"/>
          <p:nvPr/>
        </p:nvSpPr>
        <p:spPr>
          <a:xfrm>
            <a:off x="34290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9" name="text-85"/>
          <p:cNvSpPr txBox="1"/>
          <p:nvPr/>
        </p:nvSpPr>
        <p:spPr>
          <a:xfrm>
            <a:off x="342900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テスト画面が有効になる必須項目</a:t>
            </a:r>
            <a:endParaRPr lang="en-US" sz="1400" dirty="0"/>
          </a:p>
        </p:txBody>
      </p:sp>
      <p:sp>
        <p:nvSpPr>
          <p:cNvPr id="10" name="text-86"/>
          <p:cNvSpPr txBox="1"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名前・説明・指示 を入力すると使える</a:t>
            </a:r>
            <a:endParaRPr lang="en-US" sz="1200" dirty="0"/>
          </a:p>
        </p:txBody>
      </p:sp>
      <p:sp>
        <p:nvSpPr>
          <p:cNvPr id="11" name="card-87"/>
          <p:cNvSpPr/>
          <p:nvPr/>
        </p:nvSpPr>
        <p:spPr>
          <a:xfrm>
            <a:off x="6035040" y="123444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88"/>
          <p:cNvSpPr txBox="1"/>
          <p:nvPr/>
        </p:nvSpPr>
        <p:spPr>
          <a:xfrm>
            <a:off x="621792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自動</a:t>
            </a:r>
            <a:endParaRPr lang="en-US" sz="5400" dirty="0"/>
          </a:p>
        </p:txBody>
      </p:sp>
      <p:sp>
        <p:nvSpPr>
          <p:cNvPr id="13" name="text-89"/>
          <p:cNvSpPr txBox="1"/>
          <p:nvPr/>
        </p:nvSpPr>
        <p:spPr>
          <a:xfrm>
            <a:off x="6217920" y="2423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変更は自動で保存</a:t>
            </a:r>
            <a:endParaRPr lang="en-US" sz="1400" dirty="0"/>
          </a:p>
        </p:txBody>
      </p:sp>
      <p:sp>
        <p:nvSpPr>
          <p:cNvPr id="14" name="text-90"/>
          <p:cNvSpPr txBox="1"/>
          <p:nvPr/>
        </p:nvSpPr>
        <p:spPr>
          <a:xfrm>
            <a:off x="621792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名前・説明・指示の更新が自動で反映</a:t>
            </a:r>
            <a:endParaRPr lang="en-US" sz="1200" dirty="0"/>
          </a:p>
        </p:txBody>
      </p:sp>
      <p:sp>
        <p:nvSpPr>
          <p:cNvPr id="15" name="card-91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-92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Describe＝会話で作る ／ Configure＝手動で設定（名前・指示・ナレッジ・プロンプト等）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デモ：PDF比較アナリスト</a:t>
            </a:r>
            <a:endParaRPr lang="en-US" sz="2800" dirty="0"/>
          </a:p>
        </p:txBody>
      </p:sp>
      <p:sp>
        <p:nvSpPr>
          <p:cNvPr id="3" name="card-93"/>
          <p:cNvSpPr/>
          <p:nvPr/>
        </p:nvSpPr>
        <p:spPr>
          <a:xfrm>
            <a:off x="457200" y="128016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94"/>
          <p:cNvSpPr/>
          <p:nvPr/>
        </p:nvSpPr>
        <p:spPr>
          <a:xfrm>
            <a:off x="1280160" y="14173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on-95" descr="FaFile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54480"/>
            <a:ext cx="274320" cy="274320"/>
          </a:xfrm>
          <a:prstGeom prst="rect">
            <a:avLst/>
          </a:prstGeom>
        </p:spPr>
      </p:pic>
      <p:sp>
        <p:nvSpPr>
          <p:cNvPr id="6" name="text-96"/>
          <p:cNvSpPr txBox="1"/>
          <p:nvPr/>
        </p:nvSpPr>
        <p:spPr>
          <a:xfrm>
            <a:off x="54864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PDF 2つ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旧版 と 新版</a:t>
            </a:r>
            <a:endParaRPr lang="en-US" sz="1400" dirty="0"/>
          </a:p>
        </p:txBody>
      </p:sp>
      <p:sp>
        <p:nvSpPr>
          <p:cNvPr id="7" name="arrow-97"/>
          <p:cNvSpPr txBox="1"/>
          <p:nvPr/>
        </p:nvSpPr>
        <p:spPr>
          <a:xfrm>
            <a:off x="26974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▶</a:t>
            </a:r>
            <a:endParaRPr lang="en-US" sz="2000" dirty="0"/>
          </a:p>
        </p:txBody>
      </p:sp>
      <p:sp>
        <p:nvSpPr>
          <p:cNvPr id="8" name="card-98"/>
          <p:cNvSpPr/>
          <p:nvPr/>
        </p:nvSpPr>
        <p:spPr>
          <a:xfrm>
            <a:off x="3200400" y="1280160"/>
            <a:ext cx="274320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99"/>
          <p:cNvSpPr/>
          <p:nvPr/>
        </p:nvSpPr>
        <p:spPr>
          <a:xfrm>
            <a:off x="416052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00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274320" cy="274320"/>
          </a:xfrm>
          <a:prstGeom prst="rect">
            <a:avLst/>
          </a:prstGeom>
        </p:spPr>
      </p:pic>
      <p:sp>
        <p:nvSpPr>
          <p:cNvPr id="11" name="text-101"/>
          <p:cNvSpPr txBox="1"/>
          <p:nvPr/>
        </p:nvSpPr>
        <p:spPr>
          <a:xfrm>
            <a:off x="3291840" y="21031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PDF比較アナリスト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（エージェント）</a:t>
            </a:r>
            <a:endParaRPr lang="en-US" sz="1400" dirty="0"/>
          </a:p>
        </p:txBody>
      </p:sp>
      <p:sp>
        <p:nvSpPr>
          <p:cNvPr id="12" name="arrow-102"/>
          <p:cNvSpPr txBox="1"/>
          <p:nvPr/>
        </p:nvSpPr>
        <p:spPr>
          <a:xfrm>
            <a:off x="5989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▶</a:t>
            </a:r>
            <a:endParaRPr lang="en-US" sz="2000" dirty="0"/>
          </a:p>
        </p:txBody>
      </p:sp>
      <p:sp>
        <p:nvSpPr>
          <p:cNvPr id="13" name="card-103"/>
          <p:cNvSpPr/>
          <p:nvPr/>
        </p:nvSpPr>
        <p:spPr>
          <a:xfrm>
            <a:off x="6492240" y="1280160"/>
            <a:ext cx="21945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104"/>
          <p:cNvSpPr/>
          <p:nvPr/>
        </p:nvSpPr>
        <p:spPr>
          <a:xfrm>
            <a:off x="7315200" y="1417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-105" descr="FaTa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54480"/>
            <a:ext cx="274320" cy="274320"/>
          </a:xfrm>
          <a:prstGeom prst="rect">
            <a:avLst/>
          </a:prstGeom>
        </p:spPr>
      </p:pic>
      <p:sp>
        <p:nvSpPr>
          <p:cNvPr id="16" name="text-106"/>
          <p:cNvSpPr txBox="1"/>
          <p:nvPr/>
        </p:nvSpPr>
        <p:spPr>
          <a:xfrm>
            <a:off x="658368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差分表・影響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要確認事項</a:t>
            </a:r>
            <a:endParaRPr lang="en-US" sz="1400" dirty="0"/>
          </a:p>
        </p:txBody>
      </p:sp>
      <p:sp>
        <p:nvSpPr>
          <p:cNvPr id="17" name="text-107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比較の観点と出力形式を指示文に固定 → 毎回同じ品質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目視比較の見落とし・手間を減らせる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使うのは架空の契約書（旧/新）と見積書（A案/B案）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デモ①：作成画面とDescribe</a:t>
            </a:r>
            <a:endParaRPr lang="en-US" sz="2800" dirty="0"/>
          </a:p>
        </p:txBody>
      </p:sp>
      <p:sp>
        <p:nvSpPr>
          <p:cNvPr id="3" name="circle-108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109"/>
          <p:cNvSpPr txBox="1"/>
          <p:nvPr/>
        </p:nvSpPr>
        <p:spPr>
          <a:xfrm>
            <a:off x="1097280" y="1234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左メニュー →「エージェントを作成」</a:t>
            </a:r>
            <a:endParaRPr lang="en-US" sz="1400" dirty="0"/>
          </a:p>
        </p:txBody>
      </p:sp>
      <p:sp>
        <p:nvSpPr>
          <p:cNvPr id="5" name="circle-110"/>
          <p:cNvSpPr txBox="1"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111"/>
          <p:cNvSpPr txBox="1"/>
          <p:nvPr/>
        </p:nvSpPr>
        <p:spPr>
          <a:xfrm>
            <a:off x="1097280" y="2011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Describeタブに目的を貼り付け</a:t>
            </a:r>
            <a:endParaRPr lang="en-US" sz="1400" dirty="0"/>
          </a:p>
        </p:txBody>
      </p:sp>
      <p:sp>
        <p:nvSpPr>
          <p:cNvPr id="7" name="circle-112"/>
          <p:cNvSpPr txBox="1"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113"/>
          <p:cNvSpPr txBox="1"/>
          <p:nvPr/>
        </p:nvSpPr>
        <p:spPr>
          <a:xfrm>
            <a:off x="109728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名前・説明・指示が自動生成される</a:t>
            </a:r>
            <a:endParaRPr lang="en-US" sz="1400" dirty="0"/>
          </a:p>
        </p:txBody>
      </p:sp>
      <p:sp>
        <p:nvSpPr>
          <p:cNvPr id="9" name="circle-114"/>
          <p:cNvSpPr txBox="1"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115"/>
          <p:cNvSpPr txBox="1"/>
          <p:nvPr/>
        </p:nvSpPr>
        <p:spPr>
          <a:xfrm>
            <a:off x="1097280" y="3566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まずは叩き台でOK。次で整える</a:t>
            </a:r>
            <a:endParaRPr lang="en-US" sz="1400" dirty="0"/>
          </a:p>
        </p:txBody>
      </p:sp>
      <p:sp>
        <p:nvSpPr>
          <p:cNvPr id="11" name="card-116"/>
          <p:cNvSpPr/>
          <p:nvPr/>
        </p:nvSpPr>
        <p:spPr>
          <a:xfrm>
            <a:off x="4663440" y="123444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-117"/>
          <p:cNvSpPr txBox="1"/>
          <p:nvPr/>
        </p:nvSpPr>
        <p:spPr>
          <a:xfrm>
            <a:off x="48920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2"/>
                </a:solidFill>
              </a:rPr>
              <a:t>Describeタブに入力</a:t>
            </a:r>
            <a:endParaRPr lang="en-US" sz="1200" dirty="0"/>
          </a:p>
        </p:txBody>
      </p:sp>
      <p:sp>
        <p:nvSpPr>
          <p:cNvPr id="13" name="text-118"/>
          <p:cNvSpPr txBox="1"/>
          <p:nvPr/>
        </p:nvSpPr>
        <p:spPr>
          <a:xfrm>
            <a:off x="4892040" y="182880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「2つのPDFを比較して、変更点と影響を整理するアナリストを作りたい。差分は表で、根拠のページや条番号も示して。推測はしないで」</a:t>
            </a:r>
            <a:endParaRPr lang="en-US" sz="1600" dirty="0"/>
          </a:p>
        </p:txBody>
      </p:sp>
      <p:sp>
        <p:nvSpPr>
          <p:cNvPr id="14" name="text-119"/>
          <p:cNvSpPr txBox="1"/>
          <p:nvPr/>
        </p:nvSpPr>
        <p:spPr>
          <a:xfrm>
            <a:off x="489204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※全文は配布ファイル「02_デモ用プロンプト集」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デモ②：指示文を整える</a:t>
            </a:r>
            <a:endParaRPr lang="en-US" sz="2800" dirty="0"/>
          </a:p>
        </p:txBody>
      </p:sp>
      <p:sp>
        <p:nvSpPr>
          <p:cNvPr id="3" name="card-120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ip-121"/>
          <p:cNvSpPr txBox="1"/>
          <p:nvPr/>
        </p:nvSpPr>
        <p:spPr>
          <a:xfrm>
            <a:off x="640080" y="132588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役割</a:t>
            </a:r>
            <a:endParaRPr lang="en-US" sz="1400" dirty="0"/>
          </a:p>
        </p:txBody>
      </p:sp>
      <p:sp>
        <p:nvSpPr>
          <p:cNvPr id="5" name="text-122"/>
          <p:cNvSpPr txBox="1"/>
          <p:nvPr/>
        </p:nvSpPr>
        <p:spPr>
          <a:xfrm>
            <a:off x="64008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PDF比較アナリスト。旧/新の差異と影響を正確に整理する</a:t>
            </a:r>
            <a:endParaRPr lang="en-US" sz="1400" dirty="0"/>
          </a:p>
        </p:txBody>
      </p:sp>
      <p:sp>
        <p:nvSpPr>
          <p:cNvPr id="6" name="card-123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ip-124"/>
          <p:cNvSpPr txBox="1"/>
          <p:nvPr/>
        </p:nvSpPr>
        <p:spPr>
          <a:xfrm>
            <a:off x="4846320" y="132588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手順</a:t>
            </a:r>
            <a:endParaRPr lang="en-US" sz="1400" dirty="0"/>
          </a:p>
        </p:txBody>
      </p:sp>
      <p:sp>
        <p:nvSpPr>
          <p:cNvPr id="8" name="text-125"/>
          <p:cNvSpPr txBox="1"/>
          <p:nvPr/>
        </p:nvSpPr>
        <p:spPr>
          <a:xfrm>
            <a:off x="4846320" y="175564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2つのPDFを特定 → 基準と比較対象を確認 → 追加・削除・変更・数値・意味の変化を比較 → 根拠を示す</a:t>
            </a:r>
            <a:endParaRPr lang="en-US" sz="1400" dirty="0"/>
          </a:p>
        </p:txBody>
      </p:sp>
      <p:sp>
        <p:nvSpPr>
          <p:cNvPr id="9" name="card-126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hip-127"/>
          <p:cNvSpPr txBox="1"/>
          <p:nvPr/>
        </p:nvSpPr>
        <p:spPr>
          <a:xfrm>
            <a:off x="640080" y="297180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出力形式</a:t>
            </a:r>
            <a:endParaRPr lang="en-US" sz="1400" dirty="0"/>
          </a:p>
        </p:txBody>
      </p:sp>
      <p:sp>
        <p:nvSpPr>
          <p:cNvPr id="11" name="text-128"/>
          <p:cNvSpPr txBox="1"/>
          <p:nvPr/>
        </p:nvSpPr>
        <p:spPr>
          <a:xfrm>
            <a:off x="640080" y="34015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要約 → 差分一覧（表）→ 影響と注意点 → 要確認事項</a:t>
            </a:r>
            <a:endParaRPr lang="en-US" sz="1400" dirty="0"/>
          </a:p>
        </p:txBody>
      </p:sp>
      <p:sp>
        <p:nvSpPr>
          <p:cNvPr id="12" name="card-129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hip-130"/>
          <p:cNvSpPr txBox="1"/>
          <p:nvPr/>
        </p:nvSpPr>
        <p:spPr>
          <a:xfrm>
            <a:off x="4846320" y="2971800"/>
            <a:ext cx="1097280" cy="329184"/>
          </a:xfrm>
          <a:prstGeom prst="roundRect">
            <a:avLst>
              <a:gd name="adj" fmla="val 2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ルール</a:t>
            </a:r>
            <a:endParaRPr lang="en-US" sz="1400" dirty="0"/>
          </a:p>
        </p:txBody>
      </p:sp>
      <p:sp>
        <p:nvSpPr>
          <p:cNvPr id="14" name="text-131"/>
          <p:cNvSpPr txBox="1"/>
          <p:nvPr/>
        </p:nvSpPr>
        <p:spPr>
          <a:xfrm>
            <a:off x="4846320" y="34015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推測しない／記載がなければ「記載なし」／重要な変更を先に／日本語</a:t>
            </a:r>
            <a:endParaRPr lang="en-US" sz="1400" dirty="0"/>
          </a:p>
        </p:txBody>
      </p:sp>
      <p:sp>
        <p:nvSpPr>
          <p:cNvPr id="15" name="text-132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全文は配布ファイル「01_エージェント設定（コピペ用）」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指示文を書くコツ</a:t>
            </a:r>
            <a:endParaRPr lang="en-US" sz="2800" dirty="0"/>
          </a:p>
        </p:txBody>
      </p:sp>
      <p:sp>
        <p:nvSpPr>
          <p:cNvPr id="3" name="card-133"/>
          <p:cNvSpPr/>
          <p:nvPr/>
        </p:nvSpPr>
        <p:spPr>
          <a:xfrm>
            <a:off x="457200" y="123444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134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35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6" name="text-136"/>
          <p:cNvSpPr txBox="1"/>
          <p:nvPr/>
        </p:nvSpPr>
        <p:spPr>
          <a:xfrm>
            <a:off x="1463040" y="12344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役割 → 手順 → 出力形式 → ルール の順に書く</a:t>
            </a:r>
            <a:endParaRPr lang="en-US" sz="1600" dirty="0"/>
          </a:p>
        </p:txBody>
      </p:sp>
      <p:sp>
        <p:nvSpPr>
          <p:cNvPr id="7" name="card-137"/>
          <p:cNvSpPr/>
          <p:nvPr/>
        </p:nvSpPr>
        <p:spPr>
          <a:xfrm>
            <a:off x="457200" y="2075688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bg-138"/>
          <p:cNvSpPr/>
          <p:nvPr/>
        </p:nvSpPr>
        <p:spPr>
          <a:xfrm>
            <a:off x="640080" y="216712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-139" descr="FaT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04288"/>
            <a:ext cx="274320" cy="274320"/>
          </a:xfrm>
          <a:prstGeom prst="rect">
            <a:avLst/>
          </a:prstGeom>
        </p:spPr>
      </p:pic>
      <p:sp>
        <p:nvSpPr>
          <p:cNvPr id="10" name="text-140"/>
          <p:cNvSpPr txBox="1"/>
          <p:nvPr/>
        </p:nvSpPr>
        <p:spPr>
          <a:xfrm>
            <a:off x="1463040" y="207568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出力は「表」など具体的な形で指定する</a:t>
            </a:r>
            <a:endParaRPr lang="en-US" sz="1600" dirty="0"/>
          </a:p>
        </p:txBody>
      </p:sp>
      <p:sp>
        <p:nvSpPr>
          <p:cNvPr id="11" name="card-141"/>
          <p:cNvSpPr/>
          <p:nvPr/>
        </p:nvSpPr>
        <p:spPr>
          <a:xfrm>
            <a:off x="457200" y="2916936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bg-142"/>
          <p:cNvSpPr/>
          <p:nvPr/>
        </p:nvSpPr>
        <p:spPr>
          <a:xfrm>
            <a:off x="640080" y="300837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143" descr="Fa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45536"/>
            <a:ext cx="274320" cy="274320"/>
          </a:xfrm>
          <a:prstGeom prst="rect">
            <a:avLst/>
          </a:prstGeom>
        </p:spPr>
      </p:pic>
      <p:sp>
        <p:nvSpPr>
          <p:cNvPr id="14" name="text-144"/>
          <p:cNvSpPr txBox="1"/>
          <p:nvPr/>
        </p:nvSpPr>
        <p:spPr>
          <a:xfrm>
            <a:off x="1463040" y="2916936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「やらないこと」を書く（推測禁止・根拠を示す）</a:t>
            </a:r>
            <a:endParaRPr lang="en-US" sz="1600" dirty="0"/>
          </a:p>
        </p:txBody>
      </p:sp>
      <p:sp>
        <p:nvSpPr>
          <p:cNvPr id="15" name="card-145"/>
          <p:cNvSpPr/>
          <p:nvPr/>
        </p:nvSpPr>
        <p:spPr>
          <a:xfrm>
            <a:off x="457200" y="3758184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bg-146"/>
          <p:cNvSpPr/>
          <p:nvPr/>
        </p:nvSpPr>
        <p:spPr>
          <a:xfrm>
            <a:off x="640080" y="384962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con-147" descr="FaSync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86784"/>
            <a:ext cx="274320" cy="274320"/>
          </a:xfrm>
          <a:prstGeom prst="rect">
            <a:avLst/>
          </a:prstGeom>
        </p:spPr>
      </p:pic>
      <p:sp>
        <p:nvSpPr>
          <p:cNvPr id="18" name="text-148"/>
          <p:cNvSpPr txBox="1"/>
          <p:nvPr/>
        </p:nvSpPr>
        <p:spPr>
          <a:xfrm>
            <a:off x="1463040" y="375818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完璧を目指さず、テスト → 修正を繰り返す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デモ③：ナレッジの設計</a:t>
            </a:r>
            <a:endParaRPr lang="en-US" sz="2800" dirty="0"/>
          </a:p>
        </p:txBody>
      </p:sp>
      <p:sp>
        <p:nvSpPr>
          <p:cNvPr id="3" name="card-149"/>
          <p:cNvSpPr/>
          <p:nvPr/>
        </p:nvSpPr>
        <p:spPr>
          <a:xfrm>
            <a:off x="45720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150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151" descr="FaBook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-152"/>
          <p:cNvSpPr txBox="1"/>
          <p:nvPr/>
        </p:nvSpPr>
        <p:spPr>
          <a:xfrm>
            <a:off x="137160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エージェントに固定で持たせる</a:t>
            </a:r>
            <a:endParaRPr lang="en-US" sz="1600" dirty="0"/>
          </a:p>
        </p:txBody>
      </p:sp>
      <p:sp>
        <p:nvSpPr>
          <p:cNvPr id="7" name="text-153"/>
          <p:cNvSpPr txBox="1"/>
          <p:nvPr/>
        </p:nvSpPr>
        <p:spPr>
          <a:xfrm>
            <a:off x="640080" y="21031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契約審査ガイドライン（社内基準）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比較観点チェックリスト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社内用語集</a:t>
            </a:r>
            <a:endParaRPr lang="en-US" sz="1400" dirty="0"/>
          </a:p>
        </p:txBody>
      </p:sp>
      <p:sp>
        <p:nvSpPr>
          <p:cNvPr id="8" name="card-154"/>
          <p:cNvSpPr/>
          <p:nvPr/>
        </p:nvSpPr>
        <p:spPr>
          <a:xfrm>
            <a:off x="4663440" y="1234440"/>
            <a:ext cx="4023360" cy="251460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155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56" descr="FaFilePd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1" name="text-157"/>
          <p:cNvSpPr txBox="1"/>
          <p:nvPr/>
        </p:nvSpPr>
        <p:spPr>
          <a:xfrm>
            <a:off x="55778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毎回チャットに添付する</a:t>
            </a:r>
            <a:endParaRPr lang="en-US" sz="1600" dirty="0"/>
          </a:p>
        </p:txBody>
      </p:sp>
      <p:sp>
        <p:nvSpPr>
          <p:cNvPr id="12" name="text-158"/>
          <p:cNvSpPr txBox="1"/>
          <p:nvPr/>
        </p:nvSpPr>
        <p:spPr>
          <a:xfrm>
            <a:off x="4846320" y="21031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今回比較したい2つのPDF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毎回変わる資料はナレッジに入れない</a:t>
            </a:r>
            <a:endParaRPr lang="en-US" sz="1400" dirty="0"/>
          </a:p>
        </p:txBody>
      </p:sp>
      <p:sp>
        <p:nvSpPr>
          <p:cNvPr id="13" name="card-159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160"/>
          <p:cNvSpPr txBox="1"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アップロードは20ファイルまで。SharePointは本人の権限・秘密度ラベルの範囲で参照される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デモ④：スキルを追加する</a:t>
            </a:r>
            <a:endParaRPr lang="en-US" sz="2800" dirty="0"/>
          </a:p>
        </p:txBody>
      </p:sp>
      <p:sp>
        <p:nvSpPr>
          <p:cNvPr id="3" name="card-161"/>
          <p:cNvSpPr/>
          <p:nvPr/>
        </p:nvSpPr>
        <p:spPr>
          <a:xfrm>
            <a:off x="457200" y="123444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rcle-162"/>
          <p:cNvSpPr txBox="1"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63"/>
          <p:cNvSpPr txBox="1"/>
          <p:nvPr/>
        </p:nvSpPr>
        <p:spPr>
          <a:xfrm>
            <a:off x="1234440" y="12344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SKILL.md を作る（name・description付き）</a:t>
            </a:r>
            <a:endParaRPr lang="en-US" sz="1400" dirty="0"/>
          </a:p>
        </p:txBody>
      </p:sp>
      <p:sp>
        <p:nvSpPr>
          <p:cNvPr id="6" name="card-164"/>
          <p:cNvSpPr/>
          <p:nvPr/>
        </p:nvSpPr>
        <p:spPr>
          <a:xfrm>
            <a:off x="457200" y="214884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ircle-165"/>
          <p:cNvSpPr txBox="1"/>
          <p:nvPr/>
        </p:nvSpPr>
        <p:spPr>
          <a:xfrm>
            <a:off x="594360" y="23042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-166"/>
          <p:cNvSpPr txBox="1"/>
          <p:nvPr/>
        </p:nvSpPr>
        <p:spPr>
          <a:xfrm>
            <a:off x="1234440" y="21488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ZIPにする（SKILL.mdは直下に置く）</a:t>
            </a:r>
            <a:endParaRPr lang="en-US" sz="1400" dirty="0"/>
          </a:p>
        </p:txBody>
      </p:sp>
      <p:sp>
        <p:nvSpPr>
          <p:cNvPr id="9" name="card-167"/>
          <p:cNvSpPr/>
          <p:nvPr/>
        </p:nvSpPr>
        <p:spPr>
          <a:xfrm>
            <a:off x="457200" y="3063240"/>
            <a:ext cx="411480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le-168"/>
          <p:cNvSpPr txBox="1"/>
          <p:nvPr/>
        </p:nvSpPr>
        <p:spPr>
          <a:xfrm>
            <a:off x="594360" y="32186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169"/>
          <p:cNvSpPr txBox="1"/>
          <p:nvPr/>
        </p:nvSpPr>
        <p:spPr>
          <a:xfrm>
            <a:off x="1234440" y="30632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Skills →「Add」でアップロード</a:t>
            </a:r>
            <a:endParaRPr lang="en-US" sz="1400" dirty="0"/>
          </a:p>
        </p:txBody>
      </p:sp>
      <p:sp>
        <p:nvSpPr>
          <p:cNvPr id="12" name="card-170"/>
          <p:cNvSpPr/>
          <p:nvPr/>
        </p:nvSpPr>
        <p:spPr>
          <a:xfrm>
            <a:off x="4846320" y="1234440"/>
            <a:ext cx="38404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171"/>
          <p:cNvSpPr txBox="1"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指示</a:t>
            </a:r>
            <a:endParaRPr lang="en-US" sz="1600" dirty="0"/>
          </a:p>
        </p:txBody>
      </p:sp>
      <p:sp>
        <p:nvSpPr>
          <p:cNvPr id="14" name="text-172"/>
          <p:cNvSpPr txBox="1"/>
          <p:nvPr/>
        </p:nvSpPr>
        <p:spPr>
          <a:xfrm>
            <a:off x="502920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常に読み込む共通ルール。短く保つ</a:t>
            </a:r>
            <a:endParaRPr lang="en-US" sz="1400" dirty="0"/>
          </a:p>
        </p:txBody>
      </p:sp>
      <p:sp>
        <p:nvSpPr>
          <p:cNvPr id="15" name="card-173"/>
          <p:cNvSpPr/>
          <p:nvPr/>
        </p:nvSpPr>
        <p:spPr>
          <a:xfrm>
            <a:off x="4846320" y="2606040"/>
            <a:ext cx="384048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174"/>
          <p:cNvSpPr txBox="1"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スキル</a:t>
            </a:r>
            <a:endParaRPr lang="en-US" sz="1600" dirty="0"/>
          </a:p>
        </p:txBody>
      </p:sp>
      <p:sp>
        <p:nvSpPr>
          <p:cNvPr id="17" name="text-175"/>
          <p:cNvSpPr txBox="1"/>
          <p:nvPr/>
        </p:nvSpPr>
        <p:spPr>
          <a:xfrm>
            <a:off x="5029200" y="3063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依頼に合うときだけ読み込む専門手順</a:t>
            </a:r>
            <a:endParaRPr lang="en-US" sz="1400" dirty="0"/>
          </a:p>
        </p:txBody>
      </p:sp>
      <p:sp>
        <p:nvSpPr>
          <p:cNvPr id="18" name="card-17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17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1エージェントに最大8個、ZIPは50MBまで。プレビュー提供のため、自分の環境で表示されるか事前に確認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デモ⑤：スタータープロンプト</a:t>
            </a:r>
            <a:endParaRPr lang="en-US" sz="2800" dirty="0"/>
          </a:p>
        </p:txBody>
      </p:sp>
      <p:sp>
        <p:nvSpPr>
          <p:cNvPr id="3" name="prompt-178"/>
          <p:cNvSpPr txBox="1"/>
          <p:nvPr/>
        </p:nvSpPr>
        <p:spPr>
          <a:xfrm>
            <a:off x="457200" y="11887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変更点を一覧表で出してください</a:t>
            </a:r>
            <a:endParaRPr lang="en-US" sz="1400" dirty="0"/>
          </a:p>
        </p:txBody>
      </p:sp>
      <p:sp>
        <p:nvSpPr>
          <p:cNvPr id="4" name="prompt-179"/>
          <p:cNvSpPr txBox="1"/>
          <p:nvPr/>
        </p:nvSpPr>
        <p:spPr>
          <a:xfrm>
            <a:off x="457200" y="18745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金額・期限・責任範囲に関わる変更だけを抽出してください</a:t>
            </a:r>
            <a:endParaRPr lang="en-US" sz="1400" dirty="0"/>
          </a:p>
        </p:txBody>
      </p:sp>
      <p:sp>
        <p:nvSpPr>
          <p:cNvPr id="5" name="prompt-180"/>
          <p:cNvSpPr txBox="1"/>
          <p:nvPr/>
        </p:nvSpPr>
        <p:spPr>
          <a:xfrm>
            <a:off x="457200" y="25603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新たに追加された条項とそのリスクを教えてください</a:t>
            </a:r>
            <a:endParaRPr lang="en-US" sz="1400" dirty="0"/>
          </a:p>
        </p:txBody>
      </p:sp>
      <p:sp>
        <p:nvSpPr>
          <p:cNvPr id="6" name="prompt-181"/>
          <p:cNvSpPr txBox="1"/>
          <p:nvPr/>
        </p:nvSpPr>
        <p:spPr>
          <a:xfrm>
            <a:off x="457200" y="32461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経営層向けに5行で要約してください</a:t>
            </a:r>
            <a:endParaRPr lang="en-US" sz="1400" dirty="0"/>
          </a:p>
        </p:txBody>
      </p:sp>
      <p:sp>
        <p:nvSpPr>
          <p:cNvPr id="7" name="prompt-182"/>
          <p:cNvSpPr txBox="1"/>
          <p:nvPr/>
        </p:nvSpPr>
        <p:spPr>
          <a:xfrm>
            <a:off x="457200" y="3931920"/>
            <a:ext cx="5486400" cy="566928"/>
          </a:xfrm>
          <a:prstGeom prst="roundRect">
            <a:avLst>
              <a:gd name="adj" fmla="val 32258"/>
            </a:avLst>
          </a:prstGeom>
          <a:solidFill>
            <a:schemeClr val="bg2"/>
          </a:solidFill>
          <a:ln/>
        </p:spPr>
        <p:txBody>
          <a:bodyPr wrap="square" lIns="0" tIns="2540" rIns="254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確認が必要な点をチェックリストにしてください</a:t>
            </a:r>
            <a:endParaRPr lang="en-US" sz="1400" dirty="0"/>
          </a:p>
        </p:txBody>
      </p:sp>
      <p:sp>
        <p:nvSpPr>
          <p:cNvPr id="8" name="card-183"/>
          <p:cNvSpPr/>
          <p:nvPr/>
        </p:nvSpPr>
        <p:spPr>
          <a:xfrm>
            <a:off x="6217920" y="1188720"/>
            <a:ext cx="2468880" cy="333756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184"/>
          <p:cNvSpPr/>
          <p:nvPr/>
        </p:nvSpPr>
        <p:spPr>
          <a:xfrm>
            <a:off x="7132320" y="1371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185" descr="FaCom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2340" y="1531620"/>
            <a:ext cx="320040" cy="320040"/>
          </a:xfrm>
          <a:prstGeom prst="rect">
            <a:avLst/>
          </a:prstGeom>
        </p:spPr>
      </p:pic>
      <p:sp>
        <p:nvSpPr>
          <p:cNvPr id="11" name="text-186"/>
          <p:cNvSpPr txBox="1"/>
          <p:nvPr/>
        </p:nvSpPr>
        <p:spPr>
          <a:xfrm>
            <a:off x="6400800" y="219456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ボタンのように使える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初めての人でも迷わず使える入口になる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デモ⑥：テストで確認</a:t>
            </a:r>
            <a:endParaRPr lang="en-US" sz="2800" dirty="0"/>
          </a:p>
        </p:txBody>
      </p:sp>
      <p:graphicFrame>
        <p:nvGraphicFramePr>
          <p:cNvPr id="16" name="resu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5544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旧版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新版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種別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契約期間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1年間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2年間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支払期限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翌月末日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翌々月末日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再委託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事前承諾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通知のみ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変更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競業避止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あり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</a:rPr>
                        <a:t>削除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反社排除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あり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追加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187"/>
          <p:cNvSpPr txBox="1"/>
          <p:nvPr/>
        </p:nvSpPr>
        <p:spPr>
          <a:xfrm>
            <a:off x="45720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期待される出力の例（全10件の正解は配布ファイル03）</a:t>
            </a:r>
            <a:endParaRPr lang="en-US" sz="1000" dirty="0"/>
          </a:p>
        </p:txBody>
      </p:sp>
      <p:sp>
        <p:nvSpPr>
          <p:cNvPr id="5" name="card-188"/>
          <p:cNvSpPr/>
          <p:nvPr/>
        </p:nvSpPr>
        <p:spPr>
          <a:xfrm>
            <a:off x="6126480" y="1234440"/>
            <a:ext cx="2560320" cy="33375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189"/>
          <p:cNvSpPr txBox="1"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確認ポイント</a:t>
            </a:r>
            <a:endParaRPr lang="en-US" sz="1400" dirty="0"/>
          </a:p>
        </p:txBody>
      </p:sp>
      <p:sp>
        <p:nvSpPr>
          <p:cNvPr id="7" name="text-190"/>
          <p:cNvSpPr txBox="1"/>
          <p:nvPr/>
        </p:nvSpPr>
        <p:spPr>
          <a:xfrm>
            <a:off x="6309360" y="178308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根拠（条番号・ページ）が付くか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変更のない条項を「変更」と言っていないか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旧い条番号のまま答えていないか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テスト → 改善のサイクル</a:t>
            </a:r>
            <a:endParaRPr lang="en-US" sz="2800" dirty="0"/>
          </a:p>
        </p:txBody>
      </p:sp>
      <p:graphicFrame>
        <p:nvGraphicFramePr>
          <p:cNvPr id="17" name="improv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出た症状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指示文の改善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差分の見落とし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比較観点を追記（数値・日付・条件）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根拠ページが出ない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「条番号またはページを必ず示す」を強調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出力形式が毎回違う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表の列名まで固定する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推測が混ざる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「記載がなければ『記載なし』」を明記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長くて読みにくい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要約の行数・文字数の上限を指定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d-191"/>
          <p:cNvSpPr/>
          <p:nvPr/>
        </p:nvSpPr>
        <p:spPr>
          <a:xfrm>
            <a:off x="457200" y="4389120"/>
            <a:ext cx="8229600" cy="320040"/>
          </a:xfrm>
          <a:prstGeom prst="roundRect">
            <a:avLst>
              <a:gd name="adj" fmla="val 3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92"/>
          <p:cNvSpPr txBox="1"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デモのコツ：指示文の1行をわざと消してテスト → 戻して再テストで「指示の効果」を見せる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作成して共有する</a:t>
            </a:r>
            <a:endParaRPr lang="en-US" sz="2800" dirty="0"/>
          </a:p>
        </p:txBody>
      </p:sp>
      <p:sp>
        <p:nvSpPr>
          <p:cNvPr id="3" name="circle-193"/>
          <p:cNvSpPr txBox="1"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194"/>
          <p:cNvSpPr txBox="1"/>
          <p:nvPr/>
        </p:nvSpPr>
        <p:spPr>
          <a:xfrm>
            <a:off x="1097280" y="1234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「作成」で完成（最初は自分専用）</a:t>
            </a:r>
            <a:endParaRPr lang="en-US" sz="1400" dirty="0"/>
          </a:p>
        </p:txBody>
      </p:sp>
      <p:sp>
        <p:nvSpPr>
          <p:cNvPr id="5" name="circle-195"/>
          <p:cNvSpPr txBox="1"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196"/>
          <p:cNvSpPr txBox="1"/>
          <p:nvPr/>
        </p:nvSpPr>
        <p:spPr>
          <a:xfrm>
            <a:off x="1097280" y="2057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「共有」から相手を指定してリンク発行</a:t>
            </a:r>
            <a:endParaRPr lang="en-US" sz="1400" dirty="0"/>
          </a:p>
        </p:txBody>
      </p:sp>
      <p:sp>
        <p:nvSpPr>
          <p:cNvPr id="7" name="circle-197"/>
          <p:cNvSpPr txBox="1"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198"/>
          <p:cNvSpPr txBox="1"/>
          <p:nvPr/>
        </p:nvSpPr>
        <p:spPr>
          <a:xfrm>
            <a:off x="1097280" y="2880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相手がリンクを開いて確認し、追加</a:t>
            </a:r>
            <a:endParaRPr lang="en-US" sz="1400" dirty="0"/>
          </a:p>
        </p:txBody>
      </p:sp>
      <p:sp>
        <p:nvSpPr>
          <p:cNvPr id="9" name="circle-199"/>
          <p:cNvSpPr txBox="1"/>
          <p:nvPr/>
        </p:nvSpPr>
        <p:spPr>
          <a:xfrm>
            <a:off x="45720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200"/>
          <p:cNvSpPr txBox="1"/>
          <p:nvPr/>
        </p:nvSpPr>
        <p:spPr>
          <a:xfrm>
            <a:off x="1097280" y="37033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右側のレール、または @メンション で呼び出す</a:t>
            </a:r>
            <a:endParaRPr lang="en-US" sz="1400" dirty="0"/>
          </a:p>
        </p:txBody>
      </p:sp>
      <p:sp>
        <p:nvSpPr>
          <p:cNvPr id="11" name="card-201"/>
          <p:cNvSpPr/>
          <p:nvPr/>
        </p:nvSpPr>
        <p:spPr>
          <a:xfrm>
            <a:off x="539496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202"/>
          <p:cNvSpPr txBox="1"/>
          <p:nvPr/>
        </p:nvSpPr>
        <p:spPr>
          <a:xfrm>
            <a:off x="5577840" y="1371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利用イメージ</a:t>
            </a:r>
            <a:endParaRPr lang="en-US" sz="1200" dirty="0"/>
          </a:p>
        </p:txBody>
      </p:sp>
      <p:sp>
        <p:nvSpPr>
          <p:cNvPr id="13" name="bubble-203"/>
          <p:cNvSpPr txBox="1"/>
          <p:nvPr/>
        </p:nvSpPr>
        <p:spPr>
          <a:xfrm>
            <a:off x="5577840" y="1783080"/>
            <a:ext cx="2926080" cy="1005840"/>
          </a:xfrm>
          <a:prstGeom prst="roundRect">
            <a:avLst>
              <a:gd name="adj" fmla="val 13636"/>
            </a:avLst>
          </a:prstGeom>
          <a:solidFill>
            <a:schemeClr val="accent1"/>
          </a:solidFill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@PDF比較アナリスト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添付した2つのPDFを比較してください</a:t>
            </a:r>
            <a:endParaRPr lang="en-US" sz="1400" dirty="0"/>
          </a:p>
        </p:txBody>
      </p:sp>
      <p:sp>
        <p:nvSpPr>
          <p:cNvPr id="14" name="bubble-204"/>
          <p:cNvSpPr txBox="1"/>
          <p:nvPr/>
        </p:nvSpPr>
        <p:spPr>
          <a:xfrm>
            <a:off x="5577840" y="3017520"/>
            <a:ext cx="2926080" cy="1188720"/>
          </a:xfrm>
          <a:prstGeom prst="roundRect">
            <a:avLst>
              <a:gd name="adj" fmla="val 11538"/>
            </a:avLst>
          </a:prstGeom>
          <a:solidFill>
            <a:schemeClr val="bg1"/>
          </a:solidFill>
          <a:ln/>
        </p:spPr>
        <p:txBody>
          <a:bodyPr wrap="square" lIns="0" tIns="1905" rIns="1905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差分一覧（表）／影響と注意点／要確認事項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管理者の視点と利用状況</a:t>
            </a:r>
            <a:endParaRPr lang="en-US" sz="2800" dirty="0"/>
          </a:p>
        </p:txBody>
      </p:sp>
      <p:sp>
        <p:nvSpPr>
          <p:cNvPr id="3" name="card-205"/>
          <p:cNvSpPr/>
          <p:nvPr/>
        </p:nvSpPr>
        <p:spPr>
          <a:xfrm>
            <a:off x="45720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206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207" descr="FaUser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20190"/>
            <a:ext cx="297180" cy="297180"/>
          </a:xfrm>
          <a:prstGeom prst="rect">
            <a:avLst/>
          </a:prstGeom>
        </p:spPr>
      </p:pic>
      <p:sp>
        <p:nvSpPr>
          <p:cNvPr id="6" name="text-208"/>
          <p:cNvSpPr txBox="1"/>
          <p:nvPr/>
        </p:nvSpPr>
        <p:spPr>
          <a:xfrm>
            <a:off x="141732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IT管理者の視点</a:t>
            </a:r>
            <a:endParaRPr lang="en-US" sz="1600" dirty="0"/>
          </a:p>
        </p:txBody>
      </p:sp>
      <p:sp>
        <p:nvSpPr>
          <p:cNvPr id="7" name="text-209"/>
          <p:cNvSpPr txBox="1"/>
          <p:nvPr/>
        </p:nvSpPr>
        <p:spPr>
          <a:xfrm>
            <a:off x="64008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誰が作成できるか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どの範囲まで共有できるか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→ 情報システム部門と事前に調整</a:t>
            </a:r>
            <a:endParaRPr lang="en-US" sz="1400" dirty="0"/>
          </a:p>
        </p:txBody>
      </p:sp>
      <p:sp>
        <p:nvSpPr>
          <p:cNvPr id="8" name="card-210"/>
          <p:cNvSpPr/>
          <p:nvPr/>
        </p:nvSpPr>
        <p:spPr>
          <a:xfrm>
            <a:off x="4663440" y="1234440"/>
            <a:ext cx="4023360" cy="2834640"/>
          </a:xfrm>
          <a:prstGeom prst="roundRect">
            <a:avLst>
              <a:gd name="adj" fmla="val 38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iconbg-211"/>
          <p:cNvSpPr/>
          <p:nvPr/>
        </p:nvSpPr>
        <p:spPr>
          <a:xfrm>
            <a:off x="4846320" y="13716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12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10" y="1520190"/>
            <a:ext cx="297180" cy="297180"/>
          </a:xfrm>
          <a:prstGeom prst="rect">
            <a:avLst/>
          </a:prstGeom>
        </p:spPr>
      </p:pic>
      <p:sp>
        <p:nvSpPr>
          <p:cNvPr id="11" name="text-213"/>
          <p:cNvSpPr txBox="1"/>
          <p:nvPr/>
        </p:nvSpPr>
        <p:spPr>
          <a:xfrm>
            <a:off x="5623560" y="1371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利用状況の確認</a:t>
            </a:r>
            <a:endParaRPr lang="en-US" sz="1600" dirty="0"/>
          </a:p>
        </p:txBody>
      </p:sp>
      <p:sp>
        <p:nvSpPr>
          <p:cNvPr id="12" name="text-214"/>
          <p:cNvSpPr txBox="1"/>
          <p:nvPr/>
        </p:nvSpPr>
        <p:spPr>
          <a:xfrm>
            <a:off x="4846320" y="21945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エージェントがどれだけ使われているかを確認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改善や横展開の判断材料にする</a:t>
            </a:r>
            <a:endParaRPr lang="en-US" sz="1400" dirty="0"/>
          </a:p>
        </p:txBody>
      </p:sp>
      <p:sp>
        <p:nvSpPr>
          <p:cNvPr id="13" name="text-215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※表示される画面・指標は環境やライセンスにより異なります。事前に確認してください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共有するときの注意</a:t>
            </a:r>
            <a:endParaRPr lang="en-US" sz="2800" dirty="0"/>
          </a:p>
        </p:txBody>
      </p:sp>
      <p:sp>
        <p:nvSpPr>
          <p:cNvPr id="3" name="card-216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217"/>
          <p:cNvSpPr/>
          <p:nvPr/>
        </p:nvSpPr>
        <p:spPr>
          <a:xfrm>
            <a:off x="640080" y="128930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-218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26464"/>
            <a:ext cx="274320" cy="274320"/>
          </a:xfrm>
          <a:prstGeom prst="rect">
            <a:avLst/>
          </a:prstGeom>
        </p:spPr>
      </p:pic>
      <p:sp>
        <p:nvSpPr>
          <p:cNvPr id="6" name="text-219"/>
          <p:cNvSpPr txBox="1"/>
          <p:nvPr/>
        </p:nvSpPr>
        <p:spPr>
          <a:xfrm>
            <a:off x="1417320" y="1188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ナレッジ元の権限は別</a:t>
            </a:r>
            <a:endParaRPr lang="en-US" sz="1400" dirty="0"/>
          </a:p>
        </p:txBody>
      </p:sp>
      <p:sp>
        <p:nvSpPr>
          <p:cNvPr id="7" name="text-220"/>
          <p:cNvSpPr txBox="1"/>
          <p:nvPr/>
        </p:nvSpPr>
        <p:spPr>
          <a:xfrm>
            <a:off x="3840480" y="118872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共有しても、SharePoint等の参照元ファイルへのアクセス権は付かない。参照元の権限も確認する</a:t>
            </a:r>
            <a:endParaRPr lang="en-US" sz="1200" dirty="0"/>
          </a:p>
        </p:txBody>
      </p:sp>
      <p:sp>
        <p:nvSpPr>
          <p:cNvPr id="8" name="card-221"/>
          <p:cNvSpPr/>
          <p:nvPr/>
        </p:nvSpPr>
        <p:spPr>
          <a:xfrm>
            <a:off x="457200" y="2039112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22"/>
          <p:cNvSpPr/>
          <p:nvPr/>
        </p:nvSpPr>
        <p:spPr>
          <a:xfrm>
            <a:off x="640080" y="21396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23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76856"/>
            <a:ext cx="274320" cy="274320"/>
          </a:xfrm>
          <a:prstGeom prst="rect">
            <a:avLst/>
          </a:prstGeom>
        </p:spPr>
      </p:pic>
      <p:sp>
        <p:nvSpPr>
          <p:cNvPr id="11" name="text-224"/>
          <p:cNvSpPr txBox="1"/>
          <p:nvPr/>
        </p:nvSpPr>
        <p:spPr>
          <a:xfrm>
            <a:off x="1417320" y="20391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ライセンスの確認</a:t>
            </a:r>
            <a:endParaRPr lang="en-US" sz="1400" dirty="0"/>
          </a:p>
        </p:txBody>
      </p:sp>
      <p:sp>
        <p:nvSpPr>
          <p:cNvPr id="12" name="text-225"/>
          <p:cNvSpPr txBox="1"/>
          <p:nvPr/>
        </p:nvSpPr>
        <p:spPr>
          <a:xfrm>
            <a:off x="3840480" y="203911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M365のデータをナレッジにしたエージェントは、Copilotライセンスがない人は使えない</a:t>
            </a:r>
            <a:endParaRPr lang="en-US" sz="1200" dirty="0"/>
          </a:p>
        </p:txBody>
      </p:sp>
      <p:sp>
        <p:nvSpPr>
          <p:cNvPr id="13" name="card-226"/>
          <p:cNvSpPr/>
          <p:nvPr/>
        </p:nvSpPr>
        <p:spPr>
          <a:xfrm>
            <a:off x="457200" y="2889504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227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con-228" descr="FaExclamationTriang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27248"/>
            <a:ext cx="274320" cy="274320"/>
          </a:xfrm>
          <a:prstGeom prst="rect">
            <a:avLst/>
          </a:prstGeom>
        </p:spPr>
      </p:pic>
      <p:sp>
        <p:nvSpPr>
          <p:cNvPr id="16" name="text-229"/>
          <p:cNvSpPr txBox="1"/>
          <p:nvPr/>
        </p:nvSpPr>
        <p:spPr>
          <a:xfrm>
            <a:off x="1417320" y="288950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配布グループへの共有</a:t>
            </a:r>
            <a:endParaRPr lang="en-US" sz="1400" dirty="0"/>
          </a:p>
        </p:txBody>
      </p:sp>
      <p:sp>
        <p:nvSpPr>
          <p:cNvPr id="17" name="text-230"/>
          <p:cNvSpPr txBox="1"/>
          <p:nvPr/>
        </p:nvSpPr>
        <p:spPr>
          <a:xfrm>
            <a:off x="3840480" y="288950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配布グループ宛ての共有は失敗する場合がある。個人またはグループ単位で確認</a:t>
            </a:r>
            <a:endParaRPr lang="en-US" sz="1200" dirty="0"/>
          </a:p>
        </p:txBody>
      </p:sp>
      <p:sp>
        <p:nvSpPr>
          <p:cNvPr id="18" name="card-231"/>
          <p:cNvSpPr/>
          <p:nvPr/>
        </p:nvSpPr>
        <p:spPr>
          <a:xfrm>
            <a:off x="457200" y="3739896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232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33" descr="FaLo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274320" cy="274320"/>
          </a:xfrm>
          <a:prstGeom prst="rect">
            <a:avLst/>
          </a:prstGeom>
        </p:spPr>
      </p:pic>
      <p:sp>
        <p:nvSpPr>
          <p:cNvPr id="21" name="text-234"/>
          <p:cNvSpPr txBox="1"/>
          <p:nvPr/>
        </p:nvSpPr>
        <p:spPr>
          <a:xfrm>
            <a:off x="1417320" y="373989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共有された人は利用のみ</a:t>
            </a:r>
            <a:endParaRPr lang="en-US" sz="1400" dirty="0"/>
          </a:p>
        </p:txBody>
      </p:sp>
      <p:sp>
        <p:nvSpPr>
          <p:cNvPr id="22" name="text-235"/>
          <p:cNvSpPr txBox="1"/>
          <p:nvPr/>
        </p:nvSpPr>
        <p:spPr>
          <a:xfrm>
            <a:off x="3840480" y="373989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共有された人は使えるが、編集はできない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導入前に確認したいこと</a:t>
            </a:r>
            <a:endParaRPr lang="en-US" sz="2800" dirty="0"/>
          </a:p>
        </p:txBody>
      </p:sp>
      <p:sp>
        <p:nvSpPr>
          <p:cNvPr id="3" name="card-236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bg-237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con-238" descr="FaUser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-239"/>
          <p:cNvSpPr txBox="1"/>
          <p:nvPr/>
        </p:nvSpPr>
        <p:spPr>
          <a:xfrm>
            <a:off x="128016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最終確認は人が行う</a:t>
            </a:r>
            <a:endParaRPr lang="en-US" sz="1400" dirty="0"/>
          </a:p>
        </p:txBody>
      </p:sp>
      <p:sp>
        <p:nvSpPr>
          <p:cNvPr id="7" name="text-240"/>
          <p:cNvSpPr txBox="1"/>
          <p:nvPr/>
        </p:nvSpPr>
        <p:spPr>
          <a:xfrm>
            <a:off x="64008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特に契約書・金額・法的文書。根拠ページを出させる運用が有効</a:t>
            </a:r>
            <a:endParaRPr lang="en-US" sz="1200" dirty="0"/>
          </a:p>
        </p:txBody>
      </p:sp>
      <p:sp>
        <p:nvSpPr>
          <p:cNvPr id="8" name="card-241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42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-243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51610"/>
            <a:ext cx="251460" cy="251460"/>
          </a:xfrm>
          <a:prstGeom prst="rect">
            <a:avLst/>
          </a:prstGeom>
        </p:spPr>
      </p:pic>
      <p:sp>
        <p:nvSpPr>
          <p:cNvPr id="11" name="text-244"/>
          <p:cNvSpPr txBox="1"/>
          <p:nvPr/>
        </p:nvSpPr>
        <p:spPr>
          <a:xfrm>
            <a:off x="548640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機密・個人情報</a:t>
            </a:r>
            <a:endParaRPr lang="en-US" sz="1400" dirty="0"/>
          </a:p>
        </p:txBody>
      </p:sp>
      <p:sp>
        <p:nvSpPr>
          <p:cNvPr id="12" name="text-245"/>
          <p:cNvSpPr txBox="1"/>
          <p:nvPr/>
        </p:nvSpPr>
        <p:spPr>
          <a:xfrm>
            <a:off x="4846320" y="19202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社内のAI利用ルールに従う</a:t>
            </a:r>
            <a:endParaRPr lang="en-US" sz="1200" dirty="0"/>
          </a:p>
        </p:txBody>
      </p:sp>
      <p:sp>
        <p:nvSpPr>
          <p:cNvPr id="13" name="card-246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bg-247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-248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188970"/>
            <a:ext cx="251460" cy="251460"/>
          </a:xfrm>
          <a:prstGeom prst="rect">
            <a:avLst/>
          </a:prstGeom>
        </p:spPr>
      </p:pic>
      <p:sp>
        <p:nvSpPr>
          <p:cNvPr id="16" name="text-249"/>
          <p:cNvSpPr txBox="1"/>
          <p:nvPr/>
        </p:nvSpPr>
        <p:spPr>
          <a:xfrm>
            <a:off x="128016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ライセンス構成</a:t>
            </a:r>
            <a:endParaRPr lang="en-US" sz="1400" dirty="0"/>
          </a:p>
        </p:txBody>
      </p:sp>
      <p:sp>
        <p:nvSpPr>
          <p:cNvPr id="17" name="text-250"/>
          <p:cNvSpPr txBox="1"/>
          <p:nvPr/>
        </p:nvSpPr>
        <p:spPr>
          <a:xfrm>
            <a:off x="64008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作成自体は幅広いライセンスで可能。SharePoint連携などの全機能はM365 Copilot側のライセンスが必要（動画の説明）。自社構成を事前確認</a:t>
            </a:r>
            <a:endParaRPr lang="en-US" sz="1200" dirty="0"/>
          </a:p>
        </p:txBody>
      </p:sp>
      <p:sp>
        <p:nvSpPr>
          <p:cNvPr id="18" name="card-251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252"/>
          <p:cNvSpPr/>
          <p:nvPr/>
        </p:nvSpPr>
        <p:spPr>
          <a:xfrm>
            <a:off x="4846320" y="3063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-253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188970"/>
            <a:ext cx="251460" cy="251460"/>
          </a:xfrm>
          <a:prstGeom prst="rect">
            <a:avLst/>
          </a:prstGeom>
        </p:spPr>
      </p:pic>
      <p:sp>
        <p:nvSpPr>
          <p:cNvPr id="21" name="text-254"/>
          <p:cNvSpPr txBox="1"/>
          <p:nvPr/>
        </p:nvSpPr>
        <p:spPr>
          <a:xfrm>
            <a:off x="5486400" y="30632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高度な機能は Copilot Studio</a:t>
            </a:r>
            <a:endParaRPr lang="en-US" sz="1400" dirty="0"/>
          </a:p>
        </p:txBody>
      </p:sp>
      <p:sp>
        <p:nvSpPr>
          <p:cNvPr id="22" name="text-255"/>
          <p:cNvSpPr txBox="1"/>
          <p:nvPr/>
        </p:nvSpPr>
        <p:spPr>
          <a:xfrm>
            <a:off x="4846320" y="3657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Agent Builderにはチャネル展開がない。必要ならコピーして発展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まとめ：持ち帰りポイント</a:t>
            </a:r>
            <a:endParaRPr lang="en-US" sz="2800" dirty="0"/>
          </a:p>
        </p:txBody>
      </p:sp>
      <p:sp>
        <p:nvSpPr>
          <p:cNvPr id="3" name="circle-256"/>
          <p:cNvSpPr txBox="1"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-257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エージェント ＝ 役割・ルール・資料・よく使う質問を固定した専用Copilot</a:t>
            </a:r>
            <a:endParaRPr lang="en-US" sz="1400" dirty="0"/>
          </a:p>
        </p:txBody>
      </p:sp>
      <p:sp>
        <p:nvSpPr>
          <p:cNvPr id="5" name="circle-258"/>
          <p:cNvSpPr txBox="1"/>
          <p:nvPr/>
        </p:nvSpPr>
        <p:spPr>
          <a:xfrm>
            <a:off x="457200" y="1929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-259"/>
          <p:cNvSpPr txBox="1"/>
          <p:nvPr/>
        </p:nvSpPr>
        <p:spPr>
          <a:xfrm>
            <a:off x="1097280" y="188366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作成は5ステップ：作成開始 → 目的を伝える → ナレッジ → 構成・テスト → 作成・共有</a:t>
            </a:r>
            <a:endParaRPr lang="en-US" sz="1400" dirty="0"/>
          </a:p>
        </p:txBody>
      </p:sp>
      <p:sp>
        <p:nvSpPr>
          <p:cNvPr id="7" name="circle-260"/>
          <p:cNvSpPr txBox="1"/>
          <p:nvPr/>
        </p:nvSpPr>
        <p:spPr>
          <a:xfrm>
            <a:off x="45720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-261"/>
          <p:cNvSpPr txBox="1"/>
          <p:nvPr/>
        </p:nvSpPr>
        <p:spPr>
          <a:xfrm>
            <a:off x="1097280" y="257860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精度の鍵は指示文（役割・手順・出力形式・ルール）と、テスト → 改善の繰り返し</a:t>
            </a:r>
            <a:endParaRPr lang="en-US" sz="1400" dirty="0"/>
          </a:p>
        </p:txBody>
      </p:sp>
      <p:sp>
        <p:nvSpPr>
          <p:cNvPr id="9" name="circle-262"/>
          <p:cNvSpPr txBox="1"/>
          <p:nvPr/>
        </p:nvSpPr>
        <p:spPr>
          <a:xfrm>
            <a:off x="457200" y="33192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-263"/>
          <p:cNvSpPr txBox="1"/>
          <p:nvPr/>
        </p:nvSpPr>
        <p:spPr>
          <a:xfrm>
            <a:off x="1097280" y="32735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共有はリンクで簡単。ただしナレッジの権限とライセンスに注意</a:t>
            </a:r>
            <a:endParaRPr lang="en-US" sz="1400" dirty="0"/>
          </a:p>
        </p:txBody>
      </p:sp>
      <p:sp>
        <p:nvSpPr>
          <p:cNvPr id="11" name="circle-264"/>
          <p:cNvSpPr txBox="1"/>
          <p:nvPr/>
        </p:nvSpPr>
        <p:spPr>
          <a:xfrm>
            <a:off x="457200" y="401421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-265"/>
          <p:cNvSpPr txBox="1"/>
          <p:nvPr/>
        </p:nvSpPr>
        <p:spPr>
          <a:xfrm>
            <a:off x="1097280" y="396849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まずは「毎回同じプロンプトを書く業務」を1つ選んで試す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Q&amp;A</a:t>
            </a:r>
            <a:endParaRPr lang="en-US" sz="3600" dirty="0"/>
          </a:p>
        </p:txBody>
      </p:sp>
      <p:sp>
        <p:nvSpPr>
          <p:cNvPr id="3" name="text-266"/>
          <p:cNvSpPr txBox="1"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次の一歩：毎回同じプロンプトを書く業務を1つ選んで、エージェント化してみる</a:t>
            </a:r>
            <a:endParaRPr lang="en-US" sz="1600" dirty="0"/>
          </a:p>
        </p:txBody>
      </p:sp>
      <p:sp>
        <p:nvSpPr>
          <p:cNvPr id="4" name="text-267"/>
          <p:cNvSpPr txBox="1"/>
          <p:nvPr/>
        </p:nvSpPr>
        <p:spPr>
          <a:xfrm>
            <a:off x="640080" y="35204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参考動画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David Fortin  youtube.com/watch?v=NGRZ2wrmK3Q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Mike Tholfsen  youtube.com/watch?v=knOhSmOkqMM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Microsoft Learn：Build agents with Microsoft 365 Copilot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pilotStudySession">
  <a:themeElements>
    <a:clrScheme name="CopilotStudySession">
      <a:dk1>
        <a:srgbClr val="1B2A2F"/>
      </a:dk1>
      <a:lt1>
        <a:srgbClr val="FFFFFF"/>
      </a:lt1>
      <a:dk2>
        <a:srgbClr val="0F3D3E"/>
      </a:dk2>
      <a:lt2>
        <a:srgbClr val="EDF4F1"/>
      </a:lt2>
      <a:accent1>
        <a:srgbClr val="0F766E"/>
      </a:accent1>
      <a:accent2>
        <a:srgbClr val="E8833A"/>
      </a:accent2>
      <a:accent3>
        <a:srgbClr val="5B8C85"/>
      </a:accent3>
      <a:accent4>
        <a:srgbClr val="8AA39E"/>
      </a:accent4>
      <a:accent5>
        <a:srgbClr val="C0504D"/>
      </a:accent5>
      <a:accent6>
        <a:srgbClr val="3F7D58"/>
      </a:accent6>
      <a:hlink>
        <a:srgbClr val="0F766E"/>
      </a:hlink>
      <a:folHlink>
        <a:srgbClr val="5B8C85"/>
      </a:folHlink>
    </a:clrScheme>
    <a:fontScheme name="CopilotStudySession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M365 Copilot 有効活用 勉強会 - Agent Builder</dc:title>
  <dc:subject>PptxGenJS Presentation</dc:subject>
  <dc:creator>勉強会発表者</dc:creator>
  <cp:lastModifiedBy>勉強会発表者</cp:lastModifiedBy>
  <cp:revision>1</cp:revision>
  <dcterms:created xsi:type="dcterms:W3CDTF">2026-10-21T15:02:53Z</dcterms:created>
  <dcterms:modified xsi:type="dcterms:W3CDTF">2026-10-21T15:02:53Z</dcterms:modified>
</cp:coreProperties>
</file>